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media/image19.jpg" ContentType="image/jpg"/>
  <Override PartName="/ppt/media/image20.jpg" ContentType="image/jpg"/>
  <Override PartName="/ppt/media/image21.jpg" ContentType="image/jpg"/>
  <Override PartName="/ppt/media/image22.jpg" ContentType="image/jpg"/>
  <Override PartName="/ppt/media/image23.jpg" ContentType="image/jpg"/>
  <Override PartName="/ppt/media/image24.jpg" ContentType="image/jpg"/>
  <Override PartName="/ppt/media/image26.jpg" ContentType="image/jpg"/>
  <Override PartName="/ppt/media/image27.jpg" ContentType="image/jpg"/>
  <Override PartName="/ppt/media/image28.jpg" ContentType="image/jpg"/>
  <Override PartName="/ppt/media/image29.jpg" ContentType="image/jpg"/>
  <Override PartName="/ppt/media/image30.jpg" ContentType="image/jpg"/>
  <Override PartName="/ppt/media/image31.jpg" ContentType="image/jpg"/>
  <Override PartName="/ppt/media/image32.jpg" ContentType="image/jpg"/>
  <Override PartName="/ppt/media/image33.jpg" ContentType="image/jpg"/>
  <Override PartName="/ppt/media/image34.jpg" ContentType="image/jpg"/>
  <Override PartName="/ppt/media/image35.jpg" ContentType="image/jpg"/>
  <Override PartName="/ppt/media/image36.jpg" ContentType="image/jpg"/>
  <Override PartName="/ppt/media/image37.jpg" ContentType="image/jpg"/>
  <Override PartName="/ppt/media/image38.jpg" ContentType="image/jpg"/>
  <Override PartName="/ppt/media/image39.jpg" ContentType="image/jpg"/>
  <Override PartName="/ppt/media/image40.jpg" ContentType="image/jpg"/>
  <Override PartName="/ppt/media/image41.jpg" ContentType="image/jpg"/>
  <Override PartName="/ppt/media/image42.jpg" ContentType="image/jpg"/>
  <Override PartName="/ppt/media/image43.jpg" ContentType="image/jpg"/>
  <Override PartName="/ppt/media/image44.jpg" ContentType="image/jpg"/>
  <Override PartName="/ppt/media/image45.jpg" ContentType="image/jpg"/>
  <Override PartName="/ppt/media/image46.jpg" ContentType="image/jpg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64" r:id="rId2"/>
    <p:sldId id="265" r:id="rId3"/>
    <p:sldId id="266" r:id="rId4"/>
    <p:sldId id="267" r:id="rId5"/>
    <p:sldId id="276" r:id="rId6"/>
    <p:sldId id="279" r:id="rId7"/>
    <p:sldId id="281" r:id="rId8"/>
    <p:sldId id="278" r:id="rId9"/>
    <p:sldId id="277" r:id="rId10"/>
    <p:sldId id="280" r:id="rId11"/>
    <p:sldId id="272" r:id="rId12"/>
    <p:sldId id="273" r:id="rId13"/>
    <p:sldId id="270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5400"/>
    <a:srgbClr val="003300"/>
    <a:srgbClr val="00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50" d="100"/>
          <a:sy n="150" d="100"/>
        </p:scale>
        <p:origin x="660" y="84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54D58BF-3FFF-4C34-BED0-922049EA27B3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9252C31-1CF6-4C11-A8B0-EEF7DD465E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13735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3.sv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7" Type="http://schemas.openxmlformats.org/officeDocument/2006/relationships/image" Target="../media/image4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svg"/><Relationship Id="rId5" Type="http://schemas.openxmlformats.org/officeDocument/2006/relationships/image" Target="../media/image8.svg"/><Relationship Id="rId4" Type="http://schemas.openxmlformats.org/officeDocument/2006/relationships/image" Target="../media/image7.sv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11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5.svg"/><Relationship Id="rId5" Type="http://schemas.openxmlformats.org/officeDocument/2006/relationships/image" Target="../media/image14.svg"/><Relationship Id="rId4" Type="http://schemas.openxmlformats.org/officeDocument/2006/relationships/image" Target="../media/image13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8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jpg"/><Relationship Id="rId3" Type="http://schemas.openxmlformats.org/officeDocument/2006/relationships/image" Target="../media/image19.jpg"/><Relationship Id="rId7" Type="http://schemas.openxmlformats.org/officeDocument/2006/relationships/image" Target="../media/image22.jpg"/><Relationship Id="rId2" Type="http://schemas.openxmlformats.org/officeDocument/2006/relationships/slideLayout" Target="../slideLayouts/slideLayout7.xml"/><Relationship Id="rId1" Type="http://schemas.openxmlformats.org/officeDocument/2006/relationships/video" Target="https://www.youtube.com/embed/Cc9-ZTg0ibg?feature=oembed" TargetMode="External"/><Relationship Id="rId6" Type="http://schemas.openxmlformats.org/officeDocument/2006/relationships/image" Target="../media/image21.jpg"/><Relationship Id="rId5" Type="http://schemas.openxmlformats.org/officeDocument/2006/relationships/image" Target="../media/image20.jpg"/><Relationship Id="rId10" Type="http://schemas.openxmlformats.org/officeDocument/2006/relationships/image" Target="../media/image25.jpeg"/><Relationship Id="rId4" Type="http://schemas.openxmlformats.org/officeDocument/2006/relationships/image" Target="../media/image4.png"/><Relationship Id="rId9" Type="http://schemas.openxmlformats.org/officeDocument/2006/relationships/image" Target="../media/image24.jp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jpg"/><Relationship Id="rId7" Type="http://schemas.openxmlformats.org/officeDocument/2006/relationships/image" Target="../media/image30.jp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9.jpg"/><Relationship Id="rId5" Type="http://schemas.openxmlformats.org/officeDocument/2006/relationships/image" Target="../media/image28.jpg"/><Relationship Id="rId4" Type="http://schemas.openxmlformats.org/officeDocument/2006/relationships/image" Target="../media/image27.jp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6.jpg"/><Relationship Id="rId3" Type="http://schemas.openxmlformats.org/officeDocument/2006/relationships/image" Target="../media/image4.png"/><Relationship Id="rId7" Type="http://schemas.openxmlformats.org/officeDocument/2006/relationships/image" Target="../media/image35.jpg"/><Relationship Id="rId2" Type="http://schemas.openxmlformats.org/officeDocument/2006/relationships/image" Target="../media/image31.jp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4.jpg"/><Relationship Id="rId5" Type="http://schemas.openxmlformats.org/officeDocument/2006/relationships/image" Target="../media/image33.jpg"/><Relationship Id="rId4" Type="http://schemas.openxmlformats.org/officeDocument/2006/relationships/image" Target="../media/image32.jpg"/><Relationship Id="rId9" Type="http://schemas.openxmlformats.org/officeDocument/2006/relationships/image" Target="../media/image37.jp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42.jpg"/><Relationship Id="rId2" Type="http://schemas.openxmlformats.org/officeDocument/2006/relationships/image" Target="../media/image38.jp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1.jpg"/><Relationship Id="rId5" Type="http://schemas.openxmlformats.org/officeDocument/2006/relationships/image" Target="../media/image40.jpg"/><Relationship Id="rId4" Type="http://schemas.openxmlformats.org/officeDocument/2006/relationships/image" Target="../media/image39.jp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48.jpg"/><Relationship Id="rId3" Type="http://schemas.openxmlformats.org/officeDocument/2006/relationships/image" Target="../media/image44.jpg"/><Relationship Id="rId7" Type="http://schemas.openxmlformats.org/officeDocument/2006/relationships/image" Target="../media/image47.jpg"/><Relationship Id="rId2" Type="http://schemas.openxmlformats.org/officeDocument/2006/relationships/image" Target="../media/image43.jp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6.jpg"/><Relationship Id="rId5" Type="http://schemas.openxmlformats.org/officeDocument/2006/relationships/image" Target="../media/image45.jpg"/><Relationship Id="rId4" Type="http://schemas.openxmlformats.org/officeDocument/2006/relationships/image" Target="../media/image4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jp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56.png"/><Relationship Id="rId3" Type="http://schemas.openxmlformats.org/officeDocument/2006/relationships/image" Target="../media/image51.png"/><Relationship Id="rId7" Type="http://schemas.openxmlformats.org/officeDocument/2006/relationships/image" Target="../media/image55.png"/><Relationship Id="rId12" Type="http://schemas.openxmlformats.org/officeDocument/2006/relationships/image" Target="../media/image60.png"/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4.png"/><Relationship Id="rId11" Type="http://schemas.openxmlformats.org/officeDocument/2006/relationships/image" Target="../media/image59.png"/><Relationship Id="rId5" Type="http://schemas.openxmlformats.org/officeDocument/2006/relationships/image" Target="../media/image53.jpeg"/><Relationship Id="rId10" Type="http://schemas.openxmlformats.org/officeDocument/2006/relationships/image" Target="../media/image58.png"/><Relationship Id="rId4" Type="http://schemas.openxmlformats.org/officeDocument/2006/relationships/image" Target="../media/image52.png"/><Relationship Id="rId9" Type="http://schemas.openxmlformats.org/officeDocument/2006/relationships/image" Target="../media/image57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 rot="-2700000">
            <a:off x="6867964" y="-4221095"/>
            <a:ext cx="5243021" cy="10092429"/>
            <a:chOff x="0" y="0"/>
            <a:chExt cx="2071317" cy="3987133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071317" cy="3987133"/>
            </a:xfrm>
            <a:custGeom>
              <a:avLst/>
              <a:gdLst/>
              <a:ahLst/>
              <a:cxnLst/>
              <a:rect l="l" t="t" r="r" b="b"/>
              <a:pathLst>
                <a:path w="2071317" h="3987133">
                  <a:moveTo>
                    <a:pt x="0" y="0"/>
                  </a:moveTo>
                  <a:lnTo>
                    <a:pt x="2071317" y="0"/>
                  </a:lnTo>
                  <a:lnTo>
                    <a:pt x="2071317" y="3987133"/>
                  </a:lnTo>
                  <a:lnTo>
                    <a:pt x="0" y="3987133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 sz="1200"/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-38100"/>
              <a:ext cx="2071317" cy="4025233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algn="ctr">
                <a:lnSpc>
                  <a:spcPts val="1773"/>
                </a:lnSpc>
              </a:pPr>
              <a:endParaRPr sz="1200"/>
            </a:p>
          </p:txBody>
        </p:sp>
      </p:grpSp>
      <p:sp>
        <p:nvSpPr>
          <p:cNvPr id="8" name="Freeform 8"/>
          <p:cNvSpPr/>
          <p:nvPr/>
        </p:nvSpPr>
        <p:spPr>
          <a:xfrm flipH="1">
            <a:off x="4516521" y="4151323"/>
            <a:ext cx="7880808" cy="3338597"/>
          </a:xfrm>
          <a:custGeom>
            <a:avLst/>
            <a:gdLst/>
            <a:ahLst/>
            <a:cxnLst/>
            <a:rect l="l" t="t" r="r" b="b"/>
            <a:pathLst>
              <a:path w="11821212" h="5007895">
                <a:moveTo>
                  <a:pt x="11821212" y="0"/>
                </a:moveTo>
                <a:lnTo>
                  <a:pt x="0" y="0"/>
                </a:lnTo>
                <a:lnTo>
                  <a:pt x="0" y="5007895"/>
                </a:lnTo>
                <a:lnTo>
                  <a:pt x="11821212" y="5007895"/>
                </a:lnTo>
                <a:lnTo>
                  <a:pt x="11821212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US" sz="1200"/>
          </a:p>
        </p:txBody>
      </p:sp>
      <p:sp>
        <p:nvSpPr>
          <p:cNvPr id="10" name="Freeform 10"/>
          <p:cNvSpPr/>
          <p:nvPr/>
        </p:nvSpPr>
        <p:spPr>
          <a:xfrm rot="-10800000">
            <a:off x="707021" y="5080293"/>
            <a:ext cx="2498955" cy="400331"/>
          </a:xfrm>
          <a:custGeom>
            <a:avLst/>
            <a:gdLst/>
            <a:ahLst/>
            <a:cxnLst/>
            <a:rect l="l" t="t" r="r" b="b"/>
            <a:pathLst>
              <a:path w="3748433" h="600496">
                <a:moveTo>
                  <a:pt x="0" y="0"/>
                </a:moveTo>
                <a:lnTo>
                  <a:pt x="3748432" y="0"/>
                </a:lnTo>
                <a:lnTo>
                  <a:pt x="3748432" y="600496"/>
                </a:lnTo>
                <a:lnTo>
                  <a:pt x="0" y="60049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56000"/>
            </a:blip>
            <a:stretch>
              <a:fillRect b="-79464"/>
            </a:stretch>
          </a:blipFill>
        </p:spPr>
        <p:txBody>
          <a:bodyPr/>
          <a:lstStyle/>
          <a:p>
            <a:endParaRPr lang="en-US" sz="1200"/>
          </a:p>
        </p:txBody>
      </p:sp>
      <p:grpSp>
        <p:nvGrpSpPr>
          <p:cNvPr id="11" name="Group 11"/>
          <p:cNvGrpSpPr/>
          <p:nvPr/>
        </p:nvGrpSpPr>
        <p:grpSpPr>
          <a:xfrm>
            <a:off x="685800" y="4764823"/>
            <a:ext cx="2520175" cy="419363"/>
            <a:chOff x="0" y="0"/>
            <a:chExt cx="995625" cy="165675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995625" cy="165675"/>
            </a:xfrm>
            <a:custGeom>
              <a:avLst/>
              <a:gdLst/>
              <a:ahLst/>
              <a:cxnLst/>
              <a:rect l="l" t="t" r="r" b="b"/>
              <a:pathLst>
                <a:path w="995625" h="165675">
                  <a:moveTo>
                    <a:pt x="82837" y="0"/>
                  </a:moveTo>
                  <a:lnTo>
                    <a:pt x="912787" y="0"/>
                  </a:lnTo>
                  <a:cubicBezTo>
                    <a:pt x="934757" y="0"/>
                    <a:pt x="955827" y="8727"/>
                    <a:pt x="971362" y="24262"/>
                  </a:cubicBezTo>
                  <a:cubicBezTo>
                    <a:pt x="986897" y="39797"/>
                    <a:pt x="995625" y="60867"/>
                    <a:pt x="995625" y="82837"/>
                  </a:cubicBezTo>
                  <a:lnTo>
                    <a:pt x="995625" y="82837"/>
                  </a:lnTo>
                  <a:cubicBezTo>
                    <a:pt x="995625" y="104807"/>
                    <a:pt x="986897" y="125877"/>
                    <a:pt x="971362" y="141412"/>
                  </a:cubicBezTo>
                  <a:cubicBezTo>
                    <a:pt x="955827" y="156947"/>
                    <a:pt x="934757" y="165675"/>
                    <a:pt x="912787" y="165675"/>
                  </a:cubicBezTo>
                  <a:lnTo>
                    <a:pt x="82837" y="165675"/>
                  </a:lnTo>
                  <a:cubicBezTo>
                    <a:pt x="60867" y="165675"/>
                    <a:pt x="39797" y="156947"/>
                    <a:pt x="24262" y="141412"/>
                  </a:cubicBezTo>
                  <a:cubicBezTo>
                    <a:pt x="8727" y="125877"/>
                    <a:pt x="0" y="104807"/>
                    <a:pt x="0" y="82837"/>
                  </a:cubicBezTo>
                  <a:lnTo>
                    <a:pt x="0" y="82837"/>
                  </a:lnTo>
                  <a:cubicBezTo>
                    <a:pt x="0" y="60867"/>
                    <a:pt x="8727" y="39797"/>
                    <a:pt x="24262" y="24262"/>
                  </a:cubicBezTo>
                  <a:cubicBezTo>
                    <a:pt x="39797" y="8727"/>
                    <a:pt x="60867" y="0"/>
                    <a:pt x="82837" y="0"/>
                  </a:cubicBezTo>
                  <a:close/>
                </a:path>
              </a:pathLst>
            </a:custGeom>
            <a:solidFill>
              <a:srgbClr val="095D40"/>
            </a:solidFill>
            <a:ln cap="rnd">
              <a:noFill/>
              <a:prstDash val="solid"/>
              <a:round/>
            </a:ln>
          </p:spPr>
          <p:txBody>
            <a:bodyPr/>
            <a:lstStyle/>
            <a:p>
              <a:endParaRPr lang="en-US" sz="1200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0" y="-9525"/>
              <a:ext cx="995625" cy="1752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1613"/>
                </a:lnSpc>
                <a:spcBef>
                  <a:spcPct val="0"/>
                </a:spcBef>
              </a:pPr>
              <a:r>
                <a:rPr lang="en-US" sz="900" spc="52" dirty="0">
                  <a:solidFill>
                    <a:srgbClr val="F4F4F4"/>
                  </a:solidFill>
                  <a:latin typeface="Montserrat"/>
                  <a:ea typeface="Montserrat"/>
                  <a:cs typeface="Montserrat"/>
                  <a:sym typeface="Montserrat"/>
                </a:rPr>
                <a:t>       www.EnertestSolutions.com </a:t>
              </a:r>
            </a:p>
          </p:txBody>
        </p:sp>
      </p:grpSp>
      <p:sp>
        <p:nvSpPr>
          <p:cNvPr id="14" name="Freeform 14"/>
          <p:cNvSpPr/>
          <p:nvPr/>
        </p:nvSpPr>
        <p:spPr>
          <a:xfrm>
            <a:off x="802723" y="4848663"/>
            <a:ext cx="260392" cy="257551"/>
          </a:xfrm>
          <a:custGeom>
            <a:avLst/>
            <a:gdLst/>
            <a:ahLst/>
            <a:cxnLst/>
            <a:rect l="l" t="t" r="r" b="b"/>
            <a:pathLst>
              <a:path w="390588" h="386327">
                <a:moveTo>
                  <a:pt x="0" y="0"/>
                </a:moveTo>
                <a:lnTo>
                  <a:pt x="390588" y="0"/>
                </a:lnTo>
                <a:lnTo>
                  <a:pt x="390588" y="386327"/>
                </a:lnTo>
                <a:lnTo>
                  <a:pt x="0" y="38632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 sz="1200"/>
          </a:p>
        </p:txBody>
      </p:sp>
      <p:grpSp>
        <p:nvGrpSpPr>
          <p:cNvPr id="15" name="Group 15"/>
          <p:cNvGrpSpPr/>
          <p:nvPr/>
        </p:nvGrpSpPr>
        <p:grpSpPr>
          <a:xfrm rot="-2700000">
            <a:off x="-3639119" y="3176540"/>
            <a:ext cx="5243021" cy="10092429"/>
            <a:chOff x="0" y="0"/>
            <a:chExt cx="2071317" cy="3987133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2071317" cy="3987133"/>
            </a:xfrm>
            <a:custGeom>
              <a:avLst/>
              <a:gdLst/>
              <a:ahLst/>
              <a:cxnLst/>
              <a:rect l="l" t="t" r="r" b="b"/>
              <a:pathLst>
                <a:path w="2071317" h="3987133">
                  <a:moveTo>
                    <a:pt x="0" y="0"/>
                  </a:moveTo>
                  <a:lnTo>
                    <a:pt x="2071317" y="0"/>
                  </a:lnTo>
                  <a:lnTo>
                    <a:pt x="2071317" y="3987133"/>
                  </a:lnTo>
                  <a:lnTo>
                    <a:pt x="0" y="3987133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 sz="1200"/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0" y="-38100"/>
              <a:ext cx="2071317" cy="4025233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algn="ctr">
                <a:lnSpc>
                  <a:spcPts val="1773"/>
                </a:lnSpc>
              </a:pPr>
              <a:endParaRPr sz="1200"/>
            </a:p>
          </p:txBody>
        </p:sp>
      </p:grpSp>
      <p:sp>
        <p:nvSpPr>
          <p:cNvPr id="18" name="TextBox 7">
            <a:extLst>
              <a:ext uri="{FF2B5EF4-FFF2-40B4-BE49-F238E27FC236}">
                <a16:creationId xmlns:a16="http://schemas.microsoft.com/office/drawing/2014/main" id="{0408DB8D-4CD9-87D1-6486-B4E636B40449}"/>
              </a:ext>
            </a:extLst>
          </p:cNvPr>
          <p:cNvSpPr txBox="1"/>
          <p:nvPr/>
        </p:nvSpPr>
        <p:spPr>
          <a:xfrm>
            <a:off x="650307" y="3871362"/>
            <a:ext cx="6464300" cy="31380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2687"/>
              </a:lnSpc>
              <a:spcBef>
                <a:spcPct val="0"/>
              </a:spcBef>
            </a:pPr>
            <a:r>
              <a:rPr lang="en-US" sz="1600" spc="-43" dirty="0">
                <a:solidFill>
                  <a:srgbClr val="3B3A3A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A trusted engineering partner for battery testing and production system integration.</a:t>
            </a: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CA99EDF4-644C-876E-5816-BB650CEE7D3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0307" y="1219653"/>
            <a:ext cx="2397632" cy="863147"/>
          </a:xfrm>
          <a:prstGeom prst="rect">
            <a:avLst/>
          </a:prstGeom>
        </p:spPr>
      </p:pic>
      <p:sp>
        <p:nvSpPr>
          <p:cNvPr id="3" name="TextBox 3"/>
          <p:cNvSpPr txBox="1"/>
          <p:nvPr/>
        </p:nvSpPr>
        <p:spPr>
          <a:xfrm>
            <a:off x="707020" y="1794849"/>
            <a:ext cx="12039599" cy="111357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0222"/>
              </a:lnSpc>
              <a:spcBef>
                <a:spcPct val="0"/>
              </a:spcBef>
            </a:pPr>
            <a:r>
              <a:rPr lang="en-US" sz="4000" b="1" dirty="0">
                <a:solidFill>
                  <a:srgbClr val="095D40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EnerTest Solutions </a:t>
            </a:r>
            <a:r>
              <a:rPr lang="en-US" altLang="zh-CN" sz="4000" b="1" dirty="0">
                <a:solidFill>
                  <a:srgbClr val="095D40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Intro</a:t>
            </a:r>
            <a:endParaRPr lang="en-US" sz="4000" b="1" dirty="0">
              <a:solidFill>
                <a:srgbClr val="095D40"/>
              </a:solidFill>
              <a:latin typeface="Montaser Arabic Bold"/>
              <a:ea typeface="Montaser Arabic Bold"/>
              <a:cs typeface="Montaser Arabic Bold"/>
              <a:sym typeface="Montaser Arabic Bold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10800000">
            <a:off x="350294" y="5087072"/>
            <a:ext cx="3495017" cy="559899"/>
          </a:xfrm>
          <a:custGeom>
            <a:avLst/>
            <a:gdLst/>
            <a:ahLst/>
            <a:cxnLst/>
            <a:rect l="l" t="t" r="r" b="b"/>
            <a:pathLst>
              <a:path w="5242525" h="839849">
                <a:moveTo>
                  <a:pt x="0" y="0"/>
                </a:moveTo>
                <a:lnTo>
                  <a:pt x="5242525" y="0"/>
                </a:lnTo>
                <a:lnTo>
                  <a:pt x="5242525" y="839849"/>
                </a:lnTo>
                <a:lnTo>
                  <a:pt x="0" y="83984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6000"/>
            </a:blip>
            <a:stretch>
              <a:fillRect b="-79464"/>
            </a:stretch>
          </a:blipFill>
        </p:spPr>
        <p:txBody>
          <a:bodyPr/>
          <a:lstStyle/>
          <a:p>
            <a:endParaRPr lang="en-US" sz="1200"/>
          </a:p>
        </p:txBody>
      </p:sp>
      <p:grpSp>
        <p:nvGrpSpPr>
          <p:cNvPr id="3" name="Group 3"/>
          <p:cNvGrpSpPr/>
          <p:nvPr/>
        </p:nvGrpSpPr>
        <p:grpSpPr>
          <a:xfrm>
            <a:off x="387581" y="2735525"/>
            <a:ext cx="3495017" cy="2414325"/>
            <a:chOff x="0" y="0"/>
            <a:chExt cx="1622250" cy="985604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622250" cy="985604"/>
            </a:xfrm>
            <a:custGeom>
              <a:avLst/>
              <a:gdLst/>
              <a:ahLst/>
              <a:cxnLst/>
              <a:rect l="l" t="t" r="r" b="b"/>
              <a:pathLst>
                <a:path w="1622250" h="985604">
                  <a:moveTo>
                    <a:pt x="33965" y="0"/>
                  </a:moveTo>
                  <a:lnTo>
                    <a:pt x="1588284" y="0"/>
                  </a:lnTo>
                  <a:cubicBezTo>
                    <a:pt x="1607043" y="0"/>
                    <a:pt x="1622250" y="15207"/>
                    <a:pt x="1622250" y="33965"/>
                  </a:cubicBezTo>
                  <a:lnTo>
                    <a:pt x="1622250" y="951639"/>
                  </a:lnTo>
                  <a:cubicBezTo>
                    <a:pt x="1622250" y="970397"/>
                    <a:pt x="1607043" y="985604"/>
                    <a:pt x="1588284" y="985604"/>
                  </a:cubicBezTo>
                  <a:lnTo>
                    <a:pt x="33965" y="985604"/>
                  </a:lnTo>
                  <a:cubicBezTo>
                    <a:pt x="15207" y="985604"/>
                    <a:pt x="0" y="970397"/>
                    <a:pt x="0" y="951639"/>
                  </a:cubicBezTo>
                  <a:lnTo>
                    <a:pt x="0" y="33965"/>
                  </a:lnTo>
                  <a:cubicBezTo>
                    <a:pt x="0" y="15207"/>
                    <a:pt x="15207" y="0"/>
                    <a:pt x="33965" y="0"/>
                  </a:cubicBezTo>
                  <a:close/>
                </a:path>
              </a:pathLst>
            </a:custGeom>
            <a:solidFill>
              <a:srgbClr val="095D40"/>
            </a:solidFill>
          </p:spPr>
          <p:txBody>
            <a:bodyPr/>
            <a:lstStyle/>
            <a:p>
              <a:endParaRPr lang="en-US" sz="1200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1622250" cy="1023704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algn="ctr">
                <a:lnSpc>
                  <a:spcPts val="1773"/>
                </a:lnSpc>
              </a:pPr>
              <a:endParaRPr sz="1200"/>
            </a:p>
          </p:txBody>
        </p:sp>
      </p:grpSp>
      <p:sp>
        <p:nvSpPr>
          <p:cNvPr id="6" name="Freeform 6"/>
          <p:cNvSpPr/>
          <p:nvPr/>
        </p:nvSpPr>
        <p:spPr>
          <a:xfrm>
            <a:off x="1498939" y="2078039"/>
            <a:ext cx="1487729" cy="1487729"/>
          </a:xfrm>
          <a:custGeom>
            <a:avLst/>
            <a:gdLst/>
            <a:ahLst/>
            <a:cxnLst/>
            <a:rect l="l" t="t" r="r" b="b"/>
            <a:pathLst>
              <a:path w="2231594" h="2231594">
                <a:moveTo>
                  <a:pt x="0" y="0"/>
                </a:moveTo>
                <a:lnTo>
                  <a:pt x="2231594" y="0"/>
                </a:lnTo>
                <a:lnTo>
                  <a:pt x="2231594" y="2231594"/>
                </a:lnTo>
                <a:lnTo>
                  <a:pt x="0" y="223159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cap="rnd">
            <a:noFill/>
            <a:prstDash val="solid"/>
            <a:round/>
          </a:ln>
        </p:spPr>
        <p:txBody>
          <a:bodyPr/>
          <a:lstStyle/>
          <a:p>
            <a:endParaRPr lang="en-US" sz="1200"/>
          </a:p>
        </p:txBody>
      </p:sp>
      <p:sp>
        <p:nvSpPr>
          <p:cNvPr id="8" name="Freeform 8"/>
          <p:cNvSpPr/>
          <p:nvPr/>
        </p:nvSpPr>
        <p:spPr>
          <a:xfrm rot="-10800000">
            <a:off x="4248670" y="5087072"/>
            <a:ext cx="3495017" cy="559899"/>
          </a:xfrm>
          <a:custGeom>
            <a:avLst/>
            <a:gdLst/>
            <a:ahLst/>
            <a:cxnLst/>
            <a:rect l="l" t="t" r="r" b="b"/>
            <a:pathLst>
              <a:path w="5242525" h="839849">
                <a:moveTo>
                  <a:pt x="0" y="0"/>
                </a:moveTo>
                <a:lnTo>
                  <a:pt x="5242525" y="0"/>
                </a:lnTo>
                <a:lnTo>
                  <a:pt x="5242525" y="839849"/>
                </a:lnTo>
                <a:lnTo>
                  <a:pt x="0" y="83984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6000"/>
            </a:blip>
            <a:stretch>
              <a:fillRect b="-79464"/>
            </a:stretch>
          </a:blipFill>
        </p:spPr>
        <p:txBody>
          <a:bodyPr/>
          <a:lstStyle/>
          <a:p>
            <a:endParaRPr lang="en-US" sz="1200"/>
          </a:p>
        </p:txBody>
      </p:sp>
      <p:grpSp>
        <p:nvGrpSpPr>
          <p:cNvPr id="9" name="Group 9"/>
          <p:cNvGrpSpPr/>
          <p:nvPr/>
        </p:nvGrpSpPr>
        <p:grpSpPr>
          <a:xfrm>
            <a:off x="4204874" y="2735525"/>
            <a:ext cx="3582000" cy="2414325"/>
            <a:chOff x="0" y="0"/>
            <a:chExt cx="1622250" cy="985604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1622250" cy="985604"/>
            </a:xfrm>
            <a:custGeom>
              <a:avLst/>
              <a:gdLst/>
              <a:ahLst/>
              <a:cxnLst/>
              <a:rect l="l" t="t" r="r" b="b"/>
              <a:pathLst>
                <a:path w="1622250" h="985604">
                  <a:moveTo>
                    <a:pt x="33965" y="0"/>
                  </a:moveTo>
                  <a:lnTo>
                    <a:pt x="1588284" y="0"/>
                  </a:lnTo>
                  <a:cubicBezTo>
                    <a:pt x="1607043" y="0"/>
                    <a:pt x="1622250" y="15207"/>
                    <a:pt x="1622250" y="33965"/>
                  </a:cubicBezTo>
                  <a:lnTo>
                    <a:pt x="1622250" y="951639"/>
                  </a:lnTo>
                  <a:cubicBezTo>
                    <a:pt x="1622250" y="970397"/>
                    <a:pt x="1607043" y="985604"/>
                    <a:pt x="1588284" y="985604"/>
                  </a:cubicBezTo>
                  <a:lnTo>
                    <a:pt x="33965" y="985604"/>
                  </a:lnTo>
                  <a:cubicBezTo>
                    <a:pt x="15207" y="985604"/>
                    <a:pt x="0" y="970397"/>
                    <a:pt x="0" y="951639"/>
                  </a:cubicBezTo>
                  <a:lnTo>
                    <a:pt x="0" y="33965"/>
                  </a:lnTo>
                  <a:cubicBezTo>
                    <a:pt x="0" y="15207"/>
                    <a:pt x="15207" y="0"/>
                    <a:pt x="33965" y="0"/>
                  </a:cubicBezTo>
                  <a:close/>
                </a:path>
              </a:pathLst>
            </a:custGeom>
            <a:solidFill>
              <a:srgbClr val="095D40"/>
            </a:solidFill>
          </p:spPr>
          <p:txBody>
            <a:bodyPr/>
            <a:lstStyle/>
            <a:p>
              <a:endParaRPr lang="en-US" sz="1200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-38100"/>
              <a:ext cx="1622250" cy="1023704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algn="ctr">
                <a:lnSpc>
                  <a:spcPts val="1773"/>
                </a:lnSpc>
              </a:pPr>
              <a:endParaRPr sz="1200"/>
            </a:p>
          </p:txBody>
        </p:sp>
      </p:grpSp>
      <p:sp>
        <p:nvSpPr>
          <p:cNvPr id="12" name="Freeform 12"/>
          <p:cNvSpPr/>
          <p:nvPr/>
        </p:nvSpPr>
        <p:spPr>
          <a:xfrm>
            <a:off x="5295506" y="2078039"/>
            <a:ext cx="1487729" cy="1487729"/>
          </a:xfrm>
          <a:custGeom>
            <a:avLst/>
            <a:gdLst/>
            <a:ahLst/>
            <a:cxnLst/>
            <a:rect l="l" t="t" r="r" b="b"/>
            <a:pathLst>
              <a:path w="2231594" h="2231594">
                <a:moveTo>
                  <a:pt x="0" y="0"/>
                </a:moveTo>
                <a:lnTo>
                  <a:pt x="2231595" y="0"/>
                </a:lnTo>
                <a:lnTo>
                  <a:pt x="2231595" y="2231594"/>
                </a:lnTo>
                <a:lnTo>
                  <a:pt x="0" y="223159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cap="rnd">
            <a:noFill/>
            <a:prstDash val="solid"/>
            <a:round/>
          </a:ln>
        </p:spPr>
        <p:txBody>
          <a:bodyPr/>
          <a:lstStyle/>
          <a:p>
            <a:endParaRPr lang="en-US" sz="1200" dirty="0"/>
          </a:p>
        </p:txBody>
      </p:sp>
      <p:sp>
        <p:nvSpPr>
          <p:cNvPr id="14" name="Freeform 14"/>
          <p:cNvSpPr/>
          <p:nvPr/>
        </p:nvSpPr>
        <p:spPr>
          <a:xfrm rot="-10800000">
            <a:off x="8147046" y="5087072"/>
            <a:ext cx="3495017" cy="559899"/>
          </a:xfrm>
          <a:custGeom>
            <a:avLst/>
            <a:gdLst/>
            <a:ahLst/>
            <a:cxnLst/>
            <a:rect l="l" t="t" r="r" b="b"/>
            <a:pathLst>
              <a:path w="5242525" h="839849">
                <a:moveTo>
                  <a:pt x="0" y="0"/>
                </a:moveTo>
                <a:lnTo>
                  <a:pt x="5242525" y="0"/>
                </a:lnTo>
                <a:lnTo>
                  <a:pt x="5242525" y="839849"/>
                </a:lnTo>
                <a:lnTo>
                  <a:pt x="0" y="83984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6000"/>
            </a:blip>
            <a:stretch>
              <a:fillRect b="-79464"/>
            </a:stretch>
          </a:blipFill>
        </p:spPr>
        <p:txBody>
          <a:bodyPr/>
          <a:lstStyle/>
          <a:p>
            <a:endParaRPr lang="en-US" sz="1200"/>
          </a:p>
        </p:txBody>
      </p:sp>
      <p:grpSp>
        <p:nvGrpSpPr>
          <p:cNvPr id="15" name="Group 15"/>
          <p:cNvGrpSpPr/>
          <p:nvPr/>
        </p:nvGrpSpPr>
        <p:grpSpPr>
          <a:xfrm>
            <a:off x="8109758" y="2735524"/>
            <a:ext cx="3495017" cy="2414326"/>
            <a:chOff x="0" y="0"/>
            <a:chExt cx="1622250" cy="985604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1622250" cy="985604"/>
            </a:xfrm>
            <a:custGeom>
              <a:avLst/>
              <a:gdLst/>
              <a:ahLst/>
              <a:cxnLst/>
              <a:rect l="l" t="t" r="r" b="b"/>
              <a:pathLst>
                <a:path w="1622250" h="985604">
                  <a:moveTo>
                    <a:pt x="33965" y="0"/>
                  </a:moveTo>
                  <a:lnTo>
                    <a:pt x="1588284" y="0"/>
                  </a:lnTo>
                  <a:cubicBezTo>
                    <a:pt x="1607043" y="0"/>
                    <a:pt x="1622250" y="15207"/>
                    <a:pt x="1622250" y="33965"/>
                  </a:cubicBezTo>
                  <a:lnTo>
                    <a:pt x="1622250" y="951639"/>
                  </a:lnTo>
                  <a:cubicBezTo>
                    <a:pt x="1622250" y="970397"/>
                    <a:pt x="1607043" y="985604"/>
                    <a:pt x="1588284" y="985604"/>
                  </a:cubicBezTo>
                  <a:lnTo>
                    <a:pt x="33965" y="985604"/>
                  </a:lnTo>
                  <a:cubicBezTo>
                    <a:pt x="15207" y="985604"/>
                    <a:pt x="0" y="970397"/>
                    <a:pt x="0" y="951639"/>
                  </a:cubicBezTo>
                  <a:lnTo>
                    <a:pt x="0" y="33965"/>
                  </a:lnTo>
                  <a:cubicBezTo>
                    <a:pt x="0" y="15207"/>
                    <a:pt x="15207" y="0"/>
                    <a:pt x="33965" y="0"/>
                  </a:cubicBezTo>
                  <a:close/>
                </a:path>
              </a:pathLst>
            </a:custGeom>
            <a:solidFill>
              <a:srgbClr val="095D40"/>
            </a:solidFill>
          </p:spPr>
          <p:txBody>
            <a:bodyPr/>
            <a:lstStyle/>
            <a:p>
              <a:endParaRPr lang="en-US" sz="1200"/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0" y="-38100"/>
              <a:ext cx="1622250" cy="1023704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algn="ctr">
                <a:lnSpc>
                  <a:spcPts val="1773"/>
                </a:lnSpc>
              </a:pPr>
              <a:endParaRPr sz="1200"/>
            </a:p>
          </p:txBody>
        </p:sp>
      </p:grpSp>
      <p:sp>
        <p:nvSpPr>
          <p:cNvPr id="18" name="Freeform 18"/>
          <p:cNvSpPr/>
          <p:nvPr/>
        </p:nvSpPr>
        <p:spPr>
          <a:xfrm>
            <a:off x="9221116" y="2078038"/>
            <a:ext cx="1487729" cy="1487729"/>
          </a:xfrm>
          <a:custGeom>
            <a:avLst/>
            <a:gdLst/>
            <a:ahLst/>
            <a:cxnLst/>
            <a:rect l="l" t="t" r="r" b="b"/>
            <a:pathLst>
              <a:path w="2231594" h="2231594">
                <a:moveTo>
                  <a:pt x="0" y="0"/>
                </a:moveTo>
                <a:lnTo>
                  <a:pt x="2231595" y="0"/>
                </a:lnTo>
                <a:lnTo>
                  <a:pt x="2231595" y="2231594"/>
                </a:lnTo>
                <a:lnTo>
                  <a:pt x="0" y="223159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cap="rnd">
            <a:noFill/>
            <a:prstDash val="solid"/>
            <a:round/>
          </a:ln>
        </p:spPr>
        <p:txBody>
          <a:bodyPr/>
          <a:lstStyle/>
          <a:p>
            <a:endParaRPr lang="en-US" sz="1200"/>
          </a:p>
        </p:txBody>
      </p:sp>
      <p:grpSp>
        <p:nvGrpSpPr>
          <p:cNvPr id="20" name="Group 20"/>
          <p:cNvGrpSpPr/>
          <p:nvPr/>
        </p:nvGrpSpPr>
        <p:grpSpPr>
          <a:xfrm>
            <a:off x="9646457" y="-2725769"/>
            <a:ext cx="4382579" cy="4382579"/>
            <a:chOff x="0" y="0"/>
            <a:chExt cx="812800" cy="812800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lnTo>
                    <a:pt x="812800" y="406400"/>
                  </a:lnTo>
                  <a:lnTo>
                    <a:pt x="406400" y="812800"/>
                  </a:lnTo>
                  <a:lnTo>
                    <a:pt x="0" y="4064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AEEA00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US" sz="1200"/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139700" y="101600"/>
              <a:ext cx="533400" cy="571500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algn="ctr">
                <a:lnSpc>
                  <a:spcPts val="1614"/>
                </a:lnSpc>
              </a:pPr>
              <a:endParaRPr sz="1200"/>
            </a:p>
          </p:txBody>
        </p:sp>
      </p:grpSp>
      <p:sp>
        <p:nvSpPr>
          <p:cNvPr id="23" name="TextBox 23"/>
          <p:cNvSpPr txBox="1"/>
          <p:nvPr/>
        </p:nvSpPr>
        <p:spPr>
          <a:xfrm>
            <a:off x="3194054" y="594242"/>
            <a:ext cx="5475206" cy="5538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606"/>
              </a:lnSpc>
              <a:spcBef>
                <a:spcPct val="0"/>
              </a:spcBef>
            </a:pPr>
            <a:r>
              <a:rPr lang="en-US" altLang="zh-CN" sz="3289" b="1" dirty="0">
                <a:solidFill>
                  <a:srgbClr val="095D40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Who We Are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674104" y="3375456"/>
            <a:ext cx="2921971" cy="10494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060"/>
              </a:lnSpc>
              <a:spcBef>
                <a:spcPct val="0"/>
              </a:spcBef>
            </a:pPr>
            <a:r>
              <a:rPr lang="en-US" altLang="zh-CN" sz="1249" spc="3" dirty="0">
                <a:solidFill>
                  <a:srgbClr val="F4F4F4"/>
                </a:solidFill>
                <a:latin typeface="Montserrat"/>
                <a:ea typeface="Montserrat"/>
                <a:cs typeface="Montserrat"/>
                <a:sym typeface="Montserrat"/>
              </a:rPr>
              <a:t>An Engineering-focused team with solid experience in battery manufacturing and testing.</a:t>
            </a:r>
          </a:p>
          <a:p>
            <a:pPr algn="ctr">
              <a:lnSpc>
                <a:spcPts val="2060"/>
              </a:lnSpc>
              <a:spcBef>
                <a:spcPct val="0"/>
              </a:spcBef>
            </a:pPr>
            <a:endParaRPr lang="en-US" sz="1249" spc="3" dirty="0">
              <a:solidFill>
                <a:srgbClr val="F4F4F4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5" name="TextBox 25"/>
          <p:cNvSpPr txBox="1"/>
          <p:nvPr/>
        </p:nvSpPr>
        <p:spPr>
          <a:xfrm>
            <a:off x="4377894" y="3375456"/>
            <a:ext cx="3389852" cy="158806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060"/>
              </a:lnSpc>
              <a:spcBef>
                <a:spcPct val="0"/>
              </a:spcBef>
            </a:pPr>
            <a:r>
              <a:rPr lang="en-US" altLang="zh-CN" sz="1249" spc="3" dirty="0">
                <a:solidFill>
                  <a:srgbClr val="F4F4F4"/>
                </a:solidFill>
                <a:latin typeface="Montserrat"/>
                <a:ea typeface="Montserrat"/>
                <a:cs typeface="Montserrat"/>
                <a:sym typeface="Montserrat"/>
              </a:rPr>
              <a:t>Based in the United States with complete project delivery capability:</a:t>
            </a:r>
          </a:p>
          <a:p>
            <a:pPr algn="ctr">
              <a:lnSpc>
                <a:spcPts val="2060"/>
              </a:lnSpc>
              <a:spcBef>
                <a:spcPct val="0"/>
              </a:spcBef>
            </a:pPr>
            <a:r>
              <a:rPr lang="en-US" altLang="zh-CN" sz="1249" spc="3" dirty="0">
                <a:solidFill>
                  <a:srgbClr val="F4F4F4"/>
                </a:solidFill>
                <a:latin typeface="Montserrat"/>
                <a:ea typeface="Montserrat"/>
                <a:cs typeface="Montserrat"/>
                <a:sym typeface="Montserrat"/>
              </a:rPr>
              <a:t>• Technical sales</a:t>
            </a:r>
          </a:p>
          <a:p>
            <a:pPr algn="ctr">
              <a:lnSpc>
                <a:spcPts val="2060"/>
              </a:lnSpc>
              <a:spcBef>
                <a:spcPct val="0"/>
              </a:spcBef>
            </a:pPr>
            <a:r>
              <a:rPr lang="en-US" altLang="zh-CN" sz="1249" spc="3" dirty="0">
                <a:solidFill>
                  <a:srgbClr val="F4F4F4"/>
                </a:solidFill>
                <a:latin typeface="Montserrat"/>
                <a:ea typeface="Montserrat"/>
                <a:cs typeface="Montserrat"/>
                <a:sym typeface="Montserrat"/>
              </a:rPr>
              <a:t>• On-site installation and commissioning</a:t>
            </a:r>
          </a:p>
          <a:p>
            <a:pPr algn="ctr">
              <a:lnSpc>
                <a:spcPts val="2060"/>
              </a:lnSpc>
              <a:spcBef>
                <a:spcPct val="0"/>
              </a:spcBef>
            </a:pPr>
            <a:r>
              <a:rPr lang="en-US" altLang="zh-CN" sz="1249" spc="3" dirty="0">
                <a:solidFill>
                  <a:srgbClr val="F4F4F4"/>
                </a:solidFill>
                <a:latin typeface="Montserrat"/>
                <a:ea typeface="Montserrat"/>
                <a:cs typeface="Montserrat"/>
                <a:sym typeface="Montserrat"/>
              </a:rPr>
              <a:t>• After-sales service and technical support</a:t>
            </a:r>
          </a:p>
          <a:p>
            <a:pPr algn="ctr">
              <a:lnSpc>
                <a:spcPts val="2060"/>
              </a:lnSpc>
              <a:spcBef>
                <a:spcPct val="0"/>
              </a:spcBef>
            </a:pPr>
            <a:r>
              <a:rPr lang="en-US" altLang="zh-CN" sz="1249" spc="3" dirty="0">
                <a:solidFill>
                  <a:srgbClr val="F4F4F4"/>
                </a:solidFill>
                <a:latin typeface="Montserrat"/>
                <a:ea typeface="Montserrat"/>
                <a:cs typeface="Montserrat"/>
                <a:sym typeface="Montserrat"/>
              </a:rPr>
              <a:t>• Project management and logistics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8396282" y="3375455"/>
            <a:ext cx="2921971" cy="15880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060"/>
              </a:lnSpc>
              <a:spcBef>
                <a:spcPct val="0"/>
              </a:spcBef>
            </a:pPr>
            <a:r>
              <a:rPr lang="en-US" altLang="zh-CN" sz="1249" spc="3" dirty="0">
                <a:solidFill>
                  <a:srgbClr val="F4F4F4"/>
                </a:solidFill>
                <a:latin typeface="Montserrat"/>
                <a:ea typeface="Montserrat"/>
                <a:cs typeface="Montserrat"/>
                <a:sym typeface="Montserrat"/>
              </a:rPr>
              <a:t>Strategic access to leading battery manufacturing and test-equipment partners in China, helping ensure advanced technology and competitive delivery.</a:t>
            </a:r>
          </a:p>
          <a:p>
            <a:pPr algn="ctr">
              <a:lnSpc>
                <a:spcPts val="2060"/>
              </a:lnSpc>
              <a:spcBef>
                <a:spcPct val="0"/>
              </a:spcBef>
            </a:pPr>
            <a:endParaRPr lang="en-US" sz="1249" spc="3" dirty="0">
              <a:solidFill>
                <a:srgbClr val="F4F4F4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grpSp>
        <p:nvGrpSpPr>
          <p:cNvPr id="27" name="Group 27"/>
          <p:cNvGrpSpPr/>
          <p:nvPr/>
        </p:nvGrpSpPr>
        <p:grpSpPr>
          <a:xfrm>
            <a:off x="9748057" y="-2624169"/>
            <a:ext cx="4382579" cy="4382579"/>
            <a:chOff x="0" y="0"/>
            <a:chExt cx="812800" cy="812800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lnTo>
                    <a:pt x="812800" y="406400"/>
                  </a:lnTo>
                  <a:lnTo>
                    <a:pt x="406400" y="812800"/>
                  </a:lnTo>
                  <a:lnTo>
                    <a:pt x="0" y="4064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AEEA00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US" sz="1200"/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139700" y="101600"/>
              <a:ext cx="533400" cy="571500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algn="ctr">
                <a:lnSpc>
                  <a:spcPts val="1614"/>
                </a:lnSpc>
              </a:pPr>
              <a:endParaRPr sz="1200"/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-586860" y="5768130"/>
            <a:ext cx="4382579" cy="4382579"/>
            <a:chOff x="0" y="0"/>
            <a:chExt cx="812800" cy="812800"/>
          </a:xfrm>
        </p:grpSpPr>
        <p:sp>
          <p:nvSpPr>
            <p:cNvPr id="31" name="Freeform 31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lnTo>
                    <a:pt x="812800" y="406400"/>
                  </a:lnTo>
                  <a:lnTo>
                    <a:pt x="406400" y="812800"/>
                  </a:lnTo>
                  <a:lnTo>
                    <a:pt x="0" y="4064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AEEA00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US" sz="1200"/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139700" y="101600"/>
              <a:ext cx="533400" cy="571500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algn="ctr">
                <a:lnSpc>
                  <a:spcPts val="1614"/>
                </a:lnSpc>
              </a:pPr>
              <a:endParaRPr sz="1200"/>
            </a:p>
          </p:txBody>
        </p:sp>
      </p:grpSp>
      <p:grpSp>
        <p:nvGrpSpPr>
          <p:cNvPr id="33" name="Group 33"/>
          <p:cNvGrpSpPr/>
          <p:nvPr/>
        </p:nvGrpSpPr>
        <p:grpSpPr>
          <a:xfrm>
            <a:off x="-1604064" y="5563701"/>
            <a:ext cx="4382579" cy="4382579"/>
            <a:chOff x="0" y="0"/>
            <a:chExt cx="812800" cy="812800"/>
          </a:xfrm>
        </p:grpSpPr>
        <p:sp>
          <p:nvSpPr>
            <p:cNvPr id="34" name="Freeform 3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lnTo>
                    <a:pt x="812800" y="406400"/>
                  </a:lnTo>
                  <a:lnTo>
                    <a:pt x="406400" y="812800"/>
                  </a:lnTo>
                  <a:lnTo>
                    <a:pt x="0" y="406400"/>
                  </a:lnTo>
                  <a:lnTo>
                    <a:pt x="406400" y="0"/>
                  </a:lnTo>
                  <a:close/>
                </a:path>
              </a:pathLst>
            </a:custGeom>
            <a:ln w="381000" cap="sq">
              <a:solidFill>
                <a:srgbClr val="095D40"/>
              </a:solidFill>
              <a:prstDash val="solid"/>
              <a:miter/>
            </a:ln>
          </p:spPr>
          <p:txBody>
            <a:bodyPr/>
            <a:lstStyle/>
            <a:p>
              <a:endParaRPr lang="en-US" sz="1200"/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139700" y="101600"/>
              <a:ext cx="533400" cy="571500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algn="ctr">
                <a:lnSpc>
                  <a:spcPts val="1614"/>
                </a:lnSpc>
              </a:pPr>
              <a:endParaRPr sz="1200"/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9748057" y="-2036883"/>
            <a:ext cx="4382579" cy="4382579"/>
            <a:chOff x="0" y="0"/>
            <a:chExt cx="812800" cy="812800"/>
          </a:xfrm>
        </p:grpSpPr>
        <p:sp>
          <p:nvSpPr>
            <p:cNvPr id="37" name="Freeform 3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lnTo>
                    <a:pt x="812800" y="406400"/>
                  </a:lnTo>
                  <a:lnTo>
                    <a:pt x="406400" y="812800"/>
                  </a:lnTo>
                  <a:lnTo>
                    <a:pt x="0" y="406400"/>
                  </a:lnTo>
                  <a:lnTo>
                    <a:pt x="406400" y="0"/>
                  </a:lnTo>
                  <a:close/>
                </a:path>
              </a:pathLst>
            </a:custGeom>
            <a:ln w="381000" cap="sq">
              <a:solidFill>
                <a:srgbClr val="095D40"/>
              </a:solidFill>
              <a:prstDash val="solid"/>
              <a:miter/>
            </a:ln>
          </p:spPr>
          <p:txBody>
            <a:bodyPr/>
            <a:lstStyle/>
            <a:p>
              <a:endParaRPr lang="en-US" sz="1200"/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139700" y="101600"/>
              <a:ext cx="533400" cy="571500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algn="ctr">
                <a:lnSpc>
                  <a:spcPts val="1614"/>
                </a:lnSpc>
              </a:pPr>
              <a:endParaRPr sz="1200"/>
            </a:p>
          </p:txBody>
        </p:sp>
      </p:grpSp>
      <p:sp>
        <p:nvSpPr>
          <p:cNvPr id="40" name="Freeform 16">
            <a:extLst>
              <a:ext uri="{FF2B5EF4-FFF2-40B4-BE49-F238E27FC236}">
                <a16:creationId xmlns:a16="http://schemas.microsoft.com/office/drawing/2014/main" id="{6A6A167A-EF66-B9D0-5C4E-DFF7A6132019}"/>
              </a:ext>
            </a:extLst>
          </p:cNvPr>
          <p:cNvSpPr/>
          <p:nvPr/>
        </p:nvSpPr>
        <p:spPr>
          <a:xfrm>
            <a:off x="5597122" y="2360983"/>
            <a:ext cx="706424" cy="645206"/>
          </a:xfrm>
          <a:custGeom>
            <a:avLst/>
            <a:gdLst/>
            <a:ahLst/>
            <a:cxnLst/>
            <a:rect l="l" t="t" r="r" b="b"/>
            <a:pathLst>
              <a:path w="838184" h="868176">
                <a:moveTo>
                  <a:pt x="0" y="0"/>
                </a:moveTo>
                <a:lnTo>
                  <a:pt x="838185" y="0"/>
                </a:lnTo>
                <a:lnTo>
                  <a:pt x="838185" y="868176"/>
                </a:lnTo>
                <a:lnTo>
                  <a:pt x="0" y="86817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1" name="Freeform 40">
            <a:extLst>
              <a:ext uri="{FF2B5EF4-FFF2-40B4-BE49-F238E27FC236}">
                <a16:creationId xmlns:a16="http://schemas.microsoft.com/office/drawing/2014/main" id="{5FB83B26-0CE2-A8F3-1247-0A225D514589}"/>
              </a:ext>
            </a:extLst>
          </p:cNvPr>
          <p:cNvSpPr/>
          <p:nvPr/>
        </p:nvSpPr>
        <p:spPr>
          <a:xfrm>
            <a:off x="1836220" y="2395529"/>
            <a:ext cx="625001" cy="588900"/>
          </a:xfrm>
          <a:custGeom>
            <a:avLst/>
            <a:gdLst/>
            <a:ahLst/>
            <a:cxnLst/>
            <a:rect l="l" t="t" r="r" b="b"/>
            <a:pathLst>
              <a:path w="806545" h="742021">
                <a:moveTo>
                  <a:pt x="0" y="0"/>
                </a:moveTo>
                <a:lnTo>
                  <a:pt x="806545" y="0"/>
                </a:lnTo>
                <a:lnTo>
                  <a:pt x="806545" y="742021"/>
                </a:lnTo>
                <a:lnTo>
                  <a:pt x="0" y="74202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2" name="Freeform 52">
            <a:extLst>
              <a:ext uri="{FF2B5EF4-FFF2-40B4-BE49-F238E27FC236}">
                <a16:creationId xmlns:a16="http://schemas.microsoft.com/office/drawing/2014/main" id="{5F4549B8-81EE-12A6-7732-849E0E01FACB}"/>
              </a:ext>
            </a:extLst>
          </p:cNvPr>
          <p:cNvSpPr/>
          <p:nvPr/>
        </p:nvSpPr>
        <p:spPr>
          <a:xfrm>
            <a:off x="9539809" y="2374233"/>
            <a:ext cx="634913" cy="754864"/>
          </a:xfrm>
          <a:custGeom>
            <a:avLst/>
            <a:gdLst/>
            <a:ahLst/>
            <a:cxnLst/>
            <a:rect l="l" t="t" r="r" b="b"/>
            <a:pathLst>
              <a:path w="762279" h="892029">
                <a:moveTo>
                  <a:pt x="0" y="0"/>
                </a:moveTo>
                <a:lnTo>
                  <a:pt x="762280" y="0"/>
                </a:lnTo>
                <a:lnTo>
                  <a:pt x="762280" y="892029"/>
                </a:lnTo>
                <a:lnTo>
                  <a:pt x="0" y="89202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4199A07-475B-CF33-A8BB-7DB176D5701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3579" y="-64351"/>
            <a:ext cx="2397632" cy="863147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>
            <a:grpSpLocks noGrp="1" noUngrp="1" noRot="1" noMove="1" noResize="1"/>
          </p:cNvGrpSpPr>
          <p:nvPr/>
        </p:nvGrpSpPr>
        <p:grpSpPr>
          <a:xfrm>
            <a:off x="-476592" y="1000135"/>
            <a:ext cx="5821629" cy="6476602"/>
            <a:chOff x="0" y="0"/>
            <a:chExt cx="2299903" cy="2558658"/>
          </a:xfrm>
        </p:grpSpPr>
        <p:sp>
          <p:nvSpPr>
            <p:cNvPr id="3" name="Freeform 3"/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0" y="0"/>
              <a:ext cx="2299903" cy="2558658"/>
            </a:xfrm>
            <a:custGeom>
              <a:avLst/>
              <a:gdLst/>
              <a:ahLst/>
              <a:cxnLst/>
              <a:rect l="l" t="t" r="r" b="b"/>
              <a:pathLst>
                <a:path w="2299903" h="2558658">
                  <a:moveTo>
                    <a:pt x="0" y="0"/>
                  </a:moveTo>
                  <a:lnTo>
                    <a:pt x="2299903" y="0"/>
                  </a:lnTo>
                  <a:lnTo>
                    <a:pt x="2299903" y="2558658"/>
                  </a:lnTo>
                  <a:lnTo>
                    <a:pt x="0" y="2558658"/>
                  </a:lnTo>
                  <a:close/>
                </a:path>
              </a:pathLst>
            </a:custGeom>
            <a:solidFill>
              <a:srgbClr val="095D40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US" sz="1200"/>
            </a:p>
          </p:txBody>
        </p:sp>
        <p:sp>
          <p:nvSpPr>
            <p:cNvPr id="4" name="TextBox 4"/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0" y="-38100"/>
              <a:ext cx="2299903" cy="2596758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algn="ctr">
                <a:lnSpc>
                  <a:spcPts val="1614"/>
                </a:lnSpc>
              </a:pPr>
              <a:endParaRPr sz="1200"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10860712" y="3805506"/>
            <a:ext cx="3226854" cy="2773078"/>
            <a:chOff x="0" y="0"/>
            <a:chExt cx="812800" cy="6985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812800" cy="698500"/>
            </a:xfrm>
            <a:custGeom>
              <a:avLst/>
              <a:gdLst/>
              <a:ahLst/>
              <a:cxnLst/>
              <a:rect l="l" t="t" r="r" b="b"/>
              <a:pathLst>
                <a:path w="812800" h="698500">
                  <a:moveTo>
                    <a:pt x="812800" y="349250"/>
                  </a:moveTo>
                  <a:lnTo>
                    <a:pt x="609600" y="698500"/>
                  </a:lnTo>
                  <a:lnTo>
                    <a:pt x="203200" y="698500"/>
                  </a:lnTo>
                  <a:lnTo>
                    <a:pt x="0" y="349250"/>
                  </a:lnTo>
                  <a:lnTo>
                    <a:pt x="203200" y="0"/>
                  </a:lnTo>
                  <a:lnTo>
                    <a:pt x="609600" y="0"/>
                  </a:lnTo>
                  <a:lnTo>
                    <a:pt x="812800" y="349250"/>
                  </a:lnTo>
                  <a:close/>
                </a:path>
              </a:pathLst>
            </a:custGeom>
            <a:solidFill>
              <a:srgbClr val="AEEA00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US" sz="1200"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10280009" y="4407175"/>
            <a:ext cx="5703739" cy="4901651"/>
            <a:chOff x="0" y="0"/>
            <a:chExt cx="812800" cy="6985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812800" cy="698500"/>
            </a:xfrm>
            <a:custGeom>
              <a:avLst/>
              <a:gdLst/>
              <a:ahLst/>
              <a:cxnLst/>
              <a:rect l="l" t="t" r="r" b="b"/>
              <a:pathLst>
                <a:path w="812800" h="698500">
                  <a:moveTo>
                    <a:pt x="812800" y="349250"/>
                  </a:moveTo>
                  <a:lnTo>
                    <a:pt x="609600" y="698500"/>
                  </a:lnTo>
                  <a:lnTo>
                    <a:pt x="203200" y="698500"/>
                  </a:lnTo>
                  <a:lnTo>
                    <a:pt x="0" y="349250"/>
                  </a:lnTo>
                  <a:lnTo>
                    <a:pt x="203200" y="0"/>
                  </a:lnTo>
                  <a:lnTo>
                    <a:pt x="609600" y="0"/>
                  </a:lnTo>
                  <a:lnTo>
                    <a:pt x="812800" y="349250"/>
                  </a:lnTo>
                  <a:close/>
                </a:path>
              </a:pathLst>
            </a:custGeom>
            <a:solidFill>
              <a:srgbClr val="095D40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US" sz="1200"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1850542" y="2518473"/>
            <a:ext cx="3106562" cy="533538"/>
            <a:chOff x="-12543" y="-23813"/>
            <a:chExt cx="1227284" cy="21078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1214741" cy="163155"/>
            </a:xfrm>
            <a:custGeom>
              <a:avLst/>
              <a:gdLst/>
              <a:ahLst/>
              <a:cxnLst/>
              <a:rect l="l" t="t" r="r" b="b"/>
              <a:pathLst>
                <a:path w="1214741" h="163155">
                  <a:moveTo>
                    <a:pt x="81578" y="0"/>
                  </a:moveTo>
                  <a:lnTo>
                    <a:pt x="1133163" y="0"/>
                  </a:lnTo>
                  <a:cubicBezTo>
                    <a:pt x="1178217" y="0"/>
                    <a:pt x="1214741" y="36524"/>
                    <a:pt x="1214741" y="81578"/>
                  </a:cubicBezTo>
                  <a:lnTo>
                    <a:pt x="1214741" y="81578"/>
                  </a:lnTo>
                  <a:cubicBezTo>
                    <a:pt x="1214741" y="103213"/>
                    <a:pt x="1206146" y="123963"/>
                    <a:pt x="1190847" y="139262"/>
                  </a:cubicBezTo>
                  <a:cubicBezTo>
                    <a:pt x="1175549" y="154560"/>
                    <a:pt x="1154799" y="163155"/>
                    <a:pt x="1133163" y="163155"/>
                  </a:cubicBezTo>
                  <a:lnTo>
                    <a:pt x="81578" y="163155"/>
                  </a:lnTo>
                  <a:cubicBezTo>
                    <a:pt x="36524" y="163155"/>
                    <a:pt x="0" y="126632"/>
                    <a:pt x="0" y="81578"/>
                  </a:cubicBezTo>
                  <a:lnTo>
                    <a:pt x="0" y="81578"/>
                  </a:lnTo>
                  <a:cubicBezTo>
                    <a:pt x="0" y="36524"/>
                    <a:pt x="36524" y="0"/>
                    <a:pt x="81578" y="0"/>
                  </a:cubicBezTo>
                  <a:close/>
                </a:path>
              </a:pathLst>
            </a:custGeom>
            <a:ln w="19050" cap="rnd">
              <a:solidFill>
                <a:srgbClr val="FFFFFF"/>
              </a:solidFill>
              <a:prstDash val="solid"/>
              <a:round/>
            </a:ln>
          </p:spPr>
          <p:txBody>
            <a:bodyPr/>
            <a:lstStyle/>
            <a:p>
              <a:endParaRPr lang="en-US" sz="1200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-12543" y="-23813"/>
              <a:ext cx="1214741" cy="21078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361"/>
                </a:lnSpc>
                <a:spcBef>
                  <a:spcPct val="0"/>
                </a:spcBef>
              </a:pPr>
              <a:r>
                <a:rPr lang="en-US" altLang="zh-CN" sz="1686" b="1" dirty="0">
                  <a:solidFill>
                    <a:srgbClr val="FFFFFF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Industry Pain Points</a:t>
              </a:r>
            </a:p>
          </p:txBody>
        </p:sp>
      </p:grpSp>
      <p:sp>
        <p:nvSpPr>
          <p:cNvPr id="14" name="TextBox 14"/>
          <p:cNvSpPr txBox="1"/>
          <p:nvPr/>
        </p:nvSpPr>
        <p:spPr>
          <a:xfrm>
            <a:off x="6026253" y="279416"/>
            <a:ext cx="5613197" cy="14423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5820"/>
              </a:lnSpc>
              <a:spcBef>
                <a:spcPct val="0"/>
              </a:spcBef>
            </a:pPr>
            <a:r>
              <a:rPr lang="en-US" altLang="zh-CN" sz="4157" b="1" dirty="0">
                <a:solidFill>
                  <a:srgbClr val="095D40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What Problems Do We Solve?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41786" y="3407770"/>
            <a:ext cx="5303251" cy="303884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2395"/>
              </a:lnSpc>
              <a:spcBef>
                <a:spcPct val="0"/>
              </a:spcBef>
            </a:pPr>
            <a:r>
              <a:rPr lang="en-US" altLang="zh-CN" sz="1200" spc="4" dirty="0">
                <a:solidFill>
                  <a:srgbClr val="F4F4F4"/>
                </a:solidFill>
                <a:latin typeface="Montserrat"/>
                <a:ea typeface="Montserrat"/>
                <a:cs typeface="Montserrat"/>
                <a:sym typeface="Montserrat"/>
              </a:rPr>
              <a:t>• There are few U.S.-based suppliers with real experience in battery cell, module, and pack production lines.</a:t>
            </a:r>
          </a:p>
          <a:p>
            <a:pPr>
              <a:lnSpc>
                <a:spcPts val="2395"/>
              </a:lnSpc>
              <a:spcBef>
                <a:spcPct val="0"/>
              </a:spcBef>
            </a:pPr>
            <a:r>
              <a:rPr lang="en-US" altLang="zh-CN" sz="1200" spc="4" dirty="0">
                <a:solidFill>
                  <a:srgbClr val="F4F4F4"/>
                </a:solidFill>
                <a:latin typeface="Montserrat"/>
                <a:ea typeface="Montserrat"/>
                <a:cs typeface="Montserrat"/>
                <a:sym typeface="Montserrat"/>
              </a:rPr>
              <a:t>• Local suppliers are often expensive and slow to deliver, making it difficult for customers to ramp up quickly.</a:t>
            </a:r>
          </a:p>
          <a:p>
            <a:pPr>
              <a:lnSpc>
                <a:spcPts val="2395"/>
              </a:lnSpc>
              <a:spcBef>
                <a:spcPct val="0"/>
              </a:spcBef>
            </a:pPr>
            <a:r>
              <a:rPr lang="en-US" altLang="zh-CN" sz="1200" spc="4" dirty="0">
                <a:solidFill>
                  <a:srgbClr val="F4F4F4"/>
                </a:solidFill>
                <a:latin typeface="Montserrat"/>
                <a:ea typeface="Montserrat"/>
                <a:cs typeface="Montserrat"/>
                <a:sym typeface="Montserrat"/>
              </a:rPr>
              <a:t>• Many overseas equipment makers lack stable local engineering support, increasing implementation and commissioning risk.</a:t>
            </a:r>
          </a:p>
          <a:p>
            <a:pPr>
              <a:lnSpc>
                <a:spcPts val="2395"/>
              </a:lnSpc>
              <a:spcBef>
                <a:spcPct val="0"/>
              </a:spcBef>
            </a:pPr>
            <a:r>
              <a:rPr lang="en-US" altLang="zh-CN" sz="1200" spc="4" dirty="0">
                <a:solidFill>
                  <a:srgbClr val="F4F4F4"/>
                </a:solidFill>
                <a:latin typeface="Montserrat"/>
                <a:ea typeface="Montserrat"/>
                <a:cs typeface="Montserrat"/>
                <a:sym typeface="Montserrat"/>
              </a:rPr>
              <a:t>• Slow after-sales response can affect uptime, maintenance efficiency, and line optimization.</a:t>
            </a:r>
          </a:p>
          <a:p>
            <a:pPr>
              <a:lnSpc>
                <a:spcPts val="2395"/>
              </a:lnSpc>
              <a:spcBef>
                <a:spcPct val="0"/>
              </a:spcBef>
            </a:pPr>
            <a:r>
              <a:rPr lang="en-US" altLang="zh-CN" sz="1200" spc="4" dirty="0">
                <a:solidFill>
                  <a:srgbClr val="F4F4F4"/>
                </a:solidFill>
                <a:latin typeface="Montserrat"/>
                <a:ea typeface="Montserrat"/>
                <a:cs typeface="Montserrat"/>
                <a:sym typeface="Montserrat"/>
              </a:rPr>
              <a:t>• Some equipment is not fully prepared for U.S. safety and compliance requirements such as UL, NFPA, and NEC.</a:t>
            </a:r>
          </a:p>
        </p:txBody>
      </p:sp>
      <p:grpSp>
        <p:nvGrpSpPr>
          <p:cNvPr id="16" name="Group 16"/>
          <p:cNvGrpSpPr/>
          <p:nvPr/>
        </p:nvGrpSpPr>
        <p:grpSpPr>
          <a:xfrm>
            <a:off x="5517168" y="2458199"/>
            <a:ext cx="3268057" cy="533538"/>
            <a:chOff x="0" y="-35082"/>
            <a:chExt cx="1214741" cy="210780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1214741" cy="163155"/>
            </a:xfrm>
            <a:custGeom>
              <a:avLst/>
              <a:gdLst/>
              <a:ahLst/>
              <a:cxnLst/>
              <a:rect l="l" t="t" r="r" b="b"/>
              <a:pathLst>
                <a:path w="1214741" h="163155">
                  <a:moveTo>
                    <a:pt x="81578" y="0"/>
                  </a:moveTo>
                  <a:lnTo>
                    <a:pt x="1133163" y="0"/>
                  </a:lnTo>
                  <a:cubicBezTo>
                    <a:pt x="1178217" y="0"/>
                    <a:pt x="1214741" y="36524"/>
                    <a:pt x="1214741" y="81578"/>
                  </a:cubicBezTo>
                  <a:lnTo>
                    <a:pt x="1214741" y="81578"/>
                  </a:lnTo>
                  <a:cubicBezTo>
                    <a:pt x="1214741" y="103213"/>
                    <a:pt x="1206146" y="123963"/>
                    <a:pt x="1190847" y="139262"/>
                  </a:cubicBezTo>
                  <a:cubicBezTo>
                    <a:pt x="1175549" y="154560"/>
                    <a:pt x="1154799" y="163155"/>
                    <a:pt x="1133163" y="163155"/>
                  </a:cubicBezTo>
                  <a:lnTo>
                    <a:pt x="81578" y="163155"/>
                  </a:lnTo>
                  <a:cubicBezTo>
                    <a:pt x="36524" y="163155"/>
                    <a:pt x="0" y="126632"/>
                    <a:pt x="0" y="81578"/>
                  </a:cubicBezTo>
                  <a:lnTo>
                    <a:pt x="0" y="81578"/>
                  </a:lnTo>
                  <a:cubicBezTo>
                    <a:pt x="0" y="36524"/>
                    <a:pt x="36524" y="0"/>
                    <a:pt x="81578" y="0"/>
                  </a:cubicBezTo>
                  <a:close/>
                </a:path>
              </a:pathLst>
            </a:custGeom>
            <a:ln w="19050" cap="rnd">
              <a:solidFill>
                <a:srgbClr val="095D40"/>
              </a:solidFill>
              <a:prstDash val="solid"/>
              <a:round/>
            </a:ln>
          </p:spPr>
          <p:txBody>
            <a:bodyPr/>
            <a:lstStyle/>
            <a:p>
              <a:endParaRPr lang="en-US" sz="1200"/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0" y="-35082"/>
              <a:ext cx="1214741" cy="21078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361"/>
                </a:lnSpc>
                <a:spcBef>
                  <a:spcPct val="0"/>
                </a:spcBef>
              </a:pPr>
              <a:r>
                <a:rPr lang="en-US" sz="1686" b="1" dirty="0">
                  <a:solidFill>
                    <a:srgbClr val="3B3A3A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EnerTest Value Proposition</a:t>
              </a:r>
            </a:p>
          </p:txBody>
        </p:sp>
      </p:grpSp>
      <p:sp>
        <p:nvSpPr>
          <p:cNvPr id="19" name="TextBox 19"/>
          <p:cNvSpPr txBox="1"/>
          <p:nvPr/>
        </p:nvSpPr>
        <p:spPr>
          <a:xfrm>
            <a:off x="5517168" y="3312030"/>
            <a:ext cx="6289963" cy="334662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2395"/>
              </a:lnSpc>
              <a:spcBef>
                <a:spcPct val="0"/>
              </a:spcBef>
            </a:pPr>
            <a:r>
              <a:rPr lang="en-US" altLang="zh-CN" sz="1200" spc="4" dirty="0">
                <a:solidFill>
                  <a:srgbClr val="3B3A3A"/>
                </a:solidFill>
                <a:latin typeface="Montserrat"/>
                <a:ea typeface="Montserrat"/>
                <a:cs typeface="Montserrat"/>
                <a:sym typeface="Montserrat"/>
              </a:rPr>
              <a:t>• Industry-proven production equipment and technology backed by mature battery manufacturing resources.</a:t>
            </a:r>
          </a:p>
          <a:p>
            <a:pPr>
              <a:lnSpc>
                <a:spcPts val="2395"/>
              </a:lnSpc>
              <a:spcBef>
                <a:spcPct val="0"/>
              </a:spcBef>
            </a:pPr>
            <a:r>
              <a:rPr lang="en-US" altLang="zh-CN" sz="1200" spc="4" dirty="0">
                <a:solidFill>
                  <a:srgbClr val="3B3A3A"/>
                </a:solidFill>
                <a:latin typeface="Montserrat"/>
                <a:ea typeface="Montserrat"/>
                <a:cs typeface="Montserrat"/>
                <a:sym typeface="Montserrat"/>
              </a:rPr>
              <a:t>• Carefully selected suppliers combined with system integration capability to help improve ROI and shorten ramp-up time.</a:t>
            </a:r>
          </a:p>
          <a:p>
            <a:pPr>
              <a:lnSpc>
                <a:spcPts val="2395"/>
              </a:lnSpc>
              <a:spcBef>
                <a:spcPct val="0"/>
              </a:spcBef>
            </a:pPr>
            <a:r>
              <a:rPr lang="en-US" altLang="zh-CN" sz="1200" spc="4" dirty="0">
                <a:solidFill>
                  <a:srgbClr val="3B3A3A"/>
                </a:solidFill>
                <a:latin typeface="Montserrat"/>
                <a:ea typeface="Montserrat"/>
                <a:cs typeface="Montserrat"/>
                <a:sym typeface="Montserrat"/>
              </a:rPr>
              <a:t>• Local U.S. engineering participation from concept design through site implementation.</a:t>
            </a:r>
          </a:p>
          <a:p>
            <a:pPr>
              <a:lnSpc>
                <a:spcPts val="2395"/>
              </a:lnSpc>
              <a:spcBef>
                <a:spcPct val="0"/>
              </a:spcBef>
            </a:pPr>
            <a:r>
              <a:rPr lang="en-US" altLang="zh-CN" sz="1200" spc="4" dirty="0">
                <a:solidFill>
                  <a:srgbClr val="3B3A3A"/>
                </a:solidFill>
                <a:latin typeface="Montserrat"/>
                <a:ea typeface="Montserrat"/>
                <a:cs typeface="Montserrat"/>
                <a:sym typeface="Montserrat"/>
              </a:rPr>
              <a:t>• Fast technical support and after-sales response to keep the line running steadily.</a:t>
            </a:r>
          </a:p>
          <a:p>
            <a:pPr>
              <a:lnSpc>
                <a:spcPts val="2395"/>
              </a:lnSpc>
              <a:spcBef>
                <a:spcPct val="0"/>
              </a:spcBef>
            </a:pPr>
            <a:r>
              <a:rPr lang="en-US" altLang="zh-CN" sz="1200" spc="4" dirty="0">
                <a:solidFill>
                  <a:srgbClr val="3B3A3A"/>
                </a:solidFill>
                <a:latin typeface="Montserrat"/>
                <a:ea typeface="Montserrat"/>
                <a:cs typeface="Montserrat"/>
                <a:sym typeface="Montserrat"/>
              </a:rPr>
              <a:t>• Localization and engineering standardization, including HMI optimization and UL / NFPA-oriented design support.</a:t>
            </a:r>
          </a:p>
          <a:p>
            <a:pPr>
              <a:lnSpc>
                <a:spcPts val="2395"/>
              </a:lnSpc>
              <a:spcBef>
                <a:spcPct val="0"/>
              </a:spcBef>
            </a:pPr>
            <a:r>
              <a:rPr lang="en-US" altLang="zh-CN" sz="1200" spc="4" dirty="0">
                <a:solidFill>
                  <a:srgbClr val="3B3A3A"/>
                </a:solidFill>
                <a:latin typeface="Montserrat"/>
                <a:ea typeface="Montserrat"/>
                <a:cs typeface="Montserrat"/>
                <a:sym typeface="Montserrat"/>
              </a:rPr>
              <a:t>• System-level project management for complex battery production programs, covering procurement, logistics, customs, and DDP delivery.</a:t>
            </a:r>
          </a:p>
        </p:txBody>
      </p:sp>
      <p:pic>
        <p:nvPicPr>
          <p:cNvPr id="29" name="Picture 28">
            <a:extLst>
              <a:ext uri="{FF2B5EF4-FFF2-40B4-BE49-F238E27FC236}">
                <a16:creationId xmlns:a16="http://schemas.microsoft.com/office/drawing/2014/main" id="{48E13FBF-23C4-DCC0-1E73-783FBF84BBD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39816" b="4233"/>
          <a:stretch>
            <a:fillRect/>
          </a:stretch>
        </p:blipFill>
        <p:spPr>
          <a:xfrm>
            <a:off x="-40257" y="-139701"/>
            <a:ext cx="5385294" cy="301303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97322"/>
            <a:ext cx="12192000" cy="1049504"/>
            <a:chOff x="0" y="0"/>
            <a:chExt cx="5119255" cy="826442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5119255" cy="826442"/>
            </a:xfrm>
            <a:custGeom>
              <a:avLst/>
              <a:gdLst/>
              <a:ahLst/>
              <a:cxnLst/>
              <a:rect l="l" t="t" r="r" b="b"/>
              <a:pathLst>
                <a:path w="5119255" h="826442">
                  <a:moveTo>
                    <a:pt x="0" y="0"/>
                  </a:moveTo>
                  <a:lnTo>
                    <a:pt x="5119255" y="0"/>
                  </a:lnTo>
                  <a:lnTo>
                    <a:pt x="5119255" y="826442"/>
                  </a:lnTo>
                  <a:lnTo>
                    <a:pt x="0" y="826442"/>
                  </a:lnTo>
                  <a:close/>
                </a:path>
              </a:pathLst>
            </a:custGeom>
            <a:solidFill>
              <a:srgbClr val="095D40"/>
            </a:solidFill>
          </p:spPr>
          <p:txBody>
            <a:bodyPr/>
            <a:lstStyle/>
            <a:p>
              <a:endParaRPr lang="en-US" sz="1200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5119255" cy="864542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algn="ctr">
                <a:lnSpc>
                  <a:spcPts val="1773"/>
                </a:lnSpc>
              </a:pPr>
              <a:endParaRPr sz="1200"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3238718" y="280677"/>
            <a:ext cx="5854264" cy="6863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712"/>
              </a:lnSpc>
              <a:spcBef>
                <a:spcPct val="0"/>
              </a:spcBef>
            </a:pPr>
            <a:r>
              <a:rPr lang="en-US" altLang="zh-CN" sz="4080" b="1" dirty="0">
                <a:solidFill>
                  <a:srgbClr val="FFFFFF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Core Strengths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857585" y="2513662"/>
            <a:ext cx="3066981" cy="89255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kumimoji="0" lang="en-US" altLang="zh-CN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t>Access to Leading Manufacturing Resources</a:t>
            </a:r>
            <a:endParaRPr kumimoji="0" lang="zh-CN" altLang="en-US" sz="1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  <a:p>
            <a:pPr marR="0" lvl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t>Access to proven battery equipment makers</a:t>
            </a: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t>Coverage from cell to module and pack</a:t>
            </a: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t>Competitive cost and lead time</a:t>
            </a: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t>Support for customization and solution optimization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4438800" y="2505539"/>
            <a:ext cx="2923807" cy="8925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kumimoji="0" lang="en-US" altLang="zh-CN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t>Battery Manufacturing Process Expertise</a:t>
            </a:r>
            <a:endParaRPr kumimoji="0" lang="zh-CN" altLang="en-US" sz="1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t>Understanding of key module and pack processes</a:t>
            </a: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t>Ability to match process flow with equipment selection</a:t>
            </a: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t>Design focused on consistency, takt time, and yield</a:t>
            </a: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t>Problem-solving for real production scenarios</a:t>
            </a:r>
          </a:p>
        </p:txBody>
      </p:sp>
      <p:sp>
        <p:nvSpPr>
          <p:cNvPr id="13" name="TextBox 11">
            <a:extLst>
              <a:ext uri="{FF2B5EF4-FFF2-40B4-BE49-F238E27FC236}">
                <a16:creationId xmlns:a16="http://schemas.microsoft.com/office/drawing/2014/main" id="{FF18E6A5-9B36-6B3D-E7BF-74E7F3E5F8E3}"/>
              </a:ext>
            </a:extLst>
          </p:cNvPr>
          <p:cNvSpPr txBox="1"/>
          <p:nvPr/>
        </p:nvSpPr>
        <p:spPr>
          <a:xfrm>
            <a:off x="2907443" y="5244342"/>
            <a:ext cx="2923807" cy="9694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kumimoji="0" lang="en-US" altLang="zh-CN" sz="105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t>Compliance-Driven Engineering</a:t>
            </a:r>
            <a:endParaRPr kumimoji="0" lang="zh-CN" altLang="en-US" sz="105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zh-CN" sz="10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t>Understanding of UL / NFPA / NEC design expectations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zh-CN" sz="10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t>Localized HMI and electrical standards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zh-CN" sz="10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t>Safer implementation for U.S. projects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zh-CN" sz="10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t>Reduced downstream rework risk</a:t>
            </a:r>
          </a:p>
        </p:txBody>
      </p:sp>
      <p:sp>
        <p:nvSpPr>
          <p:cNvPr id="15" name="TextBox 11">
            <a:extLst>
              <a:ext uri="{FF2B5EF4-FFF2-40B4-BE49-F238E27FC236}">
                <a16:creationId xmlns:a16="http://schemas.microsoft.com/office/drawing/2014/main" id="{433C0120-3396-60E0-FC20-3169A9D9CAAE}"/>
              </a:ext>
            </a:extLst>
          </p:cNvPr>
          <p:cNvSpPr txBox="1"/>
          <p:nvPr/>
        </p:nvSpPr>
        <p:spPr>
          <a:xfrm>
            <a:off x="6253893" y="5265493"/>
            <a:ext cx="2923807" cy="9694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kumimoji="0" lang="en-US" altLang="zh-CN" sz="105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t>Local Execution</a:t>
            </a:r>
            <a:endParaRPr kumimoji="0" lang="zh-CN" altLang="en-US" sz="105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zh-CN" sz="10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t>Local technical sales support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zh-CN" sz="10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t>On-site installation and commissioning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zh-CN" sz="10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t>FAT / SAT coordination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zh-CN" sz="10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t>After-sales response and closed-loop problem solving</a:t>
            </a:r>
          </a:p>
        </p:txBody>
      </p:sp>
      <p:sp>
        <p:nvSpPr>
          <p:cNvPr id="17" name="TextBox 11">
            <a:extLst>
              <a:ext uri="{FF2B5EF4-FFF2-40B4-BE49-F238E27FC236}">
                <a16:creationId xmlns:a16="http://schemas.microsoft.com/office/drawing/2014/main" id="{CA859052-F924-B851-906D-B8703F286B81}"/>
              </a:ext>
            </a:extLst>
          </p:cNvPr>
          <p:cNvSpPr txBox="1"/>
          <p:nvPr/>
        </p:nvSpPr>
        <p:spPr>
          <a:xfrm>
            <a:off x="8244133" y="2642220"/>
            <a:ext cx="2923807" cy="8079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kumimoji="0" lang="en-US" altLang="zh-CN" sz="105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t>Project Management &amp; Delivery</a:t>
            </a:r>
          </a:p>
          <a:p>
            <a:pPr lvl="0">
              <a:buFont typeface="Arial" panose="020B0604020202020204" pitchFamily="34" charset="0"/>
              <a:buChar char="•"/>
              <a:defRPr/>
            </a:pPr>
            <a:r>
              <a:rPr lang="en-US" altLang="zh-CN" sz="1050" dirty="0"/>
              <a:t>Coordination of schedule, quality, and risk</a:t>
            </a:r>
          </a:p>
          <a:p>
            <a:pPr lvl="0">
              <a:buFont typeface="Arial" panose="020B0604020202020204" pitchFamily="34" charset="0"/>
              <a:buChar char="•"/>
              <a:defRPr/>
            </a:pPr>
            <a:r>
              <a:rPr lang="en-US" altLang="zh-CN" sz="1050" dirty="0"/>
              <a:t>Multi-supplier interface management</a:t>
            </a:r>
          </a:p>
          <a:p>
            <a:pPr lvl="0">
              <a:buFont typeface="Arial" panose="020B0604020202020204" pitchFamily="34" charset="0"/>
              <a:buChar char="•"/>
              <a:defRPr/>
            </a:pPr>
            <a:r>
              <a:rPr lang="en-US" altLang="zh-CN" sz="1050" dirty="0"/>
              <a:t>Cross-border procurement, logistics, and customs</a:t>
            </a:r>
          </a:p>
          <a:p>
            <a:pPr lvl="0">
              <a:buFont typeface="Arial" panose="020B0604020202020204" pitchFamily="34" charset="0"/>
              <a:buChar char="•"/>
              <a:defRPr/>
            </a:pPr>
            <a:r>
              <a:rPr lang="en-US" altLang="zh-CN" sz="1050" dirty="0"/>
              <a:t>DDP delivery capability</a:t>
            </a:r>
          </a:p>
        </p:txBody>
      </p:sp>
      <p:sp>
        <p:nvSpPr>
          <p:cNvPr id="23" name="Freeform 55">
            <a:extLst>
              <a:ext uri="{FF2B5EF4-FFF2-40B4-BE49-F238E27FC236}">
                <a16:creationId xmlns:a16="http://schemas.microsoft.com/office/drawing/2014/main" id="{AD282700-35DC-AD39-78F7-0651F116E0D2}"/>
              </a:ext>
            </a:extLst>
          </p:cNvPr>
          <p:cNvSpPr/>
          <p:nvPr/>
        </p:nvSpPr>
        <p:spPr>
          <a:xfrm>
            <a:off x="5140976" y="1506460"/>
            <a:ext cx="885330" cy="883970"/>
          </a:xfrm>
          <a:custGeom>
            <a:avLst/>
            <a:gdLst/>
            <a:ahLst/>
            <a:cxnLst/>
            <a:rect l="l" t="t" r="r" b="b"/>
            <a:pathLst>
              <a:path w="848390" h="848390">
                <a:moveTo>
                  <a:pt x="0" y="0"/>
                </a:moveTo>
                <a:lnTo>
                  <a:pt x="848391" y="0"/>
                </a:lnTo>
                <a:lnTo>
                  <a:pt x="848391" y="848390"/>
                </a:lnTo>
                <a:lnTo>
                  <a:pt x="0" y="84839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5" name="Freeform 16">
            <a:extLst>
              <a:ext uri="{FF2B5EF4-FFF2-40B4-BE49-F238E27FC236}">
                <a16:creationId xmlns:a16="http://schemas.microsoft.com/office/drawing/2014/main" id="{424FEEA1-F45C-93DF-1BA6-38B28EBA748C}"/>
              </a:ext>
            </a:extLst>
          </p:cNvPr>
          <p:cNvSpPr/>
          <p:nvPr/>
        </p:nvSpPr>
        <p:spPr>
          <a:xfrm>
            <a:off x="6940462" y="4246341"/>
            <a:ext cx="838184" cy="868176"/>
          </a:xfrm>
          <a:custGeom>
            <a:avLst/>
            <a:gdLst/>
            <a:ahLst/>
            <a:cxnLst/>
            <a:rect l="l" t="t" r="r" b="b"/>
            <a:pathLst>
              <a:path w="838184" h="868176">
                <a:moveTo>
                  <a:pt x="0" y="0"/>
                </a:moveTo>
                <a:lnTo>
                  <a:pt x="838185" y="0"/>
                </a:lnTo>
                <a:lnTo>
                  <a:pt x="838185" y="868176"/>
                </a:lnTo>
                <a:lnTo>
                  <a:pt x="0" y="86817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6" name="Freeform 54">
            <a:extLst>
              <a:ext uri="{FF2B5EF4-FFF2-40B4-BE49-F238E27FC236}">
                <a16:creationId xmlns:a16="http://schemas.microsoft.com/office/drawing/2014/main" id="{07648FC0-10F9-A40E-95E2-1A1D1E93191C}"/>
              </a:ext>
            </a:extLst>
          </p:cNvPr>
          <p:cNvSpPr/>
          <p:nvPr/>
        </p:nvSpPr>
        <p:spPr>
          <a:xfrm>
            <a:off x="8955642" y="1507753"/>
            <a:ext cx="896097" cy="919503"/>
          </a:xfrm>
          <a:custGeom>
            <a:avLst/>
            <a:gdLst/>
            <a:ahLst/>
            <a:cxnLst/>
            <a:rect l="l" t="t" r="r" b="b"/>
            <a:pathLst>
              <a:path w="896097" h="919503">
                <a:moveTo>
                  <a:pt x="0" y="0"/>
                </a:moveTo>
                <a:lnTo>
                  <a:pt x="896097" y="0"/>
                </a:lnTo>
                <a:lnTo>
                  <a:pt x="896097" y="919503"/>
                </a:lnTo>
                <a:lnTo>
                  <a:pt x="0" y="91950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pic>
        <p:nvPicPr>
          <p:cNvPr id="29" name="Graphic 28" descr="Shield Tick with solid fill">
            <a:extLst>
              <a:ext uri="{FF2B5EF4-FFF2-40B4-BE49-F238E27FC236}">
                <a16:creationId xmlns:a16="http://schemas.microsoft.com/office/drawing/2014/main" id="{4D92A124-580F-DF8F-04C3-999394F1E31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588630" y="4281776"/>
            <a:ext cx="914400" cy="914400"/>
          </a:xfrm>
          <a:prstGeom prst="rect">
            <a:avLst/>
          </a:prstGeom>
        </p:spPr>
      </p:pic>
      <p:pic>
        <p:nvPicPr>
          <p:cNvPr id="31" name="Graphic 30" descr="Blockchain with solid fill">
            <a:extLst>
              <a:ext uri="{FF2B5EF4-FFF2-40B4-BE49-F238E27FC236}">
                <a16:creationId xmlns:a16="http://schemas.microsoft.com/office/drawing/2014/main" id="{F263A0EB-0E65-4B87-40F6-F4A70780959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883146" y="1506460"/>
            <a:ext cx="914400" cy="9144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2192000" cy="6858000"/>
            <a:chOff x="0" y="0"/>
            <a:chExt cx="4816593" cy="270933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816592" cy="2709333"/>
            </a:xfrm>
            <a:custGeom>
              <a:avLst/>
              <a:gdLst/>
              <a:ahLst/>
              <a:cxnLst/>
              <a:rect l="l" t="t" r="r" b="b"/>
              <a:pathLst>
                <a:path w="4816592" h="2709333">
                  <a:moveTo>
                    <a:pt x="0" y="0"/>
                  </a:moveTo>
                  <a:lnTo>
                    <a:pt x="4816592" y="0"/>
                  </a:lnTo>
                  <a:lnTo>
                    <a:pt x="4816592" y="2709333"/>
                  </a:lnTo>
                  <a:lnTo>
                    <a:pt x="0" y="2709333"/>
                  </a:lnTo>
                  <a:close/>
                </a:path>
              </a:pathLst>
            </a:custGeom>
            <a:ln w="438150" cap="sq">
              <a:solidFill>
                <a:srgbClr val="095D40"/>
              </a:solidFill>
              <a:prstDash val="solid"/>
              <a:miter/>
            </a:ln>
          </p:spPr>
          <p:txBody>
            <a:bodyPr/>
            <a:lstStyle/>
            <a:p>
              <a:endParaRPr lang="en-US" sz="1200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4816593" cy="2747433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algn="ctr">
                <a:lnSpc>
                  <a:spcPts val="1614"/>
                </a:lnSpc>
              </a:pPr>
              <a:endParaRPr sz="1200"/>
            </a:p>
          </p:txBody>
        </p:sp>
      </p:grpSp>
      <p:sp>
        <p:nvSpPr>
          <p:cNvPr id="33" name="TextBox 33"/>
          <p:cNvSpPr txBox="1"/>
          <p:nvPr/>
        </p:nvSpPr>
        <p:spPr>
          <a:xfrm>
            <a:off x="320895" y="56594"/>
            <a:ext cx="3619273" cy="5137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4606"/>
              </a:lnSpc>
            </a:pPr>
            <a:r>
              <a:rPr sz="2000" b="1" dirty="0">
                <a:solidFill>
                  <a:srgbClr val="095D40"/>
                </a:solidFill>
                <a:latin typeface="Montaser Arabic Bold"/>
              </a:rPr>
              <a:t>Products &amp; Business Scope</a:t>
            </a:r>
            <a:endParaRPr lang="en-US" sz="2000" b="1" dirty="0">
              <a:solidFill>
                <a:srgbClr val="095D40"/>
              </a:solidFill>
              <a:latin typeface="Montaser Arabic Bold"/>
              <a:ea typeface="Montaser Arabic Bold"/>
              <a:cs typeface="Montaser Arabic Bold"/>
              <a:sym typeface="Montaser Arabic Bold"/>
            </a:endParaRP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E9B130DD-0FD3-691A-33F2-27C20282081D}"/>
              </a:ext>
            </a:extLst>
          </p:cNvPr>
          <p:cNvGrpSpPr/>
          <p:nvPr/>
        </p:nvGrpSpPr>
        <p:grpSpPr>
          <a:xfrm>
            <a:off x="729447" y="583817"/>
            <a:ext cx="10766935" cy="2151097"/>
            <a:chOff x="1279349" y="600820"/>
            <a:chExt cx="10766935" cy="2151097"/>
          </a:xfrm>
        </p:grpSpPr>
        <p:grpSp>
          <p:nvGrpSpPr>
            <p:cNvPr id="52" name="Group 51">
              <a:extLst>
                <a:ext uri="{FF2B5EF4-FFF2-40B4-BE49-F238E27FC236}">
                  <a16:creationId xmlns:a16="http://schemas.microsoft.com/office/drawing/2014/main" id="{92593D20-9569-63B6-9F1A-38C3AF0DB9E7}"/>
                </a:ext>
              </a:extLst>
            </p:cNvPr>
            <p:cNvGrpSpPr/>
            <p:nvPr/>
          </p:nvGrpSpPr>
          <p:grpSpPr>
            <a:xfrm>
              <a:off x="1279349" y="1332243"/>
              <a:ext cx="1784132" cy="747780"/>
              <a:chOff x="1549109" y="4731549"/>
              <a:chExt cx="1784132" cy="747780"/>
            </a:xfrm>
          </p:grpSpPr>
          <p:grpSp>
            <p:nvGrpSpPr>
              <p:cNvPr id="5" name="Group 5"/>
              <p:cNvGrpSpPr/>
              <p:nvPr/>
            </p:nvGrpSpPr>
            <p:grpSpPr>
              <a:xfrm>
                <a:off x="1549109" y="4731549"/>
                <a:ext cx="1784132" cy="696982"/>
                <a:chOff x="0" y="-38101"/>
                <a:chExt cx="704842" cy="1005240"/>
              </a:xfrm>
            </p:grpSpPr>
            <p:sp>
              <p:nvSpPr>
                <p:cNvPr id="6" name="Freeform 6"/>
                <p:cNvSpPr/>
                <p:nvPr/>
              </p:nvSpPr>
              <p:spPr>
                <a:xfrm>
                  <a:off x="0" y="0"/>
                  <a:ext cx="704842" cy="96713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04842" h="967139">
                      <a:moveTo>
                        <a:pt x="0" y="0"/>
                      </a:moveTo>
                      <a:lnTo>
                        <a:pt x="704842" y="0"/>
                      </a:lnTo>
                      <a:lnTo>
                        <a:pt x="704842" y="967139"/>
                      </a:lnTo>
                      <a:lnTo>
                        <a:pt x="0" y="967139"/>
                      </a:lnTo>
                      <a:close/>
                    </a:path>
                  </a:pathLst>
                </a:custGeom>
                <a:solidFill>
                  <a:srgbClr val="095D40"/>
                </a:solidFill>
              </p:spPr>
              <p:txBody>
                <a:bodyPr/>
                <a:lstStyle/>
                <a:p>
                  <a:endParaRPr lang="en-US" sz="1200"/>
                </a:p>
              </p:txBody>
            </p:sp>
            <p:sp>
              <p:nvSpPr>
                <p:cNvPr id="7" name="TextBox 7"/>
                <p:cNvSpPr txBox="1"/>
                <p:nvPr/>
              </p:nvSpPr>
              <p:spPr>
                <a:xfrm>
                  <a:off x="0" y="-38101"/>
                  <a:ext cx="704842" cy="1005239"/>
                </a:xfrm>
                <a:prstGeom prst="rect">
                  <a:avLst/>
                </a:prstGeom>
              </p:spPr>
              <p:txBody>
                <a:bodyPr lIns="33867" tIns="33867" rIns="33867" bIns="33867" rtlCol="0" anchor="ctr"/>
                <a:lstStyle/>
                <a:p>
                  <a:pPr algn="ctr">
                    <a:lnSpc>
                      <a:spcPts val="1614"/>
                    </a:lnSpc>
                  </a:pPr>
                  <a:endParaRPr sz="1200"/>
                </a:p>
              </p:txBody>
            </p:sp>
          </p:grpSp>
          <p:grpSp>
            <p:nvGrpSpPr>
              <p:cNvPr id="9" name="Group 9"/>
              <p:cNvGrpSpPr/>
              <p:nvPr/>
            </p:nvGrpSpPr>
            <p:grpSpPr>
              <a:xfrm>
                <a:off x="1549109" y="5377729"/>
                <a:ext cx="1784132" cy="101600"/>
                <a:chOff x="0" y="0"/>
                <a:chExt cx="704842" cy="40138"/>
              </a:xfrm>
            </p:grpSpPr>
            <p:sp>
              <p:nvSpPr>
                <p:cNvPr id="10" name="Freeform 10"/>
                <p:cNvSpPr/>
                <p:nvPr/>
              </p:nvSpPr>
              <p:spPr>
                <a:xfrm>
                  <a:off x="0" y="0"/>
                  <a:ext cx="704842" cy="4013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04842" h="40138">
                      <a:moveTo>
                        <a:pt x="0" y="0"/>
                      </a:moveTo>
                      <a:lnTo>
                        <a:pt x="704842" y="0"/>
                      </a:lnTo>
                      <a:lnTo>
                        <a:pt x="704842" y="40138"/>
                      </a:lnTo>
                      <a:lnTo>
                        <a:pt x="0" y="40138"/>
                      </a:lnTo>
                      <a:close/>
                    </a:path>
                  </a:pathLst>
                </a:custGeom>
                <a:solidFill>
                  <a:srgbClr val="B0F54A"/>
                </a:solidFill>
              </p:spPr>
              <p:txBody>
                <a:bodyPr/>
                <a:lstStyle/>
                <a:p>
                  <a:endParaRPr lang="en-US" sz="1200"/>
                </a:p>
              </p:txBody>
            </p:sp>
            <p:sp>
              <p:nvSpPr>
                <p:cNvPr id="11" name="TextBox 11"/>
                <p:cNvSpPr txBox="1"/>
                <p:nvPr/>
              </p:nvSpPr>
              <p:spPr>
                <a:xfrm>
                  <a:off x="0" y="-38100"/>
                  <a:ext cx="704842" cy="78238"/>
                </a:xfrm>
                <a:prstGeom prst="rect">
                  <a:avLst/>
                </a:prstGeom>
              </p:spPr>
              <p:txBody>
                <a:bodyPr lIns="33867" tIns="33867" rIns="33867" bIns="33867" rtlCol="0" anchor="ctr"/>
                <a:lstStyle/>
                <a:p>
                  <a:pPr algn="ctr">
                    <a:lnSpc>
                      <a:spcPts val="1614"/>
                    </a:lnSpc>
                  </a:pPr>
                  <a:endParaRPr sz="1200"/>
                </a:p>
              </p:txBody>
            </p:sp>
          </p:grpSp>
          <p:sp>
            <p:nvSpPr>
              <p:cNvPr id="35" name="TextBox 35"/>
              <p:cNvSpPr txBox="1"/>
              <p:nvPr/>
            </p:nvSpPr>
            <p:spPr>
              <a:xfrm>
                <a:off x="1637205" y="4836972"/>
                <a:ext cx="1526175" cy="226729"/>
              </a:xfrm>
              <a:prstGeom prst="rect">
                <a:avLst/>
              </a:prstGeom>
            </p:spPr>
            <p:txBody>
              <a:bodyPr lIns="0" tIns="0" rIns="0" bIns="0" rtlCol="0" anchor="t">
                <a:spAutoFit/>
              </a:bodyPr>
              <a:lstStyle/>
              <a:p>
                <a:pPr algn="ctr">
                  <a:lnSpc>
                    <a:spcPts val="1943"/>
                  </a:lnSpc>
                </a:pPr>
                <a:r>
                  <a:rPr sz="1249" b="1" dirty="0">
                    <a:solidFill>
                      <a:srgbClr val="F4F4F4"/>
                    </a:solidFill>
                    <a:latin typeface="Montserrat Bold"/>
                  </a:rPr>
                  <a:t>Test System</a:t>
                </a:r>
              </a:p>
              <a:p>
                <a:pPr algn="ctr">
                  <a:lnSpc>
                    <a:spcPts val="1943"/>
                  </a:lnSpc>
                </a:pPr>
                <a:r>
                  <a:rPr sz="1249" b="1" dirty="0">
                    <a:solidFill>
                      <a:srgbClr val="F4F4F4"/>
                    </a:solidFill>
                    <a:latin typeface="Montserrat Bold"/>
                  </a:rPr>
                  <a:t>Solutions</a:t>
                </a:r>
              </a:p>
            </p:txBody>
          </p:sp>
          <p:sp>
            <p:nvSpPr>
              <p:cNvPr id="36" name="TextBox 36"/>
              <p:cNvSpPr txBox="1"/>
              <p:nvPr/>
            </p:nvSpPr>
            <p:spPr>
              <a:xfrm>
                <a:off x="1637205" y="5085913"/>
                <a:ext cx="1526175" cy="180690"/>
              </a:xfrm>
              <a:prstGeom prst="rect">
                <a:avLst/>
              </a:prstGeom>
            </p:spPr>
            <p:txBody>
              <a:bodyPr lIns="0" tIns="0" rIns="0" bIns="0" rtlCol="0" anchor="t">
                <a:spAutoFit/>
              </a:bodyPr>
              <a:lstStyle/>
              <a:p>
                <a:pPr algn="ctr">
                  <a:lnSpc>
                    <a:spcPts val="1570"/>
                  </a:lnSpc>
                </a:pPr>
                <a:endParaRPr/>
              </a:p>
            </p:txBody>
          </p:sp>
        </p:grpSp>
        <p:sp>
          <p:nvSpPr>
            <p:cNvPr id="45" name="Left Brace 44">
              <a:extLst>
                <a:ext uri="{FF2B5EF4-FFF2-40B4-BE49-F238E27FC236}">
                  <a16:creationId xmlns:a16="http://schemas.microsoft.com/office/drawing/2014/main" id="{315757D9-D0DF-FE4E-02F1-21988A7F902F}"/>
                </a:ext>
              </a:extLst>
            </p:cNvPr>
            <p:cNvSpPr/>
            <p:nvPr/>
          </p:nvSpPr>
          <p:spPr>
            <a:xfrm>
              <a:off x="3338392" y="739320"/>
              <a:ext cx="343948" cy="1971953"/>
            </a:xfrm>
            <a:prstGeom prst="leftBrace">
              <a:avLst/>
            </a:prstGeom>
            <a:ln>
              <a:solidFill>
                <a:srgbClr val="0066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6" name="TextBox 45">
              <a:extLst>
                <a:ext uri="{FF2B5EF4-FFF2-40B4-BE49-F238E27FC236}">
                  <a16:creationId xmlns:a16="http://schemas.microsoft.com/office/drawing/2014/main" id="{D2A27BF9-A545-5EC8-F05B-8558509C2FE8}"/>
                </a:ext>
              </a:extLst>
            </p:cNvPr>
            <p:cNvSpPr txBox="1"/>
            <p:nvPr/>
          </p:nvSpPr>
          <p:spPr>
            <a:xfrm>
              <a:off x="3737986" y="600820"/>
              <a:ext cx="1566600" cy="2677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sz="1140" dirty="0"/>
                <a:t>Raw Material</a:t>
              </a:r>
              <a:r>
                <a:rPr lang="en-US" sz="1140" dirty="0"/>
                <a:t> </a:t>
              </a:r>
              <a:r>
                <a:rPr sz="1140" dirty="0"/>
                <a:t>Testing</a:t>
              </a:r>
            </a:p>
          </p:txBody>
        </p:sp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18821777-5F90-D304-9F0E-34267493C2D1}"/>
                </a:ext>
              </a:extLst>
            </p:cNvPr>
            <p:cNvSpPr txBox="1"/>
            <p:nvPr/>
          </p:nvSpPr>
          <p:spPr>
            <a:xfrm>
              <a:off x="3856274" y="1829879"/>
              <a:ext cx="1700850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sz="1200" dirty="0"/>
                <a:t>Finished Product Testing</a:t>
              </a:r>
              <a:endParaRPr lang="en-US" sz="1200" dirty="0"/>
            </a:p>
            <a:p>
              <a:r>
                <a:rPr sz="1200" dirty="0"/>
                <a:t>(Cell / System Level)</a:t>
              </a:r>
            </a:p>
          </p:txBody>
        </p:sp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id="{2E5FC323-D78E-A608-408F-1B4F045E6ECD}"/>
                </a:ext>
              </a:extLst>
            </p:cNvPr>
            <p:cNvSpPr txBox="1"/>
            <p:nvPr/>
          </p:nvSpPr>
          <p:spPr>
            <a:xfrm>
              <a:off x="6345844" y="1305367"/>
              <a:ext cx="2273379" cy="144655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sz="1100" dirty="0"/>
                <a:t>Cell / Module / Pack Cyclers</a:t>
              </a: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sz="1100" dirty="0"/>
                <a:t>Explosion-Proof Temp Chambers</a:t>
              </a: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sz="1100" dirty="0"/>
                <a:t>Liquid Cooling Systems / Chillers</a:t>
              </a: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sz="1100" dirty="0"/>
                <a:t>Pressure Fixtures &amp; DAQ Systems</a:t>
              </a: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sz="1100" dirty="0"/>
                <a:t>Cell Charge / Discharge Fixtures</a:t>
              </a: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sz="1100" dirty="0"/>
                <a:t>CAN Test &amp; Data Logging Systems</a:t>
              </a: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sz="1100" dirty="0"/>
                <a:t>NGI Cell Simulators</a:t>
              </a: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sz="1100" dirty="0"/>
                <a:t>HIL Test Platforms</a:t>
              </a:r>
            </a:p>
          </p:txBody>
        </p:sp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B377D2C0-C1AC-A193-4BBD-E0EE82905D4A}"/>
                </a:ext>
              </a:extLst>
            </p:cNvPr>
            <p:cNvSpPr txBox="1"/>
            <p:nvPr/>
          </p:nvSpPr>
          <p:spPr>
            <a:xfrm>
              <a:off x="5304589" y="663358"/>
              <a:ext cx="6741695" cy="3877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sz="960" dirty="0"/>
                <a:t>Powder Resistivity &amp; Compaction Density Systems</a:t>
              </a:r>
              <a:r>
                <a:rPr lang="en-US" sz="960" dirty="0"/>
                <a:t>, </a:t>
              </a:r>
              <a:r>
                <a:rPr sz="960" dirty="0"/>
                <a:t>Flatness Inspection Systems</a:t>
              </a:r>
              <a:r>
                <a:rPr lang="en-US" sz="960" dirty="0"/>
                <a:t>, </a:t>
              </a:r>
              <a:r>
                <a:rPr sz="960" dirty="0"/>
                <a:t>Particle Magnetic Bed Equipment</a:t>
              </a:r>
            </a:p>
            <a:p>
              <a:r>
                <a:rPr lang="en-US" sz="960" dirty="0"/>
                <a:t>Casing</a:t>
              </a:r>
              <a:r>
                <a:rPr sz="960" dirty="0"/>
                <a:t> Pressure Test Equipment</a:t>
              </a:r>
            </a:p>
          </p:txBody>
        </p:sp>
        <p:sp>
          <p:nvSpPr>
            <p:cNvPr id="50" name="Left Brace 49">
              <a:extLst>
                <a:ext uri="{FF2B5EF4-FFF2-40B4-BE49-F238E27FC236}">
                  <a16:creationId xmlns:a16="http://schemas.microsoft.com/office/drawing/2014/main" id="{1E83E183-54BD-F193-5F5B-59497CC15EEA}"/>
                </a:ext>
              </a:extLst>
            </p:cNvPr>
            <p:cNvSpPr/>
            <p:nvPr/>
          </p:nvSpPr>
          <p:spPr>
            <a:xfrm>
              <a:off x="5894238" y="1364390"/>
              <a:ext cx="343948" cy="1300294"/>
            </a:xfrm>
            <a:prstGeom prst="leftBrace">
              <a:avLst/>
            </a:prstGeom>
            <a:ln>
              <a:solidFill>
                <a:srgbClr val="0066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4D46F3BD-8982-DD54-0EEB-D988F9A65DA7}"/>
              </a:ext>
            </a:extLst>
          </p:cNvPr>
          <p:cNvGrpSpPr/>
          <p:nvPr/>
        </p:nvGrpSpPr>
        <p:grpSpPr>
          <a:xfrm>
            <a:off x="717220" y="2893747"/>
            <a:ext cx="3951162" cy="1554680"/>
            <a:chOff x="1279349" y="2949780"/>
            <a:chExt cx="3951162" cy="1554680"/>
          </a:xfrm>
        </p:grpSpPr>
        <p:sp>
          <p:nvSpPr>
            <p:cNvPr id="56" name="Left Brace 55">
              <a:extLst>
                <a:ext uri="{FF2B5EF4-FFF2-40B4-BE49-F238E27FC236}">
                  <a16:creationId xmlns:a16="http://schemas.microsoft.com/office/drawing/2014/main" id="{185A1228-9C71-4534-7030-AED50753C80F}"/>
                </a:ext>
              </a:extLst>
            </p:cNvPr>
            <p:cNvSpPr/>
            <p:nvPr/>
          </p:nvSpPr>
          <p:spPr>
            <a:xfrm>
              <a:off x="3325187" y="3065667"/>
              <a:ext cx="343948" cy="1300294"/>
            </a:xfrm>
            <a:prstGeom prst="leftBrace">
              <a:avLst/>
            </a:prstGeom>
            <a:ln>
              <a:solidFill>
                <a:srgbClr val="0066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7" name="TextBox 56">
              <a:extLst>
                <a:ext uri="{FF2B5EF4-FFF2-40B4-BE49-F238E27FC236}">
                  <a16:creationId xmlns:a16="http://schemas.microsoft.com/office/drawing/2014/main" id="{CB41DA73-E32B-20F5-F638-88E52D2F1F22}"/>
                </a:ext>
              </a:extLst>
            </p:cNvPr>
            <p:cNvSpPr txBox="1"/>
            <p:nvPr/>
          </p:nvSpPr>
          <p:spPr>
            <a:xfrm>
              <a:off x="3736247" y="2949780"/>
              <a:ext cx="149426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sz="1200" dirty="0"/>
                <a:t>Cell Mfg.</a:t>
              </a:r>
              <a:r>
                <a:rPr lang="en-US" sz="1200" dirty="0"/>
                <a:t> </a:t>
              </a:r>
              <a:r>
                <a:rPr sz="1200" dirty="0"/>
                <a:t>Lines</a:t>
              </a:r>
            </a:p>
          </p:txBody>
        </p:sp>
        <p:sp>
          <p:nvSpPr>
            <p:cNvPr id="58" name="TextBox 57">
              <a:extLst>
                <a:ext uri="{FF2B5EF4-FFF2-40B4-BE49-F238E27FC236}">
                  <a16:creationId xmlns:a16="http://schemas.microsoft.com/office/drawing/2014/main" id="{204264CA-06F4-0F38-3CBE-68388E6A6B2B}"/>
                </a:ext>
              </a:extLst>
            </p:cNvPr>
            <p:cNvSpPr txBox="1"/>
            <p:nvPr/>
          </p:nvSpPr>
          <p:spPr>
            <a:xfrm>
              <a:off x="3736247" y="3542678"/>
              <a:ext cx="973865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sz="1200" dirty="0"/>
                <a:t>Sorting</a:t>
              </a:r>
              <a:endParaRPr lang="en-US" sz="1200" dirty="0"/>
            </a:p>
          </p:txBody>
        </p:sp>
        <p:sp>
          <p:nvSpPr>
            <p:cNvPr id="59" name="TextBox 58">
              <a:extLst>
                <a:ext uri="{FF2B5EF4-FFF2-40B4-BE49-F238E27FC236}">
                  <a16:creationId xmlns:a16="http://schemas.microsoft.com/office/drawing/2014/main" id="{A61513BF-CA20-3791-746E-A5A8F62F0905}"/>
                </a:ext>
              </a:extLst>
            </p:cNvPr>
            <p:cNvSpPr txBox="1"/>
            <p:nvPr/>
          </p:nvSpPr>
          <p:spPr>
            <a:xfrm>
              <a:off x="3736248" y="4227461"/>
              <a:ext cx="149426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sz="1200" dirty="0"/>
                <a:t>Module /</a:t>
              </a:r>
              <a:r>
                <a:rPr lang="en-US" sz="1200" dirty="0"/>
                <a:t> </a:t>
              </a:r>
              <a:r>
                <a:rPr sz="1200" dirty="0"/>
                <a:t>Pack Lines</a:t>
              </a:r>
            </a:p>
          </p:txBody>
        </p:sp>
        <p:grpSp>
          <p:nvGrpSpPr>
            <p:cNvPr id="60" name="Group 59">
              <a:extLst>
                <a:ext uri="{FF2B5EF4-FFF2-40B4-BE49-F238E27FC236}">
                  <a16:creationId xmlns:a16="http://schemas.microsoft.com/office/drawing/2014/main" id="{3A2789DF-E6E3-E96E-775A-5A3FDD2E70C5}"/>
                </a:ext>
              </a:extLst>
            </p:cNvPr>
            <p:cNvGrpSpPr/>
            <p:nvPr/>
          </p:nvGrpSpPr>
          <p:grpSpPr>
            <a:xfrm>
              <a:off x="1279349" y="3273932"/>
              <a:ext cx="1784132" cy="747780"/>
              <a:chOff x="1549109" y="4731549"/>
              <a:chExt cx="1784132" cy="747780"/>
            </a:xfrm>
          </p:grpSpPr>
          <p:grpSp>
            <p:nvGrpSpPr>
              <p:cNvPr id="61" name="Group 5">
                <a:extLst>
                  <a:ext uri="{FF2B5EF4-FFF2-40B4-BE49-F238E27FC236}">
                    <a16:creationId xmlns:a16="http://schemas.microsoft.com/office/drawing/2014/main" id="{3FBAE8E2-75F4-F74F-90F9-24A6321F6C1F}"/>
                  </a:ext>
                </a:extLst>
              </p:cNvPr>
              <p:cNvGrpSpPr/>
              <p:nvPr/>
            </p:nvGrpSpPr>
            <p:grpSpPr>
              <a:xfrm>
                <a:off x="1549109" y="4731549"/>
                <a:ext cx="1784132" cy="696981"/>
                <a:chOff x="0" y="-38101"/>
                <a:chExt cx="704842" cy="1005239"/>
              </a:xfrm>
            </p:grpSpPr>
            <p:sp>
              <p:nvSpPr>
                <p:cNvPr id="67" name="Freeform 6">
                  <a:extLst>
                    <a:ext uri="{FF2B5EF4-FFF2-40B4-BE49-F238E27FC236}">
                      <a16:creationId xmlns:a16="http://schemas.microsoft.com/office/drawing/2014/main" id="{99FAB818-5DAA-AAE7-F363-CB92ECF7EB10}"/>
                    </a:ext>
                  </a:extLst>
                </p:cNvPr>
                <p:cNvSpPr/>
                <p:nvPr/>
              </p:nvSpPr>
              <p:spPr>
                <a:xfrm>
                  <a:off x="0" y="0"/>
                  <a:ext cx="704842" cy="96713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04842" h="967139">
                      <a:moveTo>
                        <a:pt x="0" y="0"/>
                      </a:moveTo>
                      <a:lnTo>
                        <a:pt x="704842" y="0"/>
                      </a:lnTo>
                      <a:lnTo>
                        <a:pt x="704842" y="967139"/>
                      </a:lnTo>
                      <a:lnTo>
                        <a:pt x="0" y="967139"/>
                      </a:lnTo>
                      <a:close/>
                    </a:path>
                  </a:pathLst>
                </a:custGeom>
                <a:solidFill>
                  <a:srgbClr val="095D40"/>
                </a:solidFill>
              </p:spPr>
              <p:txBody>
                <a:bodyPr/>
                <a:lstStyle/>
                <a:p>
                  <a:endParaRPr lang="en-US" sz="1200"/>
                </a:p>
              </p:txBody>
            </p:sp>
            <p:sp>
              <p:nvSpPr>
                <p:cNvPr id="68" name="TextBox 7">
                  <a:extLst>
                    <a:ext uri="{FF2B5EF4-FFF2-40B4-BE49-F238E27FC236}">
                      <a16:creationId xmlns:a16="http://schemas.microsoft.com/office/drawing/2014/main" id="{964B78ED-BA16-1777-5E56-40E799C52A94}"/>
                    </a:ext>
                  </a:extLst>
                </p:cNvPr>
                <p:cNvSpPr txBox="1"/>
                <p:nvPr/>
              </p:nvSpPr>
              <p:spPr>
                <a:xfrm>
                  <a:off x="0" y="-38101"/>
                  <a:ext cx="704842" cy="1005239"/>
                </a:xfrm>
                <a:prstGeom prst="rect">
                  <a:avLst/>
                </a:prstGeom>
              </p:spPr>
              <p:txBody>
                <a:bodyPr lIns="33867" tIns="33867" rIns="33867" bIns="33867" rtlCol="0" anchor="ctr"/>
                <a:lstStyle/>
                <a:p>
                  <a:pPr algn="ctr">
                    <a:lnSpc>
                      <a:spcPts val="1614"/>
                    </a:lnSpc>
                  </a:pPr>
                  <a:endParaRPr sz="1200"/>
                </a:p>
              </p:txBody>
            </p:sp>
          </p:grpSp>
          <p:grpSp>
            <p:nvGrpSpPr>
              <p:cNvPr id="62" name="Group 9">
                <a:extLst>
                  <a:ext uri="{FF2B5EF4-FFF2-40B4-BE49-F238E27FC236}">
                    <a16:creationId xmlns:a16="http://schemas.microsoft.com/office/drawing/2014/main" id="{ED135611-113F-0874-CC22-9BFC02F37AE9}"/>
                  </a:ext>
                </a:extLst>
              </p:cNvPr>
              <p:cNvGrpSpPr/>
              <p:nvPr/>
            </p:nvGrpSpPr>
            <p:grpSpPr>
              <a:xfrm>
                <a:off x="1549109" y="5377729"/>
                <a:ext cx="1784132" cy="101600"/>
                <a:chOff x="0" y="0"/>
                <a:chExt cx="704842" cy="40138"/>
              </a:xfrm>
            </p:grpSpPr>
            <p:sp>
              <p:nvSpPr>
                <p:cNvPr id="65" name="Freeform 10">
                  <a:extLst>
                    <a:ext uri="{FF2B5EF4-FFF2-40B4-BE49-F238E27FC236}">
                      <a16:creationId xmlns:a16="http://schemas.microsoft.com/office/drawing/2014/main" id="{40018886-A7AE-7163-3F13-C226F6BC4E4F}"/>
                    </a:ext>
                  </a:extLst>
                </p:cNvPr>
                <p:cNvSpPr/>
                <p:nvPr/>
              </p:nvSpPr>
              <p:spPr>
                <a:xfrm>
                  <a:off x="0" y="0"/>
                  <a:ext cx="704842" cy="4013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04842" h="40138">
                      <a:moveTo>
                        <a:pt x="0" y="0"/>
                      </a:moveTo>
                      <a:lnTo>
                        <a:pt x="704842" y="0"/>
                      </a:lnTo>
                      <a:lnTo>
                        <a:pt x="704842" y="40138"/>
                      </a:lnTo>
                      <a:lnTo>
                        <a:pt x="0" y="40138"/>
                      </a:lnTo>
                      <a:close/>
                    </a:path>
                  </a:pathLst>
                </a:custGeom>
                <a:solidFill>
                  <a:srgbClr val="B0F54A"/>
                </a:solidFill>
              </p:spPr>
              <p:txBody>
                <a:bodyPr/>
                <a:lstStyle/>
                <a:p>
                  <a:endParaRPr lang="en-US" sz="1200"/>
                </a:p>
              </p:txBody>
            </p:sp>
            <p:sp>
              <p:nvSpPr>
                <p:cNvPr id="66" name="TextBox 11">
                  <a:extLst>
                    <a:ext uri="{FF2B5EF4-FFF2-40B4-BE49-F238E27FC236}">
                      <a16:creationId xmlns:a16="http://schemas.microsoft.com/office/drawing/2014/main" id="{4C527113-B47B-F063-40BB-31725120DF7D}"/>
                    </a:ext>
                  </a:extLst>
                </p:cNvPr>
                <p:cNvSpPr txBox="1"/>
                <p:nvPr/>
              </p:nvSpPr>
              <p:spPr>
                <a:xfrm>
                  <a:off x="0" y="-38100"/>
                  <a:ext cx="704842" cy="78238"/>
                </a:xfrm>
                <a:prstGeom prst="rect">
                  <a:avLst/>
                </a:prstGeom>
              </p:spPr>
              <p:txBody>
                <a:bodyPr lIns="33867" tIns="33867" rIns="33867" bIns="33867" rtlCol="0" anchor="ctr"/>
                <a:lstStyle/>
                <a:p>
                  <a:pPr algn="ctr">
                    <a:lnSpc>
                      <a:spcPts val="1614"/>
                    </a:lnSpc>
                  </a:pPr>
                  <a:endParaRPr sz="1200"/>
                </a:p>
              </p:txBody>
            </p:sp>
          </p:grpSp>
          <p:sp>
            <p:nvSpPr>
              <p:cNvPr id="63" name="TextBox 35">
                <a:extLst>
                  <a:ext uri="{FF2B5EF4-FFF2-40B4-BE49-F238E27FC236}">
                    <a16:creationId xmlns:a16="http://schemas.microsoft.com/office/drawing/2014/main" id="{FDBFEA09-56CD-161D-0AFF-88BD52CCBB5C}"/>
                  </a:ext>
                </a:extLst>
              </p:cNvPr>
              <p:cNvSpPr txBox="1"/>
              <p:nvPr/>
            </p:nvSpPr>
            <p:spPr>
              <a:xfrm>
                <a:off x="1637500" y="4850700"/>
                <a:ext cx="1526175" cy="226729"/>
              </a:xfrm>
              <a:prstGeom prst="rect">
                <a:avLst/>
              </a:prstGeom>
            </p:spPr>
            <p:txBody>
              <a:bodyPr lIns="0" tIns="0" rIns="0" bIns="0" rtlCol="0" anchor="t">
                <a:spAutoFit/>
              </a:bodyPr>
              <a:lstStyle/>
              <a:p>
                <a:pPr algn="ctr">
                  <a:lnSpc>
                    <a:spcPts val="1943"/>
                  </a:lnSpc>
                </a:pPr>
                <a:r>
                  <a:rPr sz="1221" b="1" dirty="0">
                    <a:solidFill>
                      <a:srgbClr val="F4F4F4"/>
                    </a:solidFill>
                    <a:latin typeface="Montserrat Bold"/>
                  </a:rPr>
                  <a:t>Production &amp;</a:t>
                </a:r>
              </a:p>
              <a:p>
                <a:pPr algn="ctr">
                  <a:lnSpc>
                    <a:spcPts val="1943"/>
                  </a:lnSpc>
                </a:pPr>
                <a:r>
                  <a:rPr sz="1221" b="1" dirty="0">
                    <a:solidFill>
                      <a:srgbClr val="F4F4F4"/>
                    </a:solidFill>
                    <a:latin typeface="Montserrat Bold"/>
                  </a:rPr>
                  <a:t>Automation</a:t>
                </a:r>
              </a:p>
            </p:txBody>
          </p:sp>
        </p:grpSp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9E2047D7-4F6A-6C7B-BCFD-5807776FEF21}"/>
              </a:ext>
            </a:extLst>
          </p:cNvPr>
          <p:cNvGrpSpPr/>
          <p:nvPr/>
        </p:nvGrpSpPr>
        <p:grpSpPr>
          <a:xfrm>
            <a:off x="729447" y="4757034"/>
            <a:ext cx="5192554" cy="1495581"/>
            <a:chOff x="1318991" y="4797288"/>
            <a:chExt cx="5192554" cy="1495581"/>
          </a:xfrm>
        </p:grpSpPr>
        <p:grpSp>
          <p:nvGrpSpPr>
            <p:cNvPr id="87" name="Group 86">
              <a:extLst>
                <a:ext uri="{FF2B5EF4-FFF2-40B4-BE49-F238E27FC236}">
                  <a16:creationId xmlns:a16="http://schemas.microsoft.com/office/drawing/2014/main" id="{2C9E8620-17E2-C0ED-3239-A6CFA3D1F68B}"/>
                </a:ext>
              </a:extLst>
            </p:cNvPr>
            <p:cNvGrpSpPr/>
            <p:nvPr/>
          </p:nvGrpSpPr>
          <p:grpSpPr>
            <a:xfrm>
              <a:off x="3284500" y="4797288"/>
              <a:ext cx="3227045" cy="1495581"/>
              <a:chOff x="3284500" y="4679605"/>
              <a:chExt cx="3227045" cy="1495581"/>
            </a:xfrm>
          </p:grpSpPr>
          <p:sp>
            <p:nvSpPr>
              <p:cNvPr id="71" name="Left Brace 70">
                <a:extLst>
                  <a:ext uri="{FF2B5EF4-FFF2-40B4-BE49-F238E27FC236}">
                    <a16:creationId xmlns:a16="http://schemas.microsoft.com/office/drawing/2014/main" id="{798148E1-4226-EE03-9CC0-B1299F06EBED}"/>
                  </a:ext>
                </a:extLst>
              </p:cNvPr>
              <p:cNvSpPr/>
              <p:nvPr/>
            </p:nvSpPr>
            <p:spPr>
              <a:xfrm>
                <a:off x="3284500" y="4840661"/>
                <a:ext cx="343948" cy="1229442"/>
              </a:xfrm>
              <a:prstGeom prst="leftBrace">
                <a:avLst/>
              </a:prstGeom>
              <a:ln>
                <a:solidFill>
                  <a:srgbClr val="00660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2" name="TextBox 71">
                <a:extLst>
                  <a:ext uri="{FF2B5EF4-FFF2-40B4-BE49-F238E27FC236}">
                    <a16:creationId xmlns:a16="http://schemas.microsoft.com/office/drawing/2014/main" id="{86342406-943C-162F-A0AF-E5A8600A9863}"/>
                  </a:ext>
                </a:extLst>
              </p:cNvPr>
              <p:cNvSpPr txBox="1"/>
              <p:nvPr/>
            </p:nvSpPr>
            <p:spPr>
              <a:xfrm>
                <a:off x="3719332" y="4679605"/>
                <a:ext cx="2305231" cy="2616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sz="1100" dirty="0"/>
                  <a:t>System Eng.</a:t>
                </a:r>
                <a:r>
                  <a:rPr lang="en-US" sz="1100" dirty="0"/>
                  <a:t> </a:t>
                </a:r>
                <a:r>
                  <a:rPr sz="1100" dirty="0"/>
                  <a:t>&amp; Integration</a:t>
                </a:r>
              </a:p>
            </p:txBody>
          </p:sp>
          <p:sp>
            <p:nvSpPr>
              <p:cNvPr id="73" name="TextBox 72">
                <a:extLst>
                  <a:ext uri="{FF2B5EF4-FFF2-40B4-BE49-F238E27FC236}">
                    <a16:creationId xmlns:a16="http://schemas.microsoft.com/office/drawing/2014/main" id="{1E20D2B8-56AB-7347-714A-33326CE1CE5C}"/>
                  </a:ext>
                </a:extLst>
              </p:cNvPr>
              <p:cNvSpPr txBox="1"/>
              <p:nvPr/>
            </p:nvSpPr>
            <p:spPr>
              <a:xfrm>
                <a:off x="3719332" y="5304307"/>
                <a:ext cx="2271776" cy="2616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sz="1100" dirty="0"/>
                  <a:t>Automation / Utility SW</a:t>
                </a:r>
                <a:r>
                  <a:rPr lang="en-US" sz="1100" dirty="0"/>
                  <a:t> </a:t>
                </a:r>
                <a:r>
                  <a:rPr sz="1100" dirty="0"/>
                  <a:t>&amp; Test Logic</a:t>
                </a:r>
              </a:p>
            </p:txBody>
          </p:sp>
          <p:sp>
            <p:nvSpPr>
              <p:cNvPr id="74" name="TextBox 73">
                <a:extLst>
                  <a:ext uri="{FF2B5EF4-FFF2-40B4-BE49-F238E27FC236}">
                    <a16:creationId xmlns:a16="http://schemas.microsoft.com/office/drawing/2014/main" id="{B407F4F5-87DC-7F8D-1FD6-399332E883FE}"/>
                  </a:ext>
                </a:extLst>
              </p:cNvPr>
              <p:cNvSpPr txBox="1"/>
              <p:nvPr/>
            </p:nvSpPr>
            <p:spPr>
              <a:xfrm>
                <a:off x="3736247" y="5648887"/>
                <a:ext cx="2376668" cy="2616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sz="1100" dirty="0"/>
                  <a:t>Custom Test Tools</a:t>
                </a:r>
                <a:r>
                  <a:rPr lang="en-US" sz="1100" dirty="0"/>
                  <a:t> </a:t>
                </a:r>
                <a:r>
                  <a:rPr sz="1100" dirty="0"/>
                  <a:t>&amp; Fixtures</a:t>
                </a:r>
              </a:p>
            </p:txBody>
          </p:sp>
          <p:sp>
            <p:nvSpPr>
              <p:cNvPr id="75" name="TextBox 74">
                <a:extLst>
                  <a:ext uri="{FF2B5EF4-FFF2-40B4-BE49-F238E27FC236}">
                    <a16:creationId xmlns:a16="http://schemas.microsoft.com/office/drawing/2014/main" id="{1E3085E0-8714-1F7F-E21B-EBB2482674AA}"/>
                  </a:ext>
                </a:extLst>
              </p:cNvPr>
              <p:cNvSpPr txBox="1"/>
              <p:nvPr/>
            </p:nvSpPr>
            <p:spPr>
              <a:xfrm>
                <a:off x="3725707" y="4991956"/>
                <a:ext cx="1968809" cy="2616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sz="1100" dirty="0"/>
                  <a:t>On-Site / Remote</a:t>
                </a:r>
                <a:r>
                  <a:rPr lang="en-US" sz="1100" dirty="0"/>
                  <a:t> </a:t>
                </a:r>
                <a:r>
                  <a:rPr sz="1100" dirty="0"/>
                  <a:t>Tech Support</a:t>
                </a:r>
              </a:p>
            </p:txBody>
          </p:sp>
          <p:sp>
            <p:nvSpPr>
              <p:cNvPr id="76" name="TextBox 75">
                <a:extLst>
                  <a:ext uri="{FF2B5EF4-FFF2-40B4-BE49-F238E27FC236}">
                    <a16:creationId xmlns:a16="http://schemas.microsoft.com/office/drawing/2014/main" id="{44B3D352-7780-B145-1BA6-9AE16970D574}"/>
                  </a:ext>
                </a:extLst>
              </p:cNvPr>
              <p:cNvSpPr txBox="1"/>
              <p:nvPr/>
            </p:nvSpPr>
            <p:spPr>
              <a:xfrm>
                <a:off x="3736244" y="5913576"/>
                <a:ext cx="2775301" cy="2616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sz="1100" dirty="0"/>
                  <a:t>Localization &amp;</a:t>
                </a:r>
                <a:r>
                  <a:rPr lang="en-US" sz="1100" dirty="0"/>
                  <a:t> C</a:t>
                </a:r>
                <a:r>
                  <a:rPr sz="1100" dirty="0"/>
                  <a:t>ompliance Support</a:t>
                </a:r>
              </a:p>
            </p:txBody>
          </p:sp>
        </p:grpSp>
        <p:grpSp>
          <p:nvGrpSpPr>
            <p:cNvPr id="78" name="Group 77">
              <a:extLst>
                <a:ext uri="{FF2B5EF4-FFF2-40B4-BE49-F238E27FC236}">
                  <a16:creationId xmlns:a16="http://schemas.microsoft.com/office/drawing/2014/main" id="{B134A7B7-54C3-0950-5884-8AB99CBD043C}"/>
                </a:ext>
              </a:extLst>
            </p:cNvPr>
            <p:cNvGrpSpPr/>
            <p:nvPr/>
          </p:nvGrpSpPr>
          <p:grpSpPr>
            <a:xfrm>
              <a:off x="1318991" y="5081492"/>
              <a:ext cx="1784132" cy="747780"/>
              <a:chOff x="1549109" y="4731549"/>
              <a:chExt cx="1784132" cy="747780"/>
            </a:xfrm>
          </p:grpSpPr>
          <p:grpSp>
            <p:nvGrpSpPr>
              <p:cNvPr id="79" name="Group 5">
                <a:extLst>
                  <a:ext uri="{FF2B5EF4-FFF2-40B4-BE49-F238E27FC236}">
                    <a16:creationId xmlns:a16="http://schemas.microsoft.com/office/drawing/2014/main" id="{DA6CFC9C-1BD8-B637-BCBE-9AE1CEB982CF}"/>
                  </a:ext>
                </a:extLst>
              </p:cNvPr>
              <p:cNvGrpSpPr/>
              <p:nvPr/>
            </p:nvGrpSpPr>
            <p:grpSpPr>
              <a:xfrm>
                <a:off x="1549109" y="4731549"/>
                <a:ext cx="1784132" cy="696982"/>
                <a:chOff x="0" y="-38101"/>
                <a:chExt cx="704842" cy="1005240"/>
              </a:xfrm>
            </p:grpSpPr>
            <p:sp>
              <p:nvSpPr>
                <p:cNvPr id="85" name="Freeform 6">
                  <a:extLst>
                    <a:ext uri="{FF2B5EF4-FFF2-40B4-BE49-F238E27FC236}">
                      <a16:creationId xmlns:a16="http://schemas.microsoft.com/office/drawing/2014/main" id="{C1526EF3-9433-B629-C635-9296A9039E3D}"/>
                    </a:ext>
                  </a:extLst>
                </p:cNvPr>
                <p:cNvSpPr/>
                <p:nvPr/>
              </p:nvSpPr>
              <p:spPr>
                <a:xfrm>
                  <a:off x="0" y="0"/>
                  <a:ext cx="704842" cy="96713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04842" h="967139">
                      <a:moveTo>
                        <a:pt x="0" y="0"/>
                      </a:moveTo>
                      <a:lnTo>
                        <a:pt x="704842" y="0"/>
                      </a:lnTo>
                      <a:lnTo>
                        <a:pt x="704842" y="967139"/>
                      </a:lnTo>
                      <a:lnTo>
                        <a:pt x="0" y="967139"/>
                      </a:lnTo>
                      <a:close/>
                    </a:path>
                  </a:pathLst>
                </a:custGeom>
                <a:solidFill>
                  <a:srgbClr val="095D40"/>
                </a:solidFill>
              </p:spPr>
              <p:txBody>
                <a:bodyPr/>
                <a:lstStyle/>
                <a:p>
                  <a:endParaRPr lang="en-US" sz="1200"/>
                </a:p>
              </p:txBody>
            </p:sp>
            <p:sp>
              <p:nvSpPr>
                <p:cNvPr id="86" name="TextBox 7">
                  <a:extLst>
                    <a:ext uri="{FF2B5EF4-FFF2-40B4-BE49-F238E27FC236}">
                      <a16:creationId xmlns:a16="http://schemas.microsoft.com/office/drawing/2014/main" id="{7EABA0BC-F028-D230-97F3-954885F7636F}"/>
                    </a:ext>
                  </a:extLst>
                </p:cNvPr>
                <p:cNvSpPr txBox="1"/>
                <p:nvPr/>
              </p:nvSpPr>
              <p:spPr>
                <a:xfrm>
                  <a:off x="0" y="-38101"/>
                  <a:ext cx="704842" cy="1005239"/>
                </a:xfrm>
                <a:prstGeom prst="rect">
                  <a:avLst/>
                </a:prstGeom>
              </p:spPr>
              <p:txBody>
                <a:bodyPr lIns="33867" tIns="33867" rIns="33867" bIns="33867" rtlCol="0" anchor="ctr"/>
                <a:lstStyle/>
                <a:p>
                  <a:pPr algn="ctr">
                    <a:lnSpc>
                      <a:spcPts val="1614"/>
                    </a:lnSpc>
                  </a:pPr>
                  <a:endParaRPr sz="1200"/>
                </a:p>
              </p:txBody>
            </p:sp>
          </p:grpSp>
          <p:grpSp>
            <p:nvGrpSpPr>
              <p:cNvPr id="80" name="Group 9">
                <a:extLst>
                  <a:ext uri="{FF2B5EF4-FFF2-40B4-BE49-F238E27FC236}">
                    <a16:creationId xmlns:a16="http://schemas.microsoft.com/office/drawing/2014/main" id="{7E71254E-BF2A-1556-3796-255448C73A21}"/>
                  </a:ext>
                </a:extLst>
              </p:cNvPr>
              <p:cNvGrpSpPr/>
              <p:nvPr/>
            </p:nvGrpSpPr>
            <p:grpSpPr>
              <a:xfrm>
                <a:off x="1549109" y="5377729"/>
                <a:ext cx="1784132" cy="101600"/>
                <a:chOff x="0" y="0"/>
                <a:chExt cx="704842" cy="40138"/>
              </a:xfrm>
            </p:grpSpPr>
            <p:sp>
              <p:nvSpPr>
                <p:cNvPr id="83" name="Freeform 10">
                  <a:extLst>
                    <a:ext uri="{FF2B5EF4-FFF2-40B4-BE49-F238E27FC236}">
                      <a16:creationId xmlns:a16="http://schemas.microsoft.com/office/drawing/2014/main" id="{D7C935BE-7D72-D174-679D-8A013B6382B2}"/>
                    </a:ext>
                  </a:extLst>
                </p:cNvPr>
                <p:cNvSpPr/>
                <p:nvPr/>
              </p:nvSpPr>
              <p:spPr>
                <a:xfrm>
                  <a:off x="0" y="0"/>
                  <a:ext cx="704842" cy="4013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04842" h="40138">
                      <a:moveTo>
                        <a:pt x="0" y="0"/>
                      </a:moveTo>
                      <a:lnTo>
                        <a:pt x="704842" y="0"/>
                      </a:lnTo>
                      <a:lnTo>
                        <a:pt x="704842" y="40138"/>
                      </a:lnTo>
                      <a:lnTo>
                        <a:pt x="0" y="40138"/>
                      </a:lnTo>
                      <a:close/>
                    </a:path>
                  </a:pathLst>
                </a:custGeom>
                <a:solidFill>
                  <a:srgbClr val="B0F54A"/>
                </a:solidFill>
              </p:spPr>
              <p:txBody>
                <a:bodyPr/>
                <a:lstStyle/>
                <a:p>
                  <a:endParaRPr lang="en-US" sz="1200"/>
                </a:p>
              </p:txBody>
            </p:sp>
            <p:sp>
              <p:nvSpPr>
                <p:cNvPr id="84" name="TextBox 11">
                  <a:extLst>
                    <a:ext uri="{FF2B5EF4-FFF2-40B4-BE49-F238E27FC236}">
                      <a16:creationId xmlns:a16="http://schemas.microsoft.com/office/drawing/2014/main" id="{F8A00E78-0945-2F6A-B76F-ADB0A4538492}"/>
                    </a:ext>
                  </a:extLst>
                </p:cNvPr>
                <p:cNvSpPr txBox="1"/>
                <p:nvPr/>
              </p:nvSpPr>
              <p:spPr>
                <a:xfrm>
                  <a:off x="0" y="-38100"/>
                  <a:ext cx="704842" cy="78238"/>
                </a:xfrm>
                <a:prstGeom prst="rect">
                  <a:avLst/>
                </a:prstGeom>
              </p:spPr>
              <p:txBody>
                <a:bodyPr lIns="33867" tIns="33867" rIns="33867" bIns="33867" rtlCol="0" anchor="ctr"/>
                <a:lstStyle/>
                <a:p>
                  <a:pPr algn="ctr">
                    <a:lnSpc>
                      <a:spcPts val="1614"/>
                    </a:lnSpc>
                  </a:pPr>
                  <a:endParaRPr sz="1200"/>
                </a:p>
              </p:txBody>
            </p:sp>
          </p:grpSp>
          <p:sp>
            <p:nvSpPr>
              <p:cNvPr id="81" name="TextBox 35">
                <a:extLst>
                  <a:ext uri="{FF2B5EF4-FFF2-40B4-BE49-F238E27FC236}">
                    <a16:creationId xmlns:a16="http://schemas.microsoft.com/office/drawing/2014/main" id="{441A6E71-6E0E-2739-2FBA-4AC370A8C408}"/>
                  </a:ext>
                </a:extLst>
              </p:cNvPr>
              <p:cNvSpPr txBox="1"/>
              <p:nvPr/>
            </p:nvSpPr>
            <p:spPr>
              <a:xfrm>
                <a:off x="1637205" y="4836972"/>
                <a:ext cx="1526175" cy="226729"/>
              </a:xfrm>
              <a:prstGeom prst="rect">
                <a:avLst/>
              </a:prstGeom>
            </p:spPr>
            <p:txBody>
              <a:bodyPr lIns="0" tIns="0" rIns="0" bIns="0" rtlCol="0" anchor="t">
                <a:spAutoFit/>
              </a:bodyPr>
              <a:lstStyle/>
              <a:p>
                <a:pPr algn="ctr">
                  <a:lnSpc>
                    <a:spcPts val="1943"/>
                  </a:lnSpc>
                </a:pPr>
                <a:r>
                  <a:rPr sz="1318" b="1">
                    <a:solidFill>
                      <a:srgbClr val="F4F4F4"/>
                    </a:solidFill>
                    <a:latin typeface="Montserrat Bold"/>
                  </a:rPr>
                  <a:t>Engineering</a:t>
                </a:r>
              </a:p>
              <a:p>
                <a:pPr algn="ctr">
                  <a:lnSpc>
                    <a:spcPts val="1943"/>
                  </a:lnSpc>
                </a:pPr>
                <a:r>
                  <a:rPr sz="1318" b="1">
                    <a:solidFill>
                      <a:srgbClr val="F4F4F4"/>
                    </a:solidFill>
                    <a:latin typeface="Montserrat Bold"/>
                  </a:rPr>
                  <a:t>Services</a:t>
                </a:r>
              </a:p>
            </p:txBody>
          </p:sp>
          <p:sp>
            <p:nvSpPr>
              <p:cNvPr id="82" name="TextBox 36">
                <a:extLst>
                  <a:ext uri="{FF2B5EF4-FFF2-40B4-BE49-F238E27FC236}">
                    <a16:creationId xmlns:a16="http://schemas.microsoft.com/office/drawing/2014/main" id="{91E52A43-EF2D-84C3-9B0D-7DC5181FEDB4}"/>
                  </a:ext>
                </a:extLst>
              </p:cNvPr>
              <p:cNvSpPr txBox="1"/>
              <p:nvPr/>
            </p:nvSpPr>
            <p:spPr>
              <a:xfrm>
                <a:off x="1637205" y="5085913"/>
                <a:ext cx="1526175" cy="180690"/>
              </a:xfrm>
              <a:prstGeom prst="rect">
                <a:avLst/>
              </a:prstGeom>
            </p:spPr>
            <p:txBody>
              <a:bodyPr lIns="0" tIns="0" rIns="0" bIns="0" rtlCol="0" anchor="t">
                <a:spAutoFit/>
              </a:bodyPr>
              <a:lstStyle/>
              <a:p>
                <a:pPr algn="ctr">
                  <a:lnSpc>
                    <a:spcPts val="1570"/>
                  </a:lnSpc>
                </a:pPr>
                <a:endParaRPr/>
              </a:p>
            </p:txBody>
          </p:sp>
        </p:grp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EA61A252-D51A-ECA0-3D51-D41F6630AFD6}"/>
              </a:ext>
            </a:extLst>
          </p:cNvPr>
          <p:cNvGrpSpPr/>
          <p:nvPr/>
        </p:nvGrpSpPr>
        <p:grpSpPr>
          <a:xfrm>
            <a:off x="7372216" y="5200752"/>
            <a:ext cx="4486144" cy="1176531"/>
            <a:chOff x="6661016" y="3921662"/>
            <a:chExt cx="4486144" cy="1176531"/>
          </a:xfrm>
        </p:grpSpPr>
        <p:grpSp>
          <p:nvGrpSpPr>
            <p:cNvPr id="103" name="Group 102">
              <a:extLst>
                <a:ext uri="{FF2B5EF4-FFF2-40B4-BE49-F238E27FC236}">
                  <a16:creationId xmlns:a16="http://schemas.microsoft.com/office/drawing/2014/main" id="{85FAFD1A-E85F-F655-F1DB-AED394C36045}"/>
                </a:ext>
              </a:extLst>
            </p:cNvPr>
            <p:cNvGrpSpPr/>
            <p:nvPr/>
          </p:nvGrpSpPr>
          <p:grpSpPr>
            <a:xfrm>
              <a:off x="8331489" y="3921662"/>
              <a:ext cx="2815671" cy="1176531"/>
              <a:chOff x="8585430" y="4842910"/>
              <a:chExt cx="2815671" cy="1176531"/>
            </a:xfrm>
          </p:grpSpPr>
          <p:sp>
            <p:nvSpPr>
              <p:cNvPr id="90" name="Left Brace 89">
                <a:extLst>
                  <a:ext uri="{FF2B5EF4-FFF2-40B4-BE49-F238E27FC236}">
                    <a16:creationId xmlns:a16="http://schemas.microsoft.com/office/drawing/2014/main" id="{1AA93BA7-CDE5-492F-B7A7-609265669736}"/>
                  </a:ext>
                </a:extLst>
              </p:cNvPr>
              <p:cNvSpPr/>
              <p:nvPr/>
            </p:nvSpPr>
            <p:spPr>
              <a:xfrm>
                <a:off x="8585430" y="4952065"/>
                <a:ext cx="343948" cy="931901"/>
              </a:xfrm>
              <a:prstGeom prst="leftBrace">
                <a:avLst/>
              </a:prstGeom>
              <a:ln>
                <a:solidFill>
                  <a:srgbClr val="00660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1" name="TextBox 90">
                <a:extLst>
                  <a:ext uri="{FF2B5EF4-FFF2-40B4-BE49-F238E27FC236}">
                    <a16:creationId xmlns:a16="http://schemas.microsoft.com/office/drawing/2014/main" id="{1AF8E09D-D17C-9C3E-CC97-809422DCA731}"/>
                  </a:ext>
                </a:extLst>
              </p:cNvPr>
              <p:cNvSpPr txBox="1"/>
              <p:nvPr/>
            </p:nvSpPr>
            <p:spPr>
              <a:xfrm>
                <a:off x="8963484" y="4842910"/>
                <a:ext cx="681597" cy="2616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sz="1100" dirty="0"/>
                  <a:t>Balancer</a:t>
                </a:r>
                <a:endParaRPr lang="en-US" sz="1100" dirty="0"/>
              </a:p>
            </p:txBody>
          </p:sp>
          <p:sp>
            <p:nvSpPr>
              <p:cNvPr id="92" name="TextBox 91">
                <a:extLst>
                  <a:ext uri="{FF2B5EF4-FFF2-40B4-BE49-F238E27FC236}">
                    <a16:creationId xmlns:a16="http://schemas.microsoft.com/office/drawing/2014/main" id="{B840D99D-E37C-6C0E-CACD-123075B16192}"/>
                  </a:ext>
                </a:extLst>
              </p:cNvPr>
              <p:cNvSpPr txBox="1"/>
              <p:nvPr/>
            </p:nvSpPr>
            <p:spPr>
              <a:xfrm>
                <a:off x="8951547" y="5266556"/>
                <a:ext cx="1279832" cy="2616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sz="1100" dirty="0"/>
                  <a:t>Recharge</a:t>
                </a:r>
                <a:r>
                  <a:rPr lang="en-US" sz="1100" dirty="0"/>
                  <a:t> </a:t>
                </a:r>
                <a:r>
                  <a:rPr sz="1100" dirty="0"/>
                  <a:t>Unit</a:t>
                </a:r>
              </a:p>
            </p:txBody>
          </p:sp>
          <p:sp>
            <p:nvSpPr>
              <p:cNvPr id="93" name="TextBox 92">
                <a:extLst>
                  <a:ext uri="{FF2B5EF4-FFF2-40B4-BE49-F238E27FC236}">
                    <a16:creationId xmlns:a16="http://schemas.microsoft.com/office/drawing/2014/main" id="{2E7BFAE8-FC7D-8113-52B2-445675028A55}"/>
                  </a:ext>
                </a:extLst>
              </p:cNvPr>
              <p:cNvSpPr txBox="1"/>
              <p:nvPr/>
            </p:nvSpPr>
            <p:spPr>
              <a:xfrm>
                <a:off x="8926349" y="5588554"/>
                <a:ext cx="2474752" cy="43088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sz="1100" dirty="0"/>
                  <a:t>Other Equipment (e.g., relay testers, insertion / extraction force testers)</a:t>
                </a:r>
                <a:endParaRPr lang="en-US" sz="1100" dirty="0"/>
              </a:p>
            </p:txBody>
          </p:sp>
        </p:grpSp>
        <p:grpSp>
          <p:nvGrpSpPr>
            <p:cNvPr id="95" name="Group 94">
              <a:extLst>
                <a:ext uri="{FF2B5EF4-FFF2-40B4-BE49-F238E27FC236}">
                  <a16:creationId xmlns:a16="http://schemas.microsoft.com/office/drawing/2014/main" id="{869356E2-9CC0-D6F1-D607-FBB3C5719478}"/>
                </a:ext>
              </a:extLst>
            </p:cNvPr>
            <p:cNvGrpSpPr/>
            <p:nvPr/>
          </p:nvGrpSpPr>
          <p:grpSpPr>
            <a:xfrm>
              <a:off x="6661016" y="4130570"/>
              <a:ext cx="1494263" cy="747780"/>
              <a:chOff x="1549109" y="4731549"/>
              <a:chExt cx="1784132" cy="747780"/>
            </a:xfrm>
          </p:grpSpPr>
          <p:grpSp>
            <p:nvGrpSpPr>
              <p:cNvPr id="96" name="Group 5">
                <a:extLst>
                  <a:ext uri="{FF2B5EF4-FFF2-40B4-BE49-F238E27FC236}">
                    <a16:creationId xmlns:a16="http://schemas.microsoft.com/office/drawing/2014/main" id="{9FC96E86-ADDF-F19D-4EAA-84AC85874FBB}"/>
                  </a:ext>
                </a:extLst>
              </p:cNvPr>
              <p:cNvGrpSpPr/>
              <p:nvPr/>
            </p:nvGrpSpPr>
            <p:grpSpPr>
              <a:xfrm>
                <a:off x="1549109" y="4731549"/>
                <a:ext cx="1784132" cy="696981"/>
                <a:chOff x="0" y="-38101"/>
                <a:chExt cx="704842" cy="1005239"/>
              </a:xfrm>
            </p:grpSpPr>
            <p:sp>
              <p:nvSpPr>
                <p:cNvPr id="101" name="Freeform 6">
                  <a:extLst>
                    <a:ext uri="{FF2B5EF4-FFF2-40B4-BE49-F238E27FC236}">
                      <a16:creationId xmlns:a16="http://schemas.microsoft.com/office/drawing/2014/main" id="{3CE1230B-D436-DC5C-6E6F-9A924349221C}"/>
                    </a:ext>
                  </a:extLst>
                </p:cNvPr>
                <p:cNvSpPr/>
                <p:nvPr/>
              </p:nvSpPr>
              <p:spPr>
                <a:xfrm>
                  <a:off x="0" y="0"/>
                  <a:ext cx="704842" cy="96713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04842" h="967139">
                      <a:moveTo>
                        <a:pt x="0" y="0"/>
                      </a:moveTo>
                      <a:lnTo>
                        <a:pt x="704842" y="0"/>
                      </a:lnTo>
                      <a:lnTo>
                        <a:pt x="704842" y="967139"/>
                      </a:lnTo>
                      <a:lnTo>
                        <a:pt x="0" y="967139"/>
                      </a:lnTo>
                      <a:close/>
                    </a:path>
                  </a:pathLst>
                </a:custGeom>
                <a:solidFill>
                  <a:srgbClr val="095D40"/>
                </a:solidFill>
              </p:spPr>
              <p:txBody>
                <a:bodyPr/>
                <a:lstStyle/>
                <a:p>
                  <a:endParaRPr lang="en-US" sz="1200"/>
                </a:p>
              </p:txBody>
            </p:sp>
            <p:sp>
              <p:nvSpPr>
                <p:cNvPr id="102" name="TextBox 7">
                  <a:extLst>
                    <a:ext uri="{FF2B5EF4-FFF2-40B4-BE49-F238E27FC236}">
                      <a16:creationId xmlns:a16="http://schemas.microsoft.com/office/drawing/2014/main" id="{D7AC9B59-C750-41E8-2EAA-ED99279742D6}"/>
                    </a:ext>
                  </a:extLst>
                </p:cNvPr>
                <p:cNvSpPr txBox="1"/>
                <p:nvPr/>
              </p:nvSpPr>
              <p:spPr>
                <a:xfrm>
                  <a:off x="0" y="-38101"/>
                  <a:ext cx="704842" cy="1005239"/>
                </a:xfrm>
                <a:prstGeom prst="rect">
                  <a:avLst/>
                </a:prstGeom>
              </p:spPr>
              <p:txBody>
                <a:bodyPr lIns="33867" tIns="33867" rIns="33867" bIns="33867" rtlCol="0" anchor="ctr"/>
                <a:lstStyle/>
                <a:p>
                  <a:pPr algn="ctr">
                    <a:lnSpc>
                      <a:spcPts val="1614"/>
                    </a:lnSpc>
                  </a:pPr>
                  <a:endParaRPr sz="1200"/>
                </a:p>
              </p:txBody>
            </p:sp>
          </p:grpSp>
          <p:grpSp>
            <p:nvGrpSpPr>
              <p:cNvPr id="97" name="Group 9">
                <a:extLst>
                  <a:ext uri="{FF2B5EF4-FFF2-40B4-BE49-F238E27FC236}">
                    <a16:creationId xmlns:a16="http://schemas.microsoft.com/office/drawing/2014/main" id="{658E0FAC-D193-851B-BFF2-E0DA405A7B9C}"/>
                  </a:ext>
                </a:extLst>
              </p:cNvPr>
              <p:cNvGrpSpPr/>
              <p:nvPr/>
            </p:nvGrpSpPr>
            <p:grpSpPr>
              <a:xfrm>
                <a:off x="1549109" y="5377729"/>
                <a:ext cx="1784132" cy="101600"/>
                <a:chOff x="0" y="0"/>
                <a:chExt cx="704842" cy="40138"/>
              </a:xfrm>
            </p:grpSpPr>
            <p:sp>
              <p:nvSpPr>
                <p:cNvPr id="99" name="Freeform 10">
                  <a:extLst>
                    <a:ext uri="{FF2B5EF4-FFF2-40B4-BE49-F238E27FC236}">
                      <a16:creationId xmlns:a16="http://schemas.microsoft.com/office/drawing/2014/main" id="{95162A48-903D-C8BD-0112-6E3ED3D04E14}"/>
                    </a:ext>
                  </a:extLst>
                </p:cNvPr>
                <p:cNvSpPr/>
                <p:nvPr/>
              </p:nvSpPr>
              <p:spPr>
                <a:xfrm>
                  <a:off x="0" y="0"/>
                  <a:ext cx="704842" cy="4013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04842" h="40138">
                      <a:moveTo>
                        <a:pt x="0" y="0"/>
                      </a:moveTo>
                      <a:lnTo>
                        <a:pt x="704842" y="0"/>
                      </a:lnTo>
                      <a:lnTo>
                        <a:pt x="704842" y="40138"/>
                      </a:lnTo>
                      <a:lnTo>
                        <a:pt x="0" y="40138"/>
                      </a:lnTo>
                      <a:close/>
                    </a:path>
                  </a:pathLst>
                </a:custGeom>
                <a:solidFill>
                  <a:srgbClr val="B0F54A"/>
                </a:solidFill>
              </p:spPr>
              <p:txBody>
                <a:bodyPr/>
                <a:lstStyle/>
                <a:p>
                  <a:endParaRPr lang="en-US" sz="1200"/>
                </a:p>
              </p:txBody>
            </p:sp>
            <p:sp>
              <p:nvSpPr>
                <p:cNvPr id="100" name="TextBox 11">
                  <a:extLst>
                    <a:ext uri="{FF2B5EF4-FFF2-40B4-BE49-F238E27FC236}">
                      <a16:creationId xmlns:a16="http://schemas.microsoft.com/office/drawing/2014/main" id="{B2026423-A027-1BEA-F2A0-9A9ECE0F738D}"/>
                    </a:ext>
                  </a:extLst>
                </p:cNvPr>
                <p:cNvSpPr txBox="1"/>
                <p:nvPr/>
              </p:nvSpPr>
              <p:spPr>
                <a:xfrm>
                  <a:off x="0" y="-38100"/>
                  <a:ext cx="704842" cy="78238"/>
                </a:xfrm>
                <a:prstGeom prst="rect">
                  <a:avLst/>
                </a:prstGeom>
              </p:spPr>
              <p:txBody>
                <a:bodyPr lIns="33867" tIns="33867" rIns="33867" bIns="33867" rtlCol="0" anchor="ctr"/>
                <a:lstStyle/>
                <a:p>
                  <a:pPr algn="ctr">
                    <a:lnSpc>
                      <a:spcPts val="1614"/>
                    </a:lnSpc>
                  </a:pPr>
                  <a:endParaRPr sz="1200"/>
                </a:p>
              </p:txBody>
            </p:sp>
          </p:grpSp>
          <p:sp>
            <p:nvSpPr>
              <p:cNvPr id="98" name="TextBox 35">
                <a:extLst>
                  <a:ext uri="{FF2B5EF4-FFF2-40B4-BE49-F238E27FC236}">
                    <a16:creationId xmlns:a16="http://schemas.microsoft.com/office/drawing/2014/main" id="{A9A925FB-851C-D340-D871-BE95F89F2E24}"/>
                  </a:ext>
                </a:extLst>
              </p:cNvPr>
              <p:cNvSpPr txBox="1"/>
              <p:nvPr/>
            </p:nvSpPr>
            <p:spPr>
              <a:xfrm>
                <a:off x="1674787" y="4850363"/>
                <a:ext cx="1526174" cy="226729"/>
              </a:xfrm>
              <a:prstGeom prst="rect">
                <a:avLst/>
              </a:prstGeom>
            </p:spPr>
            <p:txBody>
              <a:bodyPr lIns="0" tIns="0" rIns="0" bIns="0" rtlCol="0" anchor="t">
                <a:spAutoFit/>
              </a:bodyPr>
              <a:lstStyle/>
              <a:p>
                <a:pPr algn="ctr">
                  <a:lnSpc>
                    <a:spcPts val="1943"/>
                  </a:lnSpc>
                </a:pPr>
                <a:r>
                  <a:rPr sz="1138" b="1" dirty="0">
                    <a:solidFill>
                      <a:srgbClr val="F4F4F4"/>
                    </a:solidFill>
                    <a:latin typeface="Montserrat Bold"/>
                  </a:rPr>
                  <a:t>Maintenance</a:t>
                </a:r>
              </a:p>
              <a:p>
                <a:pPr algn="ctr">
                  <a:lnSpc>
                    <a:spcPts val="1943"/>
                  </a:lnSpc>
                </a:pPr>
                <a:r>
                  <a:rPr sz="1138" b="1" dirty="0">
                    <a:solidFill>
                      <a:srgbClr val="F4F4F4"/>
                    </a:solidFill>
                    <a:latin typeface="Montserrat Bold"/>
                  </a:rPr>
                  <a:t>&amp; Auxiliary</a:t>
                </a:r>
              </a:p>
            </p:txBody>
          </p:sp>
        </p:grpSp>
      </p:grpSp>
      <p:pic>
        <p:nvPicPr>
          <p:cNvPr id="16" name="Picture 15">
            <a:extLst>
              <a:ext uri="{FF2B5EF4-FFF2-40B4-BE49-F238E27FC236}">
                <a16:creationId xmlns:a16="http://schemas.microsoft.com/office/drawing/2014/main" id="{6623E72A-514C-82A3-39FF-320B9A5DA3C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4925" t="38529" r="25273" b="9450"/>
          <a:stretch>
            <a:fillRect/>
          </a:stretch>
        </p:blipFill>
        <p:spPr>
          <a:xfrm>
            <a:off x="8351788" y="1146874"/>
            <a:ext cx="3068240" cy="1335387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21609553-CD5C-B9CA-2B87-A4B79A66E87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750" r="895"/>
          <a:stretch>
            <a:fillRect/>
          </a:stretch>
        </p:blipFill>
        <p:spPr>
          <a:xfrm>
            <a:off x="4668382" y="3280179"/>
            <a:ext cx="4968417" cy="853190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923D90A5-CE25-F4EA-41D2-9E166BE6EC1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83554" y="2409783"/>
            <a:ext cx="2314880" cy="231488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1E2B1A-1DE7-51EA-89B6-A1980B2DBA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object 3">
            <a:extLst>
              <a:ext uri="{FF2B5EF4-FFF2-40B4-BE49-F238E27FC236}">
                <a16:creationId xmlns:a16="http://schemas.microsoft.com/office/drawing/2014/main" id="{96864D7A-C313-6EBB-52BE-D8D016AD1A93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783958" y="4556729"/>
            <a:ext cx="3155932" cy="2256474"/>
          </a:xfrm>
          <a:prstGeom prst="rect">
            <a:avLst/>
          </a:prstGeom>
        </p:spPr>
      </p:pic>
      <p:sp>
        <p:nvSpPr>
          <p:cNvPr id="5" name="TextBox 5">
            <a:extLst>
              <a:ext uri="{FF2B5EF4-FFF2-40B4-BE49-F238E27FC236}">
                <a16:creationId xmlns:a16="http://schemas.microsoft.com/office/drawing/2014/main" id="{AD4C320C-0CD3-B24A-F989-CE61988136F6}"/>
              </a:ext>
            </a:extLst>
          </p:cNvPr>
          <p:cNvSpPr txBox="1"/>
          <p:nvPr/>
        </p:nvSpPr>
        <p:spPr>
          <a:xfrm>
            <a:off x="350295" y="2642196"/>
            <a:ext cx="3495017" cy="2507654"/>
          </a:xfrm>
          <a:prstGeom prst="rect">
            <a:avLst/>
          </a:prstGeom>
        </p:spPr>
        <p:txBody>
          <a:bodyPr lIns="33867" tIns="33867" rIns="33867" bIns="33867" rtlCol="0" anchor="ctr"/>
          <a:lstStyle/>
          <a:p>
            <a:pPr algn="ctr">
              <a:lnSpc>
                <a:spcPts val="1773"/>
              </a:lnSpc>
            </a:pPr>
            <a:endParaRPr sz="1200"/>
          </a:p>
        </p:txBody>
      </p:sp>
      <p:grpSp>
        <p:nvGrpSpPr>
          <p:cNvPr id="20" name="Group 20">
            <a:extLst>
              <a:ext uri="{FF2B5EF4-FFF2-40B4-BE49-F238E27FC236}">
                <a16:creationId xmlns:a16="http://schemas.microsoft.com/office/drawing/2014/main" id="{40376C63-E8D8-CC8B-1CFF-DB5BF19D782F}"/>
              </a:ext>
            </a:extLst>
          </p:cNvPr>
          <p:cNvGrpSpPr/>
          <p:nvPr/>
        </p:nvGrpSpPr>
        <p:grpSpPr>
          <a:xfrm>
            <a:off x="9646457" y="-2725769"/>
            <a:ext cx="4382579" cy="4382579"/>
            <a:chOff x="0" y="0"/>
            <a:chExt cx="812800" cy="812800"/>
          </a:xfrm>
        </p:grpSpPr>
        <p:sp>
          <p:nvSpPr>
            <p:cNvPr id="21" name="Freeform 21">
              <a:extLst>
                <a:ext uri="{FF2B5EF4-FFF2-40B4-BE49-F238E27FC236}">
                  <a16:creationId xmlns:a16="http://schemas.microsoft.com/office/drawing/2014/main" id="{6192F85C-45FD-436B-B8EF-65FE1DF6D3F2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lnTo>
                    <a:pt x="812800" y="406400"/>
                  </a:lnTo>
                  <a:lnTo>
                    <a:pt x="406400" y="812800"/>
                  </a:lnTo>
                  <a:lnTo>
                    <a:pt x="0" y="4064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AEEA00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US" sz="1200"/>
            </a:p>
          </p:txBody>
        </p:sp>
        <p:sp>
          <p:nvSpPr>
            <p:cNvPr id="22" name="TextBox 22">
              <a:extLst>
                <a:ext uri="{FF2B5EF4-FFF2-40B4-BE49-F238E27FC236}">
                  <a16:creationId xmlns:a16="http://schemas.microsoft.com/office/drawing/2014/main" id="{B2132BFA-6139-AF43-7C21-A0560EACBBC7}"/>
                </a:ext>
              </a:extLst>
            </p:cNvPr>
            <p:cNvSpPr txBox="1"/>
            <p:nvPr/>
          </p:nvSpPr>
          <p:spPr>
            <a:xfrm>
              <a:off x="139700" y="101600"/>
              <a:ext cx="533400" cy="571500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algn="ctr">
                <a:lnSpc>
                  <a:spcPts val="1614"/>
                </a:lnSpc>
              </a:pPr>
              <a:endParaRPr sz="1200"/>
            </a:p>
          </p:txBody>
        </p:sp>
      </p:grpSp>
      <p:sp>
        <p:nvSpPr>
          <p:cNvPr id="23" name="TextBox 23">
            <a:extLst>
              <a:ext uri="{FF2B5EF4-FFF2-40B4-BE49-F238E27FC236}">
                <a16:creationId xmlns:a16="http://schemas.microsoft.com/office/drawing/2014/main" id="{D0EBBAB9-5AF4-C4A4-4B11-9AD54FEF638E}"/>
              </a:ext>
            </a:extLst>
          </p:cNvPr>
          <p:cNvSpPr txBox="1"/>
          <p:nvPr/>
        </p:nvSpPr>
        <p:spPr>
          <a:xfrm>
            <a:off x="3712135" y="211347"/>
            <a:ext cx="5501215" cy="52367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606"/>
              </a:lnSpc>
              <a:spcBef>
                <a:spcPct val="0"/>
              </a:spcBef>
            </a:pPr>
            <a:r>
              <a:rPr lang="en-US" altLang="zh-CN" sz="2400" b="1" dirty="0">
                <a:solidFill>
                  <a:srgbClr val="095D40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Customer Project Reference Book</a:t>
            </a:r>
          </a:p>
        </p:txBody>
      </p:sp>
      <p:grpSp>
        <p:nvGrpSpPr>
          <p:cNvPr id="27" name="Group 27">
            <a:extLst>
              <a:ext uri="{FF2B5EF4-FFF2-40B4-BE49-F238E27FC236}">
                <a16:creationId xmlns:a16="http://schemas.microsoft.com/office/drawing/2014/main" id="{587C818F-BDF7-1E93-BF93-188F29C0ED4E}"/>
              </a:ext>
            </a:extLst>
          </p:cNvPr>
          <p:cNvGrpSpPr/>
          <p:nvPr/>
        </p:nvGrpSpPr>
        <p:grpSpPr>
          <a:xfrm>
            <a:off x="9748057" y="-2624169"/>
            <a:ext cx="4382579" cy="4382579"/>
            <a:chOff x="0" y="0"/>
            <a:chExt cx="812800" cy="812800"/>
          </a:xfrm>
        </p:grpSpPr>
        <p:sp>
          <p:nvSpPr>
            <p:cNvPr id="28" name="Freeform 28">
              <a:extLst>
                <a:ext uri="{FF2B5EF4-FFF2-40B4-BE49-F238E27FC236}">
                  <a16:creationId xmlns:a16="http://schemas.microsoft.com/office/drawing/2014/main" id="{C9ECDA67-EB6B-F911-2861-AB8038ABF9AF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lnTo>
                    <a:pt x="812800" y="406400"/>
                  </a:lnTo>
                  <a:lnTo>
                    <a:pt x="406400" y="812800"/>
                  </a:lnTo>
                  <a:lnTo>
                    <a:pt x="0" y="4064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AEEA00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US" sz="1200"/>
            </a:p>
          </p:txBody>
        </p:sp>
        <p:sp>
          <p:nvSpPr>
            <p:cNvPr id="29" name="TextBox 29">
              <a:extLst>
                <a:ext uri="{FF2B5EF4-FFF2-40B4-BE49-F238E27FC236}">
                  <a16:creationId xmlns:a16="http://schemas.microsoft.com/office/drawing/2014/main" id="{FDA619CC-5F44-A8B0-33E0-594C87C19598}"/>
                </a:ext>
              </a:extLst>
            </p:cNvPr>
            <p:cNvSpPr txBox="1"/>
            <p:nvPr/>
          </p:nvSpPr>
          <p:spPr>
            <a:xfrm>
              <a:off x="139700" y="101600"/>
              <a:ext cx="533400" cy="571500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algn="ctr">
                <a:lnSpc>
                  <a:spcPts val="1614"/>
                </a:lnSpc>
              </a:pPr>
              <a:endParaRPr sz="1200"/>
            </a:p>
          </p:txBody>
        </p:sp>
      </p:grpSp>
      <p:grpSp>
        <p:nvGrpSpPr>
          <p:cNvPr id="30" name="Group 30">
            <a:extLst>
              <a:ext uri="{FF2B5EF4-FFF2-40B4-BE49-F238E27FC236}">
                <a16:creationId xmlns:a16="http://schemas.microsoft.com/office/drawing/2014/main" id="{C5C1DDD5-094C-ABB4-9BE4-E73BC027AF3E}"/>
              </a:ext>
            </a:extLst>
          </p:cNvPr>
          <p:cNvGrpSpPr/>
          <p:nvPr/>
        </p:nvGrpSpPr>
        <p:grpSpPr>
          <a:xfrm>
            <a:off x="-586860" y="5768130"/>
            <a:ext cx="4382579" cy="4382579"/>
            <a:chOff x="0" y="0"/>
            <a:chExt cx="812800" cy="812800"/>
          </a:xfrm>
        </p:grpSpPr>
        <p:sp>
          <p:nvSpPr>
            <p:cNvPr id="31" name="Freeform 31">
              <a:extLst>
                <a:ext uri="{FF2B5EF4-FFF2-40B4-BE49-F238E27FC236}">
                  <a16:creationId xmlns:a16="http://schemas.microsoft.com/office/drawing/2014/main" id="{F544807F-E6CE-693B-B078-6E514AC40C0B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lnTo>
                    <a:pt x="812800" y="406400"/>
                  </a:lnTo>
                  <a:lnTo>
                    <a:pt x="406400" y="812800"/>
                  </a:lnTo>
                  <a:lnTo>
                    <a:pt x="0" y="4064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AEEA00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US" sz="1200"/>
            </a:p>
          </p:txBody>
        </p:sp>
        <p:sp>
          <p:nvSpPr>
            <p:cNvPr id="32" name="TextBox 32">
              <a:extLst>
                <a:ext uri="{FF2B5EF4-FFF2-40B4-BE49-F238E27FC236}">
                  <a16:creationId xmlns:a16="http://schemas.microsoft.com/office/drawing/2014/main" id="{68DF3A72-9FFF-11B7-77DC-5147CE647E83}"/>
                </a:ext>
              </a:extLst>
            </p:cNvPr>
            <p:cNvSpPr txBox="1"/>
            <p:nvPr/>
          </p:nvSpPr>
          <p:spPr>
            <a:xfrm>
              <a:off x="139700" y="101600"/>
              <a:ext cx="533400" cy="571500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algn="ctr">
                <a:lnSpc>
                  <a:spcPts val="1614"/>
                </a:lnSpc>
              </a:pPr>
              <a:endParaRPr sz="1200"/>
            </a:p>
          </p:txBody>
        </p:sp>
      </p:grpSp>
      <p:grpSp>
        <p:nvGrpSpPr>
          <p:cNvPr id="33" name="Group 33">
            <a:extLst>
              <a:ext uri="{FF2B5EF4-FFF2-40B4-BE49-F238E27FC236}">
                <a16:creationId xmlns:a16="http://schemas.microsoft.com/office/drawing/2014/main" id="{5C3BF7FD-8F1B-3C33-5196-56685A3534CC}"/>
              </a:ext>
            </a:extLst>
          </p:cNvPr>
          <p:cNvGrpSpPr/>
          <p:nvPr/>
        </p:nvGrpSpPr>
        <p:grpSpPr>
          <a:xfrm>
            <a:off x="-1604064" y="5563701"/>
            <a:ext cx="4382579" cy="4382579"/>
            <a:chOff x="0" y="0"/>
            <a:chExt cx="812800" cy="812800"/>
          </a:xfrm>
        </p:grpSpPr>
        <p:sp>
          <p:nvSpPr>
            <p:cNvPr id="34" name="Freeform 34">
              <a:extLst>
                <a:ext uri="{FF2B5EF4-FFF2-40B4-BE49-F238E27FC236}">
                  <a16:creationId xmlns:a16="http://schemas.microsoft.com/office/drawing/2014/main" id="{A75D2E20-7F1B-1669-BCCD-4118F1A866F1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lnTo>
                    <a:pt x="812800" y="406400"/>
                  </a:lnTo>
                  <a:lnTo>
                    <a:pt x="406400" y="812800"/>
                  </a:lnTo>
                  <a:lnTo>
                    <a:pt x="0" y="406400"/>
                  </a:lnTo>
                  <a:lnTo>
                    <a:pt x="406400" y="0"/>
                  </a:lnTo>
                  <a:close/>
                </a:path>
              </a:pathLst>
            </a:custGeom>
            <a:ln w="381000" cap="sq">
              <a:solidFill>
                <a:srgbClr val="095D40"/>
              </a:solidFill>
              <a:prstDash val="solid"/>
              <a:miter/>
            </a:ln>
          </p:spPr>
          <p:txBody>
            <a:bodyPr/>
            <a:lstStyle/>
            <a:p>
              <a:endParaRPr lang="en-US" sz="1200"/>
            </a:p>
          </p:txBody>
        </p:sp>
        <p:sp>
          <p:nvSpPr>
            <p:cNvPr id="35" name="TextBox 35">
              <a:extLst>
                <a:ext uri="{FF2B5EF4-FFF2-40B4-BE49-F238E27FC236}">
                  <a16:creationId xmlns:a16="http://schemas.microsoft.com/office/drawing/2014/main" id="{6563DD01-297F-9B85-0953-77343D6622BE}"/>
                </a:ext>
              </a:extLst>
            </p:cNvPr>
            <p:cNvSpPr txBox="1"/>
            <p:nvPr/>
          </p:nvSpPr>
          <p:spPr>
            <a:xfrm>
              <a:off x="139700" y="101600"/>
              <a:ext cx="533400" cy="571500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algn="ctr">
                <a:lnSpc>
                  <a:spcPts val="1614"/>
                </a:lnSpc>
              </a:pPr>
              <a:endParaRPr sz="1200"/>
            </a:p>
          </p:txBody>
        </p:sp>
      </p:grpSp>
      <p:grpSp>
        <p:nvGrpSpPr>
          <p:cNvPr id="36" name="Group 36">
            <a:extLst>
              <a:ext uri="{FF2B5EF4-FFF2-40B4-BE49-F238E27FC236}">
                <a16:creationId xmlns:a16="http://schemas.microsoft.com/office/drawing/2014/main" id="{A309FD25-D41A-BDF3-C247-ACB13E6D609B}"/>
              </a:ext>
            </a:extLst>
          </p:cNvPr>
          <p:cNvGrpSpPr/>
          <p:nvPr/>
        </p:nvGrpSpPr>
        <p:grpSpPr>
          <a:xfrm>
            <a:off x="9748057" y="-2036883"/>
            <a:ext cx="4382579" cy="4382579"/>
            <a:chOff x="0" y="0"/>
            <a:chExt cx="812800" cy="812800"/>
          </a:xfrm>
        </p:grpSpPr>
        <p:sp>
          <p:nvSpPr>
            <p:cNvPr id="37" name="Freeform 37">
              <a:extLst>
                <a:ext uri="{FF2B5EF4-FFF2-40B4-BE49-F238E27FC236}">
                  <a16:creationId xmlns:a16="http://schemas.microsoft.com/office/drawing/2014/main" id="{A704431B-E74B-255E-F287-0D43609801EE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lnTo>
                    <a:pt x="812800" y="406400"/>
                  </a:lnTo>
                  <a:lnTo>
                    <a:pt x="406400" y="812800"/>
                  </a:lnTo>
                  <a:lnTo>
                    <a:pt x="0" y="406400"/>
                  </a:lnTo>
                  <a:lnTo>
                    <a:pt x="406400" y="0"/>
                  </a:lnTo>
                  <a:close/>
                </a:path>
              </a:pathLst>
            </a:custGeom>
            <a:ln w="381000" cap="sq">
              <a:solidFill>
                <a:srgbClr val="095D40"/>
              </a:solidFill>
              <a:prstDash val="solid"/>
              <a:miter/>
            </a:ln>
          </p:spPr>
          <p:txBody>
            <a:bodyPr/>
            <a:lstStyle/>
            <a:p>
              <a:endParaRPr lang="en-US" sz="1200"/>
            </a:p>
          </p:txBody>
        </p:sp>
        <p:sp>
          <p:nvSpPr>
            <p:cNvPr id="38" name="TextBox 38">
              <a:extLst>
                <a:ext uri="{FF2B5EF4-FFF2-40B4-BE49-F238E27FC236}">
                  <a16:creationId xmlns:a16="http://schemas.microsoft.com/office/drawing/2014/main" id="{B142A887-085A-A401-69A3-A6F0DD61F671}"/>
                </a:ext>
              </a:extLst>
            </p:cNvPr>
            <p:cNvSpPr txBox="1"/>
            <p:nvPr/>
          </p:nvSpPr>
          <p:spPr>
            <a:xfrm>
              <a:off x="139700" y="101600"/>
              <a:ext cx="533400" cy="571500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algn="ctr">
                <a:lnSpc>
                  <a:spcPts val="1614"/>
                </a:lnSpc>
              </a:pPr>
              <a:endParaRPr sz="1200"/>
            </a:p>
          </p:txBody>
        </p:sp>
      </p:grpSp>
      <p:pic>
        <p:nvPicPr>
          <p:cNvPr id="7" name="Picture 6">
            <a:extLst>
              <a:ext uri="{FF2B5EF4-FFF2-40B4-BE49-F238E27FC236}">
                <a16:creationId xmlns:a16="http://schemas.microsoft.com/office/drawing/2014/main" id="{21C30C96-732C-24F0-553B-60B07C09DEE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579" y="-64351"/>
            <a:ext cx="2397632" cy="863147"/>
          </a:xfrm>
          <a:prstGeom prst="rect">
            <a:avLst/>
          </a:prstGeom>
        </p:spPr>
      </p:pic>
      <p:pic>
        <p:nvPicPr>
          <p:cNvPr id="2" name="object 2">
            <a:extLst>
              <a:ext uri="{FF2B5EF4-FFF2-40B4-BE49-F238E27FC236}">
                <a16:creationId xmlns:a16="http://schemas.microsoft.com/office/drawing/2014/main" id="{6C7DFD96-09C3-22CC-47FF-96F92916448C}"/>
              </a:ext>
            </a:extLst>
          </p:cNvPr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8289919" y="1840745"/>
            <a:ext cx="2140777" cy="1667300"/>
          </a:xfrm>
          <a:prstGeom prst="rect">
            <a:avLst/>
          </a:prstGeom>
        </p:spPr>
      </p:pic>
      <p:pic>
        <p:nvPicPr>
          <p:cNvPr id="14" name="object 6">
            <a:extLst>
              <a:ext uri="{FF2B5EF4-FFF2-40B4-BE49-F238E27FC236}">
                <a16:creationId xmlns:a16="http://schemas.microsoft.com/office/drawing/2014/main" id="{08F1805A-FFDE-FD1C-B3C1-FAC1B8D99959}"/>
              </a:ext>
            </a:extLst>
          </p:cNvPr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6869722" y="1854511"/>
            <a:ext cx="1060731" cy="1667300"/>
          </a:xfrm>
          <a:prstGeom prst="rect">
            <a:avLst/>
          </a:prstGeom>
        </p:spPr>
      </p:pic>
      <p:pic>
        <p:nvPicPr>
          <p:cNvPr id="15" name="object 7">
            <a:extLst>
              <a:ext uri="{FF2B5EF4-FFF2-40B4-BE49-F238E27FC236}">
                <a16:creationId xmlns:a16="http://schemas.microsoft.com/office/drawing/2014/main" id="{0B3788C1-D78E-3F81-5CBB-B89AB4E405BC}"/>
              </a:ext>
            </a:extLst>
          </p:cNvPr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6832938" y="3874889"/>
            <a:ext cx="3805430" cy="2597878"/>
          </a:xfrm>
          <a:prstGeom prst="rect">
            <a:avLst/>
          </a:prstGeom>
        </p:spPr>
      </p:pic>
      <p:sp>
        <p:nvSpPr>
          <p:cNvPr id="16" name="object 4">
            <a:extLst>
              <a:ext uri="{FF2B5EF4-FFF2-40B4-BE49-F238E27FC236}">
                <a16:creationId xmlns:a16="http://schemas.microsoft.com/office/drawing/2014/main" id="{1C82D937-E7AA-7C58-9822-F156FC1A2A99}"/>
              </a:ext>
            </a:extLst>
          </p:cNvPr>
          <p:cNvSpPr txBox="1"/>
          <p:nvPr/>
        </p:nvSpPr>
        <p:spPr>
          <a:xfrm>
            <a:off x="6396030" y="870694"/>
            <a:ext cx="5119367" cy="94961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98145" indent="-385445">
              <a:lnSpc>
                <a:spcPts val="1939"/>
              </a:lnSpc>
              <a:spcBef>
                <a:spcPts val="105"/>
              </a:spcBef>
              <a:buFont typeface="Wingdings"/>
              <a:buChar char=""/>
              <a:tabLst>
                <a:tab pos="398145" algn="l"/>
              </a:tabLst>
            </a:pPr>
            <a:r>
              <a:rPr sz="1100" dirty="0">
                <a:latin typeface="Calibri"/>
                <a:cs typeface="Calibri"/>
              </a:rPr>
              <a:t>Location:</a:t>
            </a:r>
            <a:r>
              <a:rPr sz="1100" spc="-4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Stone</a:t>
            </a:r>
            <a:r>
              <a:rPr sz="1100" spc="-35" dirty="0">
                <a:latin typeface="Calibri"/>
                <a:cs typeface="Calibri"/>
              </a:rPr>
              <a:t> </a:t>
            </a:r>
            <a:r>
              <a:rPr sz="1100" spc="-10" dirty="0">
                <a:latin typeface="Calibri"/>
                <a:cs typeface="Calibri"/>
              </a:rPr>
              <a:t>Mountain,</a:t>
            </a:r>
            <a:r>
              <a:rPr sz="1100" spc="-50" dirty="0">
                <a:latin typeface="Calibri"/>
                <a:cs typeface="Calibri"/>
              </a:rPr>
              <a:t> </a:t>
            </a:r>
            <a:r>
              <a:rPr sz="1100" spc="-25" dirty="0">
                <a:latin typeface="Calibri"/>
                <a:cs typeface="Calibri"/>
              </a:rPr>
              <a:t>GA</a:t>
            </a:r>
            <a:endParaRPr sz="1100" dirty="0">
              <a:latin typeface="Calibri"/>
              <a:cs typeface="Calibri"/>
            </a:endParaRPr>
          </a:p>
          <a:p>
            <a:pPr marL="398145" indent="-385445">
              <a:lnSpc>
                <a:spcPts val="1835"/>
              </a:lnSpc>
              <a:buFont typeface="Wingdings"/>
              <a:buChar char=""/>
              <a:tabLst>
                <a:tab pos="398145" algn="l"/>
              </a:tabLst>
            </a:pPr>
            <a:r>
              <a:rPr sz="1100" dirty="0">
                <a:latin typeface="Calibri"/>
                <a:cs typeface="Calibri"/>
              </a:rPr>
              <a:t>Delivered</a:t>
            </a:r>
            <a:r>
              <a:rPr sz="1100" spc="-35" dirty="0">
                <a:latin typeface="Calibri"/>
                <a:cs typeface="Calibri"/>
              </a:rPr>
              <a:t> </a:t>
            </a:r>
            <a:r>
              <a:rPr sz="1100" spc="-10" dirty="0">
                <a:latin typeface="Calibri"/>
                <a:cs typeface="Calibri"/>
              </a:rPr>
              <a:t>Equipment:</a:t>
            </a:r>
            <a:r>
              <a:rPr sz="1100" spc="-55" dirty="0">
                <a:latin typeface="Calibri"/>
                <a:cs typeface="Calibri"/>
              </a:rPr>
              <a:t> </a:t>
            </a:r>
            <a:r>
              <a:rPr lang="en-US" sz="1100" dirty="0">
                <a:latin typeface="Calibri"/>
                <a:cs typeface="Calibri"/>
              </a:rPr>
              <a:t>Battery Manufacture Line System</a:t>
            </a:r>
            <a:endParaRPr sz="1100" dirty="0">
              <a:latin typeface="Calibri"/>
              <a:cs typeface="Calibri"/>
            </a:endParaRPr>
          </a:p>
          <a:p>
            <a:pPr marL="398145" indent="-385445">
              <a:lnSpc>
                <a:spcPts val="1835"/>
              </a:lnSpc>
              <a:buFont typeface="Wingdings"/>
              <a:buChar char=""/>
              <a:tabLst>
                <a:tab pos="398145" algn="l"/>
              </a:tabLst>
            </a:pPr>
            <a:r>
              <a:rPr sz="1100" spc="-10" dirty="0">
                <a:latin typeface="Calibri"/>
                <a:cs typeface="Calibri"/>
              </a:rPr>
              <a:t>Completed Services:</a:t>
            </a:r>
            <a:endParaRPr sz="1100" dirty="0">
              <a:latin typeface="Calibri"/>
              <a:cs typeface="Calibri"/>
            </a:endParaRPr>
          </a:p>
          <a:p>
            <a:pPr marL="405765">
              <a:lnSpc>
                <a:spcPts val="1835"/>
              </a:lnSpc>
            </a:pPr>
            <a:r>
              <a:rPr sz="1100" dirty="0">
                <a:latin typeface="Calibri"/>
                <a:cs typeface="Calibri"/>
              </a:rPr>
              <a:t>Engineering</a:t>
            </a:r>
            <a:r>
              <a:rPr sz="1100" spc="-1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design,</a:t>
            </a:r>
            <a:r>
              <a:rPr sz="1100" spc="-4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machine</a:t>
            </a:r>
            <a:r>
              <a:rPr sz="1100" spc="-2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build,</a:t>
            </a:r>
            <a:r>
              <a:rPr sz="1100" spc="-35" dirty="0">
                <a:latin typeface="Calibri"/>
                <a:cs typeface="Calibri"/>
              </a:rPr>
              <a:t> </a:t>
            </a:r>
            <a:r>
              <a:rPr sz="1100" spc="-10" dirty="0">
                <a:latin typeface="Calibri"/>
                <a:cs typeface="Calibri"/>
              </a:rPr>
              <a:t>commissioning</a:t>
            </a:r>
            <a:r>
              <a:rPr sz="1100" spc="-3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and</a:t>
            </a:r>
            <a:r>
              <a:rPr sz="1100" spc="-30" dirty="0">
                <a:latin typeface="Calibri"/>
                <a:cs typeface="Calibri"/>
              </a:rPr>
              <a:t> </a:t>
            </a:r>
            <a:r>
              <a:rPr sz="1100" spc="-10" dirty="0">
                <a:latin typeface="Calibri"/>
                <a:cs typeface="Calibri"/>
              </a:rPr>
              <a:t>production</a:t>
            </a:r>
            <a:r>
              <a:rPr sz="1100" spc="-50" dirty="0">
                <a:latin typeface="Calibri"/>
                <a:cs typeface="Calibri"/>
              </a:rPr>
              <a:t> </a:t>
            </a:r>
            <a:r>
              <a:rPr sz="1100" spc="-10" dirty="0">
                <a:latin typeface="Calibri"/>
                <a:cs typeface="Calibri"/>
              </a:rPr>
              <a:t>support</a:t>
            </a:r>
            <a:endParaRPr sz="1100" dirty="0">
              <a:latin typeface="Calibri"/>
              <a:cs typeface="Calibri"/>
            </a:endParaRPr>
          </a:p>
        </p:txBody>
      </p:sp>
      <p:pic>
        <p:nvPicPr>
          <p:cNvPr id="17" name="object 2">
            <a:extLst>
              <a:ext uri="{FF2B5EF4-FFF2-40B4-BE49-F238E27FC236}">
                <a16:creationId xmlns:a16="http://schemas.microsoft.com/office/drawing/2014/main" id="{27805F21-ADB5-1F0B-DCBE-4B861FEC2569}"/>
              </a:ext>
            </a:extLst>
          </p:cNvPr>
          <p:cNvPicPr/>
          <p:nvPr/>
        </p:nvPicPr>
        <p:blipFill>
          <a:blip r:embed="rId8" cstate="print"/>
          <a:srcRect t="17887" b="6688"/>
          <a:stretch>
            <a:fillRect/>
          </a:stretch>
        </p:blipFill>
        <p:spPr>
          <a:xfrm>
            <a:off x="1430847" y="2176908"/>
            <a:ext cx="1740153" cy="2333395"/>
          </a:xfrm>
          <a:prstGeom prst="rect">
            <a:avLst/>
          </a:prstGeom>
        </p:spPr>
      </p:pic>
      <p:pic>
        <p:nvPicPr>
          <p:cNvPr id="19" name="object 7">
            <a:extLst>
              <a:ext uri="{FF2B5EF4-FFF2-40B4-BE49-F238E27FC236}">
                <a16:creationId xmlns:a16="http://schemas.microsoft.com/office/drawing/2014/main" id="{7279F2E4-32EF-9674-2BA1-F943196C071D}"/>
              </a:ext>
            </a:extLst>
          </p:cNvPr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3304746" y="2815963"/>
            <a:ext cx="2175711" cy="1667678"/>
          </a:xfrm>
          <a:prstGeom prst="rect">
            <a:avLst/>
          </a:prstGeom>
        </p:spPr>
      </p:pic>
      <p:sp>
        <p:nvSpPr>
          <p:cNvPr id="24" name="object 6">
            <a:extLst>
              <a:ext uri="{FF2B5EF4-FFF2-40B4-BE49-F238E27FC236}">
                <a16:creationId xmlns:a16="http://schemas.microsoft.com/office/drawing/2014/main" id="{5CDA5439-3A9F-EDF7-94A1-C79CC860AE64}"/>
              </a:ext>
            </a:extLst>
          </p:cNvPr>
          <p:cNvSpPr txBox="1"/>
          <p:nvPr/>
        </p:nvSpPr>
        <p:spPr>
          <a:xfrm>
            <a:off x="826186" y="954826"/>
            <a:ext cx="6112409" cy="100226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03860" indent="-391160">
              <a:lnSpc>
                <a:spcPts val="2050"/>
              </a:lnSpc>
              <a:spcBef>
                <a:spcPts val="100"/>
              </a:spcBef>
              <a:buFont typeface="Wingdings"/>
              <a:buChar char=""/>
              <a:tabLst>
                <a:tab pos="403860" algn="l"/>
              </a:tabLst>
            </a:pPr>
            <a:r>
              <a:rPr sz="1100" dirty="0">
                <a:latin typeface="Calibri"/>
                <a:cs typeface="Calibri"/>
              </a:rPr>
              <a:t>Location:</a:t>
            </a:r>
            <a:r>
              <a:rPr sz="1100" spc="-7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Marshall,</a:t>
            </a:r>
            <a:r>
              <a:rPr sz="1100" spc="-85" dirty="0">
                <a:latin typeface="Calibri"/>
                <a:cs typeface="Calibri"/>
              </a:rPr>
              <a:t> </a:t>
            </a:r>
            <a:r>
              <a:rPr sz="1100" spc="-25" dirty="0">
                <a:latin typeface="Calibri"/>
                <a:cs typeface="Calibri"/>
              </a:rPr>
              <a:t>MI</a:t>
            </a:r>
            <a:endParaRPr sz="1100" dirty="0">
              <a:latin typeface="Calibri"/>
              <a:cs typeface="Calibri"/>
            </a:endParaRPr>
          </a:p>
          <a:p>
            <a:pPr marL="403860" marR="1730375" indent="-391160">
              <a:lnSpc>
                <a:spcPts val="1939"/>
              </a:lnSpc>
              <a:spcBef>
                <a:spcPts val="140"/>
              </a:spcBef>
              <a:buFont typeface="Wingdings"/>
              <a:buChar char=""/>
              <a:tabLst>
                <a:tab pos="431800" algn="l"/>
              </a:tabLst>
            </a:pPr>
            <a:r>
              <a:rPr sz="1100" dirty="0">
                <a:latin typeface="Calibri"/>
                <a:cs typeface="Calibri"/>
              </a:rPr>
              <a:t>Delivered</a:t>
            </a:r>
            <a:r>
              <a:rPr sz="1100" spc="-95" dirty="0">
                <a:latin typeface="Calibri"/>
                <a:cs typeface="Calibri"/>
              </a:rPr>
              <a:t> </a:t>
            </a:r>
            <a:r>
              <a:rPr sz="1100" spc="-10" dirty="0">
                <a:latin typeface="Calibri"/>
                <a:cs typeface="Calibri"/>
              </a:rPr>
              <a:t>Equipment: </a:t>
            </a:r>
            <a:r>
              <a:rPr lang="en-US" sz="1100" dirty="0">
                <a:cs typeface="Calibri"/>
              </a:rPr>
              <a:t>Battery Manufacture </a:t>
            </a:r>
            <a:r>
              <a:rPr sz="1100" dirty="0">
                <a:latin typeface="Calibri"/>
                <a:cs typeface="Calibri"/>
              </a:rPr>
              <a:t>IQC</a:t>
            </a:r>
            <a:r>
              <a:rPr sz="1100" spc="-45" dirty="0">
                <a:latin typeface="Calibri"/>
                <a:cs typeface="Calibri"/>
              </a:rPr>
              <a:t> </a:t>
            </a:r>
            <a:r>
              <a:rPr sz="1100" spc="-10" dirty="0">
                <a:latin typeface="Calibri"/>
                <a:cs typeface="Calibri"/>
              </a:rPr>
              <a:t>Equipment</a:t>
            </a:r>
            <a:r>
              <a:rPr lang="zh-CN" altLang="en-US" sz="1100" spc="-10" dirty="0">
                <a:latin typeface="Calibri"/>
                <a:cs typeface="Calibri"/>
              </a:rPr>
              <a:t>， </a:t>
            </a:r>
            <a:r>
              <a:rPr lang="en-US" sz="1100" dirty="0">
                <a:cs typeface="Calibri"/>
              </a:rPr>
              <a:t>QA</a:t>
            </a:r>
            <a:r>
              <a:rPr lang="en-US" sz="1100" spc="-15" dirty="0">
                <a:cs typeface="Calibri"/>
              </a:rPr>
              <a:t> </a:t>
            </a:r>
            <a:r>
              <a:rPr lang="en-US" sz="1100" dirty="0">
                <a:cs typeface="Calibri"/>
              </a:rPr>
              <a:t>Lab </a:t>
            </a:r>
            <a:r>
              <a:rPr lang="en-US" sz="1100" spc="-10" dirty="0">
                <a:cs typeface="Calibri"/>
              </a:rPr>
              <a:t>Equipment; </a:t>
            </a:r>
            <a:r>
              <a:rPr sz="1100" dirty="0">
                <a:latin typeface="Calibri"/>
                <a:cs typeface="Calibri"/>
              </a:rPr>
              <a:t>Battery</a:t>
            </a:r>
            <a:r>
              <a:rPr sz="1100" spc="-70" dirty="0">
                <a:latin typeface="Calibri"/>
                <a:cs typeface="Calibri"/>
              </a:rPr>
              <a:t> </a:t>
            </a:r>
            <a:r>
              <a:rPr sz="1100" spc="-25" dirty="0">
                <a:latin typeface="Calibri"/>
                <a:cs typeface="Calibri"/>
              </a:rPr>
              <a:t>Testing</a:t>
            </a:r>
            <a:r>
              <a:rPr sz="1100" spc="-5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Accessories</a:t>
            </a:r>
            <a:r>
              <a:rPr sz="1100" spc="-6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and</a:t>
            </a:r>
            <a:r>
              <a:rPr sz="1100" spc="-45" dirty="0">
                <a:latin typeface="Calibri"/>
                <a:cs typeface="Calibri"/>
              </a:rPr>
              <a:t> </a:t>
            </a:r>
            <a:r>
              <a:rPr sz="1100" spc="-10" dirty="0">
                <a:latin typeface="Calibri"/>
                <a:cs typeface="Calibri"/>
              </a:rPr>
              <a:t>Parts;</a:t>
            </a:r>
            <a:endParaRPr sz="1100" dirty="0">
              <a:latin typeface="Calibri"/>
              <a:cs typeface="Calibri"/>
            </a:endParaRPr>
          </a:p>
          <a:p>
            <a:pPr marL="298450" indent="-285750">
              <a:lnSpc>
                <a:spcPts val="1945"/>
              </a:lnSpc>
              <a:buFont typeface="Wingdings"/>
              <a:buChar char=""/>
              <a:tabLst>
                <a:tab pos="298450" algn="l"/>
              </a:tabLst>
            </a:pPr>
            <a:r>
              <a:rPr sz="1100" spc="-10" dirty="0">
                <a:latin typeface="Calibri"/>
                <a:cs typeface="Calibri"/>
              </a:rPr>
              <a:t>Completed</a:t>
            </a:r>
            <a:r>
              <a:rPr sz="1100" spc="-20" dirty="0">
                <a:latin typeface="Calibri"/>
                <a:cs typeface="Calibri"/>
              </a:rPr>
              <a:t> </a:t>
            </a:r>
            <a:r>
              <a:rPr sz="1100" spc="-10" dirty="0">
                <a:latin typeface="Calibri"/>
                <a:cs typeface="Calibri"/>
              </a:rPr>
              <a:t>Services:</a:t>
            </a:r>
            <a:r>
              <a:rPr lang="en-US" sz="1100" spc="-1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Commissioning</a:t>
            </a:r>
            <a:r>
              <a:rPr sz="1100" spc="-4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and</a:t>
            </a:r>
            <a:r>
              <a:rPr sz="1100" spc="-35" dirty="0">
                <a:latin typeface="Calibri"/>
                <a:cs typeface="Calibri"/>
              </a:rPr>
              <a:t> </a:t>
            </a:r>
            <a:r>
              <a:rPr sz="1100" spc="-10" dirty="0">
                <a:latin typeface="Calibri"/>
                <a:cs typeface="Calibri"/>
              </a:rPr>
              <a:t>Application</a:t>
            </a:r>
            <a:r>
              <a:rPr sz="1100" spc="-30" dirty="0">
                <a:latin typeface="Calibri"/>
                <a:cs typeface="Calibri"/>
              </a:rPr>
              <a:t> </a:t>
            </a:r>
            <a:r>
              <a:rPr sz="1100" spc="-10" dirty="0">
                <a:latin typeface="Calibri"/>
                <a:cs typeface="Calibri"/>
              </a:rPr>
              <a:t>Support</a:t>
            </a:r>
            <a:endParaRPr sz="1100" dirty="0">
              <a:latin typeface="Calibri"/>
              <a:cs typeface="Calibri"/>
            </a:endParaRPr>
          </a:p>
        </p:txBody>
      </p:sp>
      <p:pic>
        <p:nvPicPr>
          <p:cNvPr id="3" name="Online Media 2" title="Inside Advanced Battery Manufacturing | Vanguard Facility Tour - Tucker, GA">
            <a:hlinkClick r:id="" action="ppaction://media"/>
            <a:extLst>
              <a:ext uri="{FF2B5EF4-FFF2-40B4-BE49-F238E27FC236}">
                <a16:creationId xmlns:a16="http://schemas.microsoft.com/office/drawing/2014/main" id="{5F40A8E8-21D0-82D0-3B23-F6E705FD80B9}"/>
              </a:ext>
            </a:extLst>
          </p:cNvPr>
          <p:cNvPicPr>
            <a:picLocks noRot="1" noChangeAspect="1"/>
          </p:cNvPicPr>
          <p:nvPr>
            <a:videoFile r:link="rId1"/>
          </p:nvPr>
        </p:nvPicPr>
        <p:blipFill>
          <a:blip r:embed="rId10"/>
          <a:stretch>
            <a:fillRect/>
          </a:stretch>
        </p:blipFill>
        <p:spPr>
          <a:xfrm>
            <a:off x="6832938" y="3569948"/>
            <a:ext cx="5195538" cy="2935479"/>
          </a:xfrm>
          <a:prstGeom prst="rect">
            <a:avLst/>
          </a:prstGeom>
        </p:spPr>
      </p:pic>
      <p:sp>
        <p:nvSpPr>
          <p:cNvPr id="4" name="object 4">
            <a:extLst>
              <a:ext uri="{FF2B5EF4-FFF2-40B4-BE49-F238E27FC236}">
                <a16:creationId xmlns:a16="http://schemas.microsoft.com/office/drawing/2014/main" id="{22442361-4D42-1A7E-75F8-E9CC1596365C}"/>
              </a:ext>
            </a:extLst>
          </p:cNvPr>
          <p:cNvSpPr txBox="1"/>
          <p:nvPr/>
        </p:nvSpPr>
        <p:spPr>
          <a:xfrm>
            <a:off x="7400087" y="6502168"/>
            <a:ext cx="5119366" cy="233462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ts val="1939"/>
              </a:lnSpc>
              <a:spcBef>
                <a:spcPts val="105"/>
              </a:spcBef>
              <a:tabLst>
                <a:tab pos="398145" algn="l"/>
              </a:tabLst>
            </a:pPr>
            <a:r>
              <a:rPr lang="en-US" sz="1100" dirty="0">
                <a:latin typeface="Calibri"/>
                <a:cs typeface="Calibri"/>
              </a:rPr>
              <a:t>Source: Customer-published public video; equipment supplied by </a:t>
            </a:r>
            <a:r>
              <a:rPr lang="en-US" sz="1100" dirty="0" err="1">
                <a:latin typeface="Calibri"/>
                <a:cs typeface="Calibri"/>
              </a:rPr>
              <a:t>Enertest</a:t>
            </a:r>
            <a:r>
              <a:rPr lang="en-US" sz="1100" dirty="0">
                <a:latin typeface="Calibri"/>
                <a:cs typeface="Calibri"/>
              </a:rPr>
              <a:t>.</a:t>
            </a:r>
            <a:endParaRPr sz="1100" dirty="0"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0820985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"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103C70-1B8B-9257-B169-78676137F5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5">
            <a:extLst>
              <a:ext uri="{FF2B5EF4-FFF2-40B4-BE49-F238E27FC236}">
                <a16:creationId xmlns:a16="http://schemas.microsoft.com/office/drawing/2014/main" id="{1AA21679-CD22-8BF1-9533-E46C1E583F68}"/>
              </a:ext>
            </a:extLst>
          </p:cNvPr>
          <p:cNvSpPr txBox="1"/>
          <p:nvPr/>
        </p:nvSpPr>
        <p:spPr>
          <a:xfrm>
            <a:off x="350295" y="2642196"/>
            <a:ext cx="3495017" cy="2507654"/>
          </a:xfrm>
          <a:prstGeom prst="rect">
            <a:avLst/>
          </a:prstGeom>
        </p:spPr>
        <p:txBody>
          <a:bodyPr lIns="33867" tIns="33867" rIns="33867" bIns="33867" rtlCol="0" anchor="ctr"/>
          <a:lstStyle/>
          <a:p>
            <a:pPr algn="ctr">
              <a:lnSpc>
                <a:spcPts val="1773"/>
              </a:lnSpc>
            </a:pPr>
            <a:endParaRPr sz="1200"/>
          </a:p>
        </p:txBody>
      </p:sp>
      <p:grpSp>
        <p:nvGrpSpPr>
          <p:cNvPr id="20" name="Group 20">
            <a:extLst>
              <a:ext uri="{FF2B5EF4-FFF2-40B4-BE49-F238E27FC236}">
                <a16:creationId xmlns:a16="http://schemas.microsoft.com/office/drawing/2014/main" id="{F23C8DC7-EFD1-E1EF-5F81-48400982B1B7}"/>
              </a:ext>
            </a:extLst>
          </p:cNvPr>
          <p:cNvGrpSpPr/>
          <p:nvPr/>
        </p:nvGrpSpPr>
        <p:grpSpPr>
          <a:xfrm>
            <a:off x="9646457" y="-2725769"/>
            <a:ext cx="4382579" cy="4382579"/>
            <a:chOff x="0" y="0"/>
            <a:chExt cx="812800" cy="812800"/>
          </a:xfrm>
        </p:grpSpPr>
        <p:sp>
          <p:nvSpPr>
            <p:cNvPr id="21" name="Freeform 21">
              <a:extLst>
                <a:ext uri="{FF2B5EF4-FFF2-40B4-BE49-F238E27FC236}">
                  <a16:creationId xmlns:a16="http://schemas.microsoft.com/office/drawing/2014/main" id="{98D1A4D4-A9B6-51AD-366D-582BD42FDFFD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lnTo>
                    <a:pt x="812800" y="406400"/>
                  </a:lnTo>
                  <a:lnTo>
                    <a:pt x="406400" y="812800"/>
                  </a:lnTo>
                  <a:lnTo>
                    <a:pt x="0" y="4064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AEEA00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US" sz="1200"/>
            </a:p>
          </p:txBody>
        </p:sp>
        <p:sp>
          <p:nvSpPr>
            <p:cNvPr id="22" name="TextBox 22">
              <a:extLst>
                <a:ext uri="{FF2B5EF4-FFF2-40B4-BE49-F238E27FC236}">
                  <a16:creationId xmlns:a16="http://schemas.microsoft.com/office/drawing/2014/main" id="{62180B88-5416-80E9-14A0-7D1B2D60F5C4}"/>
                </a:ext>
              </a:extLst>
            </p:cNvPr>
            <p:cNvSpPr txBox="1"/>
            <p:nvPr/>
          </p:nvSpPr>
          <p:spPr>
            <a:xfrm>
              <a:off x="139700" y="101600"/>
              <a:ext cx="533400" cy="571500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algn="ctr">
                <a:lnSpc>
                  <a:spcPts val="1614"/>
                </a:lnSpc>
              </a:pPr>
              <a:endParaRPr sz="1200"/>
            </a:p>
          </p:txBody>
        </p:sp>
      </p:grpSp>
      <p:sp>
        <p:nvSpPr>
          <p:cNvPr id="23" name="TextBox 23">
            <a:extLst>
              <a:ext uri="{FF2B5EF4-FFF2-40B4-BE49-F238E27FC236}">
                <a16:creationId xmlns:a16="http://schemas.microsoft.com/office/drawing/2014/main" id="{49022B52-FA0B-E1AE-C3B5-D9464F445659}"/>
              </a:ext>
            </a:extLst>
          </p:cNvPr>
          <p:cNvSpPr txBox="1"/>
          <p:nvPr/>
        </p:nvSpPr>
        <p:spPr>
          <a:xfrm>
            <a:off x="3712135" y="211347"/>
            <a:ext cx="5501215" cy="52367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606"/>
              </a:lnSpc>
              <a:spcBef>
                <a:spcPct val="0"/>
              </a:spcBef>
            </a:pPr>
            <a:r>
              <a:rPr lang="en-US" altLang="zh-CN" sz="2400" b="1" dirty="0">
                <a:solidFill>
                  <a:srgbClr val="095D40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Customer Project Reference Book</a:t>
            </a:r>
          </a:p>
        </p:txBody>
      </p:sp>
      <p:grpSp>
        <p:nvGrpSpPr>
          <p:cNvPr id="27" name="Group 27">
            <a:extLst>
              <a:ext uri="{FF2B5EF4-FFF2-40B4-BE49-F238E27FC236}">
                <a16:creationId xmlns:a16="http://schemas.microsoft.com/office/drawing/2014/main" id="{44A35CFB-E70B-9A77-1B90-044951EB56E8}"/>
              </a:ext>
            </a:extLst>
          </p:cNvPr>
          <p:cNvGrpSpPr/>
          <p:nvPr/>
        </p:nvGrpSpPr>
        <p:grpSpPr>
          <a:xfrm>
            <a:off x="9748057" y="-2624169"/>
            <a:ext cx="4382579" cy="4382579"/>
            <a:chOff x="0" y="0"/>
            <a:chExt cx="812800" cy="812800"/>
          </a:xfrm>
        </p:grpSpPr>
        <p:sp>
          <p:nvSpPr>
            <p:cNvPr id="28" name="Freeform 28">
              <a:extLst>
                <a:ext uri="{FF2B5EF4-FFF2-40B4-BE49-F238E27FC236}">
                  <a16:creationId xmlns:a16="http://schemas.microsoft.com/office/drawing/2014/main" id="{90F7BC02-D852-4890-6758-583FDC2D99E2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lnTo>
                    <a:pt x="812800" y="406400"/>
                  </a:lnTo>
                  <a:lnTo>
                    <a:pt x="406400" y="812800"/>
                  </a:lnTo>
                  <a:lnTo>
                    <a:pt x="0" y="4064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AEEA00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US" sz="1200"/>
            </a:p>
          </p:txBody>
        </p:sp>
        <p:sp>
          <p:nvSpPr>
            <p:cNvPr id="29" name="TextBox 29">
              <a:extLst>
                <a:ext uri="{FF2B5EF4-FFF2-40B4-BE49-F238E27FC236}">
                  <a16:creationId xmlns:a16="http://schemas.microsoft.com/office/drawing/2014/main" id="{74B5CEDB-EFE1-A98E-8CBE-A867E4760540}"/>
                </a:ext>
              </a:extLst>
            </p:cNvPr>
            <p:cNvSpPr txBox="1"/>
            <p:nvPr/>
          </p:nvSpPr>
          <p:spPr>
            <a:xfrm>
              <a:off x="139700" y="101600"/>
              <a:ext cx="533400" cy="571500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algn="ctr">
                <a:lnSpc>
                  <a:spcPts val="1614"/>
                </a:lnSpc>
              </a:pPr>
              <a:endParaRPr sz="1200"/>
            </a:p>
          </p:txBody>
        </p:sp>
      </p:grpSp>
      <p:grpSp>
        <p:nvGrpSpPr>
          <p:cNvPr id="30" name="Group 30">
            <a:extLst>
              <a:ext uri="{FF2B5EF4-FFF2-40B4-BE49-F238E27FC236}">
                <a16:creationId xmlns:a16="http://schemas.microsoft.com/office/drawing/2014/main" id="{9D5C664A-5BD9-FD5B-F785-09F2A7D3CDA8}"/>
              </a:ext>
            </a:extLst>
          </p:cNvPr>
          <p:cNvGrpSpPr/>
          <p:nvPr/>
        </p:nvGrpSpPr>
        <p:grpSpPr>
          <a:xfrm>
            <a:off x="-586860" y="5768130"/>
            <a:ext cx="4382579" cy="4382579"/>
            <a:chOff x="0" y="0"/>
            <a:chExt cx="812800" cy="812800"/>
          </a:xfrm>
        </p:grpSpPr>
        <p:sp>
          <p:nvSpPr>
            <p:cNvPr id="31" name="Freeform 31">
              <a:extLst>
                <a:ext uri="{FF2B5EF4-FFF2-40B4-BE49-F238E27FC236}">
                  <a16:creationId xmlns:a16="http://schemas.microsoft.com/office/drawing/2014/main" id="{94246681-8343-B8E6-8153-7DCD90139984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lnTo>
                    <a:pt x="812800" y="406400"/>
                  </a:lnTo>
                  <a:lnTo>
                    <a:pt x="406400" y="812800"/>
                  </a:lnTo>
                  <a:lnTo>
                    <a:pt x="0" y="4064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AEEA00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US" sz="1200"/>
            </a:p>
          </p:txBody>
        </p:sp>
        <p:sp>
          <p:nvSpPr>
            <p:cNvPr id="32" name="TextBox 32">
              <a:extLst>
                <a:ext uri="{FF2B5EF4-FFF2-40B4-BE49-F238E27FC236}">
                  <a16:creationId xmlns:a16="http://schemas.microsoft.com/office/drawing/2014/main" id="{54B5E169-30BA-BA45-CB8A-BCFFFB7D29CC}"/>
                </a:ext>
              </a:extLst>
            </p:cNvPr>
            <p:cNvSpPr txBox="1"/>
            <p:nvPr/>
          </p:nvSpPr>
          <p:spPr>
            <a:xfrm>
              <a:off x="139700" y="101600"/>
              <a:ext cx="533400" cy="571500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algn="ctr">
                <a:lnSpc>
                  <a:spcPts val="1614"/>
                </a:lnSpc>
              </a:pPr>
              <a:endParaRPr sz="1200"/>
            </a:p>
          </p:txBody>
        </p:sp>
      </p:grpSp>
      <p:grpSp>
        <p:nvGrpSpPr>
          <p:cNvPr id="33" name="Group 33">
            <a:extLst>
              <a:ext uri="{FF2B5EF4-FFF2-40B4-BE49-F238E27FC236}">
                <a16:creationId xmlns:a16="http://schemas.microsoft.com/office/drawing/2014/main" id="{4F5F658F-C0C9-D5E1-1254-6F9EA147D94C}"/>
              </a:ext>
            </a:extLst>
          </p:cNvPr>
          <p:cNvGrpSpPr/>
          <p:nvPr/>
        </p:nvGrpSpPr>
        <p:grpSpPr>
          <a:xfrm>
            <a:off x="-1604064" y="5563701"/>
            <a:ext cx="4382579" cy="4382579"/>
            <a:chOff x="0" y="0"/>
            <a:chExt cx="812800" cy="812800"/>
          </a:xfrm>
        </p:grpSpPr>
        <p:sp>
          <p:nvSpPr>
            <p:cNvPr id="34" name="Freeform 34">
              <a:extLst>
                <a:ext uri="{FF2B5EF4-FFF2-40B4-BE49-F238E27FC236}">
                  <a16:creationId xmlns:a16="http://schemas.microsoft.com/office/drawing/2014/main" id="{54BE574A-5DD0-9032-18EF-BEEFD6A87876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lnTo>
                    <a:pt x="812800" y="406400"/>
                  </a:lnTo>
                  <a:lnTo>
                    <a:pt x="406400" y="812800"/>
                  </a:lnTo>
                  <a:lnTo>
                    <a:pt x="0" y="406400"/>
                  </a:lnTo>
                  <a:lnTo>
                    <a:pt x="406400" y="0"/>
                  </a:lnTo>
                  <a:close/>
                </a:path>
              </a:pathLst>
            </a:custGeom>
            <a:ln w="381000" cap="sq">
              <a:solidFill>
                <a:srgbClr val="095D40"/>
              </a:solidFill>
              <a:prstDash val="solid"/>
              <a:miter/>
            </a:ln>
          </p:spPr>
          <p:txBody>
            <a:bodyPr/>
            <a:lstStyle/>
            <a:p>
              <a:endParaRPr lang="en-US" sz="1200"/>
            </a:p>
          </p:txBody>
        </p:sp>
        <p:sp>
          <p:nvSpPr>
            <p:cNvPr id="35" name="TextBox 35">
              <a:extLst>
                <a:ext uri="{FF2B5EF4-FFF2-40B4-BE49-F238E27FC236}">
                  <a16:creationId xmlns:a16="http://schemas.microsoft.com/office/drawing/2014/main" id="{BB4A6303-F595-6136-CDA0-ADE6615E0047}"/>
                </a:ext>
              </a:extLst>
            </p:cNvPr>
            <p:cNvSpPr txBox="1"/>
            <p:nvPr/>
          </p:nvSpPr>
          <p:spPr>
            <a:xfrm>
              <a:off x="139700" y="101600"/>
              <a:ext cx="533400" cy="571500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algn="ctr">
                <a:lnSpc>
                  <a:spcPts val="1614"/>
                </a:lnSpc>
              </a:pPr>
              <a:endParaRPr sz="1200"/>
            </a:p>
          </p:txBody>
        </p:sp>
      </p:grpSp>
      <p:grpSp>
        <p:nvGrpSpPr>
          <p:cNvPr id="36" name="Group 36">
            <a:extLst>
              <a:ext uri="{FF2B5EF4-FFF2-40B4-BE49-F238E27FC236}">
                <a16:creationId xmlns:a16="http://schemas.microsoft.com/office/drawing/2014/main" id="{377A17D4-D558-04F5-BB2B-84D585863CC9}"/>
              </a:ext>
            </a:extLst>
          </p:cNvPr>
          <p:cNvGrpSpPr/>
          <p:nvPr/>
        </p:nvGrpSpPr>
        <p:grpSpPr>
          <a:xfrm>
            <a:off x="9748057" y="-2036883"/>
            <a:ext cx="4382579" cy="4382579"/>
            <a:chOff x="0" y="0"/>
            <a:chExt cx="812800" cy="812800"/>
          </a:xfrm>
        </p:grpSpPr>
        <p:sp>
          <p:nvSpPr>
            <p:cNvPr id="37" name="Freeform 37">
              <a:extLst>
                <a:ext uri="{FF2B5EF4-FFF2-40B4-BE49-F238E27FC236}">
                  <a16:creationId xmlns:a16="http://schemas.microsoft.com/office/drawing/2014/main" id="{CB5A9B1F-0D5E-A98D-76B2-653DF44CF6B5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lnTo>
                    <a:pt x="812800" y="406400"/>
                  </a:lnTo>
                  <a:lnTo>
                    <a:pt x="406400" y="812800"/>
                  </a:lnTo>
                  <a:lnTo>
                    <a:pt x="0" y="406400"/>
                  </a:lnTo>
                  <a:lnTo>
                    <a:pt x="406400" y="0"/>
                  </a:lnTo>
                  <a:close/>
                </a:path>
              </a:pathLst>
            </a:custGeom>
            <a:ln w="381000" cap="sq">
              <a:solidFill>
                <a:srgbClr val="095D40"/>
              </a:solidFill>
              <a:prstDash val="solid"/>
              <a:miter/>
            </a:ln>
          </p:spPr>
          <p:txBody>
            <a:bodyPr/>
            <a:lstStyle/>
            <a:p>
              <a:endParaRPr lang="en-US" sz="1200"/>
            </a:p>
          </p:txBody>
        </p:sp>
        <p:sp>
          <p:nvSpPr>
            <p:cNvPr id="38" name="TextBox 38">
              <a:extLst>
                <a:ext uri="{FF2B5EF4-FFF2-40B4-BE49-F238E27FC236}">
                  <a16:creationId xmlns:a16="http://schemas.microsoft.com/office/drawing/2014/main" id="{76031B9B-B277-DC99-F8BF-B30A664761A9}"/>
                </a:ext>
              </a:extLst>
            </p:cNvPr>
            <p:cNvSpPr txBox="1"/>
            <p:nvPr/>
          </p:nvSpPr>
          <p:spPr>
            <a:xfrm>
              <a:off x="139700" y="101600"/>
              <a:ext cx="533400" cy="571500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algn="ctr">
                <a:lnSpc>
                  <a:spcPts val="1614"/>
                </a:lnSpc>
              </a:pPr>
              <a:endParaRPr sz="1200"/>
            </a:p>
          </p:txBody>
        </p:sp>
      </p:grpSp>
      <p:pic>
        <p:nvPicPr>
          <p:cNvPr id="7" name="Picture 6">
            <a:extLst>
              <a:ext uri="{FF2B5EF4-FFF2-40B4-BE49-F238E27FC236}">
                <a16:creationId xmlns:a16="http://schemas.microsoft.com/office/drawing/2014/main" id="{92B6A416-41E4-3C13-0018-CC0CB45FCB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579" y="-64351"/>
            <a:ext cx="2397632" cy="863147"/>
          </a:xfrm>
          <a:prstGeom prst="rect">
            <a:avLst/>
          </a:prstGeom>
        </p:spPr>
      </p:pic>
      <p:pic>
        <p:nvPicPr>
          <p:cNvPr id="2" name="object 2">
            <a:extLst>
              <a:ext uri="{FF2B5EF4-FFF2-40B4-BE49-F238E27FC236}">
                <a16:creationId xmlns:a16="http://schemas.microsoft.com/office/drawing/2014/main" id="{8375913C-0CEA-2974-EAA9-377AE325A75B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278419" y="4361886"/>
            <a:ext cx="1932813" cy="2302383"/>
          </a:xfrm>
          <a:prstGeom prst="rect">
            <a:avLst/>
          </a:prstGeom>
        </p:spPr>
      </p:pic>
      <p:pic>
        <p:nvPicPr>
          <p:cNvPr id="13" name="object 3">
            <a:extLst>
              <a:ext uri="{FF2B5EF4-FFF2-40B4-BE49-F238E27FC236}">
                <a16:creationId xmlns:a16="http://schemas.microsoft.com/office/drawing/2014/main" id="{9094AC78-15B3-007C-6E3C-7626EC741C8F}"/>
              </a:ext>
            </a:extLst>
          </p:cNvPr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8487581" y="4361898"/>
            <a:ext cx="1789683" cy="2387217"/>
          </a:xfrm>
          <a:prstGeom prst="rect">
            <a:avLst/>
          </a:prstGeom>
        </p:spPr>
      </p:pic>
      <p:grpSp>
        <p:nvGrpSpPr>
          <p:cNvPr id="14" name="object 4">
            <a:extLst>
              <a:ext uri="{FF2B5EF4-FFF2-40B4-BE49-F238E27FC236}">
                <a16:creationId xmlns:a16="http://schemas.microsoft.com/office/drawing/2014/main" id="{230D5073-0591-29B1-2E1A-B9F86629DDA9}"/>
              </a:ext>
            </a:extLst>
          </p:cNvPr>
          <p:cNvGrpSpPr/>
          <p:nvPr/>
        </p:nvGrpSpPr>
        <p:grpSpPr>
          <a:xfrm>
            <a:off x="3336810" y="1263575"/>
            <a:ext cx="7285982" cy="2958058"/>
            <a:chOff x="6122599" y="1634871"/>
            <a:chExt cx="6203526" cy="2626487"/>
          </a:xfrm>
        </p:grpSpPr>
        <p:pic>
          <p:nvPicPr>
            <p:cNvPr id="15" name="object 5">
              <a:extLst>
                <a:ext uri="{FF2B5EF4-FFF2-40B4-BE49-F238E27FC236}">
                  <a16:creationId xmlns:a16="http://schemas.microsoft.com/office/drawing/2014/main" id="{AADF17A2-2628-8C02-ED53-97E56574DF24}"/>
                </a:ext>
              </a:extLst>
            </p:cNvPr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122599" y="1644650"/>
              <a:ext cx="3819524" cy="2606929"/>
            </a:xfrm>
            <a:prstGeom prst="rect">
              <a:avLst/>
            </a:prstGeom>
          </p:spPr>
        </p:pic>
        <p:pic>
          <p:nvPicPr>
            <p:cNvPr id="16" name="object 6">
              <a:extLst>
                <a:ext uri="{FF2B5EF4-FFF2-40B4-BE49-F238E27FC236}">
                  <a16:creationId xmlns:a16="http://schemas.microsoft.com/office/drawing/2014/main" id="{5239DEE4-24B0-0EE0-23DB-1822FC9929B5}"/>
                </a:ext>
              </a:extLst>
            </p:cNvPr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8506600" y="1634871"/>
              <a:ext cx="3819525" cy="2626487"/>
            </a:xfrm>
            <a:prstGeom prst="rect">
              <a:avLst/>
            </a:prstGeom>
          </p:spPr>
        </p:pic>
      </p:grpSp>
      <p:pic>
        <p:nvPicPr>
          <p:cNvPr id="17" name="object 7">
            <a:extLst>
              <a:ext uri="{FF2B5EF4-FFF2-40B4-BE49-F238E27FC236}">
                <a16:creationId xmlns:a16="http://schemas.microsoft.com/office/drawing/2014/main" id="{13806A9E-1981-E61A-6F83-798DC071F058}"/>
              </a:ext>
            </a:extLst>
          </p:cNvPr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6337470" y="4319755"/>
            <a:ext cx="1960118" cy="2386711"/>
          </a:xfrm>
          <a:prstGeom prst="rect">
            <a:avLst/>
          </a:prstGeom>
        </p:spPr>
      </p:pic>
      <p:sp>
        <p:nvSpPr>
          <p:cNvPr id="18" name="object 9">
            <a:extLst>
              <a:ext uri="{FF2B5EF4-FFF2-40B4-BE49-F238E27FC236}">
                <a16:creationId xmlns:a16="http://schemas.microsoft.com/office/drawing/2014/main" id="{A196B721-C1A4-5C27-4F3C-A027736A0020}"/>
              </a:ext>
            </a:extLst>
          </p:cNvPr>
          <p:cNvSpPr txBox="1">
            <a:spLocks/>
          </p:cNvSpPr>
          <p:nvPr/>
        </p:nvSpPr>
        <p:spPr>
          <a:xfrm>
            <a:off x="119886" y="1911798"/>
            <a:ext cx="3121927" cy="253890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98145" indent="-385445">
              <a:lnSpc>
                <a:spcPts val="1835"/>
              </a:lnSpc>
              <a:spcBef>
                <a:spcPts val="105"/>
              </a:spcBef>
              <a:buFont typeface="Wingdings"/>
              <a:buChar char=""/>
              <a:tabLst>
                <a:tab pos="398145" algn="l"/>
              </a:tabLst>
            </a:pPr>
            <a:r>
              <a:rPr lang="en-US" sz="1050" dirty="0"/>
              <a:t>Location:</a:t>
            </a:r>
            <a:r>
              <a:rPr lang="en-US" sz="1050" spc="-50" dirty="0"/>
              <a:t> </a:t>
            </a:r>
            <a:r>
              <a:rPr lang="en-US" sz="1050" dirty="0"/>
              <a:t>Auburn</a:t>
            </a:r>
            <a:r>
              <a:rPr lang="en-US" sz="1050" spc="-80" dirty="0"/>
              <a:t> </a:t>
            </a:r>
            <a:r>
              <a:rPr lang="en-US" sz="1050" dirty="0"/>
              <a:t>Hills,</a:t>
            </a:r>
            <a:r>
              <a:rPr lang="en-US" sz="1050" spc="-65" dirty="0"/>
              <a:t> </a:t>
            </a:r>
            <a:r>
              <a:rPr lang="en-US" sz="1050" spc="-25" dirty="0"/>
              <a:t>MI</a:t>
            </a:r>
          </a:p>
          <a:p>
            <a:pPr marL="398145" indent="-385445">
              <a:lnSpc>
                <a:spcPts val="1630"/>
              </a:lnSpc>
              <a:buFont typeface="Wingdings"/>
              <a:buChar char=""/>
              <a:tabLst>
                <a:tab pos="398145" algn="l"/>
              </a:tabLst>
            </a:pPr>
            <a:r>
              <a:rPr lang="en-US" sz="1050" dirty="0"/>
              <a:t>Delivered</a:t>
            </a:r>
            <a:r>
              <a:rPr lang="en-US" sz="1050" spc="-55" dirty="0"/>
              <a:t> </a:t>
            </a:r>
            <a:r>
              <a:rPr lang="en-US" sz="1050" spc="-10" dirty="0"/>
              <a:t>Equipment:</a:t>
            </a:r>
          </a:p>
          <a:p>
            <a:pPr marL="521334" lvl="1" indent="-115570">
              <a:lnSpc>
                <a:spcPts val="1630"/>
              </a:lnSpc>
              <a:buFont typeface="Arial"/>
              <a:buChar char="-"/>
              <a:tabLst>
                <a:tab pos="521334" algn="l"/>
              </a:tabLst>
            </a:pPr>
            <a:r>
              <a:rPr lang="en-US" sz="1050" dirty="0">
                <a:latin typeface="Calibri"/>
                <a:cs typeface="Calibri"/>
              </a:rPr>
              <a:t>Battery</a:t>
            </a:r>
            <a:r>
              <a:rPr lang="en-US" sz="1050" spc="-35" dirty="0">
                <a:latin typeface="Calibri"/>
                <a:cs typeface="Calibri"/>
              </a:rPr>
              <a:t> </a:t>
            </a:r>
            <a:r>
              <a:rPr lang="en-US" sz="1050" spc="-10" dirty="0">
                <a:latin typeface="Calibri"/>
                <a:cs typeface="Calibri"/>
              </a:rPr>
              <a:t>Cell/Module/Pack</a:t>
            </a:r>
            <a:r>
              <a:rPr lang="en-US" sz="1050" spc="-50" dirty="0">
                <a:latin typeface="Calibri"/>
                <a:cs typeface="Calibri"/>
              </a:rPr>
              <a:t> </a:t>
            </a:r>
            <a:r>
              <a:rPr lang="en-US" sz="1050" spc="-10" dirty="0">
                <a:latin typeface="Calibri"/>
                <a:cs typeface="Calibri"/>
              </a:rPr>
              <a:t>Cycler</a:t>
            </a:r>
            <a:endParaRPr lang="en-US" sz="1050" dirty="0">
              <a:latin typeface="Calibri"/>
              <a:cs typeface="Calibri"/>
            </a:endParaRPr>
          </a:p>
          <a:p>
            <a:pPr marL="521334" lvl="1" indent="-115570">
              <a:lnSpc>
                <a:spcPts val="1630"/>
              </a:lnSpc>
              <a:buFont typeface="Arial"/>
              <a:buChar char="-"/>
              <a:tabLst>
                <a:tab pos="521334" algn="l"/>
              </a:tabLst>
            </a:pPr>
            <a:r>
              <a:rPr lang="en-US" sz="1050" spc="-10" dirty="0">
                <a:latin typeface="Calibri"/>
                <a:cs typeface="Calibri"/>
              </a:rPr>
              <a:t>Double-</a:t>
            </a:r>
            <a:r>
              <a:rPr lang="en-US" sz="1050" dirty="0">
                <a:latin typeface="Calibri"/>
                <a:cs typeface="Calibri"/>
              </a:rPr>
              <a:t>deck</a:t>
            </a:r>
            <a:r>
              <a:rPr lang="en-US" sz="1050" spc="-50" dirty="0">
                <a:latin typeface="Calibri"/>
                <a:cs typeface="Calibri"/>
              </a:rPr>
              <a:t> </a:t>
            </a:r>
            <a:r>
              <a:rPr lang="en-US" sz="1050" dirty="0">
                <a:latin typeface="Calibri"/>
                <a:cs typeface="Calibri"/>
              </a:rPr>
              <a:t>Battery</a:t>
            </a:r>
            <a:r>
              <a:rPr lang="en-US" sz="1050" spc="-50" dirty="0">
                <a:latin typeface="Calibri"/>
                <a:cs typeface="Calibri"/>
              </a:rPr>
              <a:t> </a:t>
            </a:r>
            <a:r>
              <a:rPr lang="en-US" sz="1050" dirty="0">
                <a:latin typeface="Calibri"/>
                <a:cs typeface="Calibri"/>
              </a:rPr>
              <a:t>Cell</a:t>
            </a:r>
            <a:r>
              <a:rPr lang="en-US" sz="1050" spc="-40" dirty="0">
                <a:latin typeface="Calibri"/>
                <a:cs typeface="Calibri"/>
              </a:rPr>
              <a:t> </a:t>
            </a:r>
            <a:r>
              <a:rPr lang="en-US" sz="1050" dirty="0">
                <a:latin typeface="Calibri"/>
                <a:cs typeface="Calibri"/>
              </a:rPr>
              <a:t>Climatic</a:t>
            </a:r>
            <a:r>
              <a:rPr lang="en-US" sz="1050" spc="-50" dirty="0">
                <a:latin typeface="Calibri"/>
                <a:cs typeface="Calibri"/>
              </a:rPr>
              <a:t> </a:t>
            </a:r>
            <a:r>
              <a:rPr lang="en-US" sz="1050" spc="-35" dirty="0">
                <a:latin typeface="Calibri"/>
                <a:cs typeface="Calibri"/>
              </a:rPr>
              <a:t>Test</a:t>
            </a:r>
            <a:r>
              <a:rPr lang="en-US" sz="1050" spc="-30" dirty="0">
                <a:latin typeface="Calibri"/>
                <a:cs typeface="Calibri"/>
              </a:rPr>
              <a:t> </a:t>
            </a:r>
            <a:r>
              <a:rPr lang="en-US" sz="1050" spc="-10" dirty="0">
                <a:latin typeface="Calibri"/>
                <a:cs typeface="Calibri"/>
              </a:rPr>
              <a:t>Chamber</a:t>
            </a:r>
            <a:endParaRPr lang="en-US" sz="1050" dirty="0">
              <a:latin typeface="Calibri"/>
              <a:cs typeface="Calibri"/>
            </a:endParaRPr>
          </a:p>
          <a:p>
            <a:pPr marL="521334" lvl="1" indent="-115570">
              <a:lnSpc>
                <a:spcPts val="1635"/>
              </a:lnSpc>
              <a:buFont typeface="Arial"/>
              <a:buChar char="-"/>
              <a:tabLst>
                <a:tab pos="521334" algn="l"/>
              </a:tabLst>
            </a:pPr>
            <a:r>
              <a:rPr lang="en-US" sz="1050" spc="-10" dirty="0">
                <a:latin typeface="Calibri"/>
                <a:cs typeface="Calibri"/>
              </a:rPr>
              <a:t>Double-</a:t>
            </a:r>
            <a:r>
              <a:rPr lang="en-US" sz="1050" dirty="0">
                <a:latin typeface="Calibri"/>
                <a:cs typeface="Calibri"/>
              </a:rPr>
              <a:t>deck</a:t>
            </a:r>
            <a:r>
              <a:rPr lang="en-US" sz="1050" spc="-60" dirty="0">
                <a:latin typeface="Calibri"/>
                <a:cs typeface="Calibri"/>
              </a:rPr>
              <a:t> </a:t>
            </a:r>
            <a:r>
              <a:rPr lang="en-US" sz="1050" dirty="0">
                <a:latin typeface="Calibri"/>
                <a:cs typeface="Calibri"/>
              </a:rPr>
              <a:t>Battery</a:t>
            </a:r>
            <a:r>
              <a:rPr lang="en-US" sz="1050" spc="-55" dirty="0">
                <a:latin typeface="Calibri"/>
                <a:cs typeface="Calibri"/>
              </a:rPr>
              <a:t> </a:t>
            </a:r>
            <a:r>
              <a:rPr lang="en-US" sz="1050" dirty="0">
                <a:latin typeface="Calibri"/>
                <a:cs typeface="Calibri"/>
              </a:rPr>
              <a:t>Pack</a:t>
            </a:r>
            <a:r>
              <a:rPr lang="en-US" sz="1050" spc="-40" dirty="0">
                <a:latin typeface="Calibri"/>
                <a:cs typeface="Calibri"/>
              </a:rPr>
              <a:t> </a:t>
            </a:r>
            <a:r>
              <a:rPr lang="en-US" sz="1050" dirty="0">
                <a:latin typeface="Calibri"/>
                <a:cs typeface="Calibri"/>
              </a:rPr>
              <a:t>Climatic</a:t>
            </a:r>
            <a:r>
              <a:rPr lang="en-US" sz="1050" spc="-60" dirty="0">
                <a:latin typeface="Calibri"/>
                <a:cs typeface="Calibri"/>
              </a:rPr>
              <a:t> </a:t>
            </a:r>
            <a:r>
              <a:rPr lang="en-US" sz="1050" spc="-35" dirty="0">
                <a:latin typeface="Calibri"/>
                <a:cs typeface="Calibri"/>
              </a:rPr>
              <a:t>Test</a:t>
            </a:r>
            <a:r>
              <a:rPr lang="en-US" sz="1050" spc="-40" dirty="0">
                <a:latin typeface="Calibri"/>
                <a:cs typeface="Calibri"/>
              </a:rPr>
              <a:t> </a:t>
            </a:r>
            <a:r>
              <a:rPr lang="en-US" sz="1050" spc="-10" dirty="0">
                <a:latin typeface="Calibri"/>
                <a:cs typeface="Calibri"/>
              </a:rPr>
              <a:t>Chamber</a:t>
            </a:r>
            <a:endParaRPr lang="en-US" sz="1050" dirty="0">
              <a:latin typeface="Calibri"/>
              <a:cs typeface="Calibri"/>
            </a:endParaRPr>
          </a:p>
          <a:p>
            <a:pPr marL="521334" lvl="1" indent="-115570">
              <a:lnSpc>
                <a:spcPts val="1635"/>
              </a:lnSpc>
              <a:buFont typeface="Arial"/>
              <a:buChar char="-"/>
              <a:tabLst>
                <a:tab pos="521334" algn="l"/>
              </a:tabLst>
            </a:pPr>
            <a:r>
              <a:rPr lang="en-US" sz="1050" dirty="0">
                <a:latin typeface="Calibri"/>
                <a:cs typeface="Calibri"/>
              </a:rPr>
              <a:t>BMS</a:t>
            </a:r>
            <a:r>
              <a:rPr lang="en-US" sz="1050" spc="-35" dirty="0">
                <a:latin typeface="Calibri"/>
                <a:cs typeface="Calibri"/>
              </a:rPr>
              <a:t> </a:t>
            </a:r>
            <a:r>
              <a:rPr lang="en-US" sz="1050" dirty="0" err="1">
                <a:latin typeface="Calibri"/>
                <a:cs typeface="Calibri"/>
              </a:rPr>
              <a:t>HiL</a:t>
            </a:r>
            <a:r>
              <a:rPr lang="en-US" sz="1050" spc="-25" dirty="0">
                <a:latin typeface="Calibri"/>
                <a:cs typeface="Calibri"/>
              </a:rPr>
              <a:t> </a:t>
            </a:r>
            <a:r>
              <a:rPr lang="en-US" sz="1050" spc="-35" dirty="0">
                <a:latin typeface="Calibri"/>
                <a:cs typeface="Calibri"/>
              </a:rPr>
              <a:t>Test</a:t>
            </a:r>
            <a:r>
              <a:rPr lang="en-US" sz="1050" spc="-30" dirty="0">
                <a:latin typeface="Calibri"/>
                <a:cs typeface="Calibri"/>
              </a:rPr>
              <a:t> </a:t>
            </a:r>
            <a:r>
              <a:rPr lang="en-US" sz="1050" spc="-10" dirty="0">
                <a:latin typeface="Calibri"/>
                <a:cs typeface="Calibri"/>
              </a:rPr>
              <a:t>System</a:t>
            </a:r>
            <a:endParaRPr lang="en-US" sz="1050" dirty="0">
              <a:latin typeface="Calibri"/>
              <a:cs typeface="Calibri"/>
            </a:endParaRPr>
          </a:p>
          <a:p>
            <a:pPr marL="521334" lvl="1" indent="-115570">
              <a:lnSpc>
                <a:spcPts val="1630"/>
              </a:lnSpc>
              <a:buFont typeface="Arial"/>
              <a:buChar char="-"/>
              <a:tabLst>
                <a:tab pos="521334" algn="l"/>
              </a:tabLst>
            </a:pPr>
            <a:r>
              <a:rPr lang="en-US" sz="1050" spc="-10" dirty="0">
                <a:latin typeface="Calibri"/>
                <a:cs typeface="Calibri"/>
              </a:rPr>
              <a:t>Customization</a:t>
            </a:r>
            <a:r>
              <a:rPr lang="en-US" sz="1050" spc="-50" dirty="0">
                <a:latin typeface="Calibri"/>
                <a:cs typeface="Calibri"/>
              </a:rPr>
              <a:t> </a:t>
            </a:r>
            <a:r>
              <a:rPr lang="en-US" sz="1050" spc="-25" dirty="0">
                <a:latin typeface="Calibri"/>
                <a:cs typeface="Calibri"/>
              </a:rPr>
              <a:t>Testing</a:t>
            </a:r>
            <a:r>
              <a:rPr lang="en-US" sz="1050" spc="-30" dirty="0">
                <a:latin typeface="Calibri"/>
                <a:cs typeface="Calibri"/>
              </a:rPr>
              <a:t> </a:t>
            </a:r>
            <a:r>
              <a:rPr lang="en-US" sz="1050" spc="-10" dirty="0">
                <a:latin typeface="Calibri"/>
                <a:cs typeface="Calibri"/>
              </a:rPr>
              <a:t>Instrumentation</a:t>
            </a:r>
            <a:r>
              <a:rPr lang="en-US" sz="1050" spc="-15" dirty="0">
                <a:latin typeface="Calibri"/>
                <a:cs typeface="Calibri"/>
              </a:rPr>
              <a:t> </a:t>
            </a:r>
            <a:r>
              <a:rPr lang="en-US" sz="1050" dirty="0">
                <a:latin typeface="Calibri"/>
                <a:cs typeface="Calibri"/>
              </a:rPr>
              <a:t>&amp;</a:t>
            </a:r>
            <a:r>
              <a:rPr lang="en-US" sz="1050" spc="-30" dirty="0">
                <a:latin typeface="Calibri"/>
                <a:cs typeface="Calibri"/>
              </a:rPr>
              <a:t> </a:t>
            </a:r>
            <a:r>
              <a:rPr lang="en-US" sz="1050" spc="-10" dirty="0">
                <a:latin typeface="Calibri"/>
                <a:cs typeface="Calibri"/>
              </a:rPr>
              <a:t>Accessories</a:t>
            </a:r>
            <a:endParaRPr lang="en-US" sz="1050" dirty="0">
              <a:latin typeface="Calibri"/>
              <a:cs typeface="Calibri"/>
            </a:endParaRPr>
          </a:p>
          <a:p>
            <a:pPr marL="298450" indent="-285750">
              <a:lnSpc>
                <a:spcPts val="1630"/>
              </a:lnSpc>
              <a:buFont typeface="Wingdings"/>
              <a:buChar char=""/>
              <a:tabLst>
                <a:tab pos="298450" algn="l"/>
              </a:tabLst>
            </a:pPr>
            <a:r>
              <a:rPr lang="en-US" sz="1050" spc="-10" dirty="0"/>
              <a:t>Completed</a:t>
            </a:r>
            <a:r>
              <a:rPr lang="en-US" sz="1050" spc="-20" dirty="0"/>
              <a:t> </a:t>
            </a:r>
            <a:r>
              <a:rPr lang="en-US" sz="1050" spc="-10" dirty="0"/>
              <a:t>Services:</a:t>
            </a:r>
          </a:p>
          <a:p>
            <a:pPr marL="405765">
              <a:lnSpc>
                <a:spcPts val="1630"/>
              </a:lnSpc>
            </a:pPr>
            <a:r>
              <a:rPr lang="en-US" sz="1050" dirty="0"/>
              <a:t>Engineering</a:t>
            </a:r>
            <a:r>
              <a:rPr lang="en-US" sz="1050" spc="-5" dirty="0"/>
              <a:t> </a:t>
            </a:r>
            <a:r>
              <a:rPr lang="en-US" sz="1050" dirty="0"/>
              <a:t>design,</a:t>
            </a:r>
            <a:r>
              <a:rPr lang="en-US" sz="1050" spc="-35" dirty="0"/>
              <a:t> </a:t>
            </a:r>
            <a:r>
              <a:rPr lang="en-US" sz="1050" spc="-10" dirty="0"/>
              <a:t>commissioning</a:t>
            </a:r>
            <a:r>
              <a:rPr lang="en-US" sz="1050" spc="-30" dirty="0"/>
              <a:t> </a:t>
            </a:r>
            <a:r>
              <a:rPr lang="en-US" sz="1050" dirty="0"/>
              <a:t>and</a:t>
            </a:r>
            <a:r>
              <a:rPr lang="en-US" sz="1050" spc="-15" dirty="0"/>
              <a:t> </a:t>
            </a:r>
            <a:r>
              <a:rPr lang="en-US" sz="1050" spc="-10" dirty="0"/>
              <a:t>application</a:t>
            </a:r>
            <a:r>
              <a:rPr lang="en-US" sz="1050" spc="-40" dirty="0"/>
              <a:t> </a:t>
            </a:r>
            <a:r>
              <a:rPr lang="en-US" sz="1050" spc="-10" dirty="0"/>
              <a:t>support</a:t>
            </a:r>
          </a:p>
        </p:txBody>
      </p:sp>
    </p:spTree>
    <p:extLst>
      <p:ext uri="{BB962C8B-B14F-4D97-AF65-F5344CB8AC3E}">
        <p14:creationId xmlns:p14="http://schemas.microsoft.com/office/powerpoint/2010/main" val="166127464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900B92-8707-F009-54EE-A0577A149A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object 4">
            <a:extLst>
              <a:ext uri="{FF2B5EF4-FFF2-40B4-BE49-F238E27FC236}">
                <a16:creationId xmlns:a16="http://schemas.microsoft.com/office/drawing/2014/main" id="{D2A9D54A-A73C-A4E0-0D4E-3B0FCEBBBB78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85657" y="4329918"/>
            <a:ext cx="2277626" cy="1880717"/>
          </a:xfrm>
          <a:prstGeom prst="rect">
            <a:avLst/>
          </a:prstGeom>
        </p:spPr>
      </p:pic>
      <p:sp>
        <p:nvSpPr>
          <p:cNvPr id="5" name="TextBox 5">
            <a:extLst>
              <a:ext uri="{FF2B5EF4-FFF2-40B4-BE49-F238E27FC236}">
                <a16:creationId xmlns:a16="http://schemas.microsoft.com/office/drawing/2014/main" id="{B6C0CE18-D500-C184-8C21-6B95D467F536}"/>
              </a:ext>
            </a:extLst>
          </p:cNvPr>
          <p:cNvSpPr txBox="1"/>
          <p:nvPr/>
        </p:nvSpPr>
        <p:spPr>
          <a:xfrm>
            <a:off x="350295" y="2642196"/>
            <a:ext cx="3495017" cy="2507654"/>
          </a:xfrm>
          <a:prstGeom prst="rect">
            <a:avLst/>
          </a:prstGeom>
        </p:spPr>
        <p:txBody>
          <a:bodyPr lIns="33867" tIns="33867" rIns="33867" bIns="33867" rtlCol="0" anchor="ctr"/>
          <a:lstStyle/>
          <a:p>
            <a:pPr algn="ctr">
              <a:lnSpc>
                <a:spcPts val="1773"/>
              </a:lnSpc>
            </a:pPr>
            <a:endParaRPr sz="1200"/>
          </a:p>
        </p:txBody>
      </p:sp>
      <p:grpSp>
        <p:nvGrpSpPr>
          <p:cNvPr id="20" name="Group 20">
            <a:extLst>
              <a:ext uri="{FF2B5EF4-FFF2-40B4-BE49-F238E27FC236}">
                <a16:creationId xmlns:a16="http://schemas.microsoft.com/office/drawing/2014/main" id="{5173637B-FB75-86D5-ECAC-A9D93101BF26}"/>
              </a:ext>
            </a:extLst>
          </p:cNvPr>
          <p:cNvGrpSpPr/>
          <p:nvPr/>
        </p:nvGrpSpPr>
        <p:grpSpPr>
          <a:xfrm>
            <a:off x="9646457" y="-2725769"/>
            <a:ext cx="4382579" cy="4382579"/>
            <a:chOff x="0" y="0"/>
            <a:chExt cx="812800" cy="812800"/>
          </a:xfrm>
        </p:grpSpPr>
        <p:sp>
          <p:nvSpPr>
            <p:cNvPr id="21" name="Freeform 21">
              <a:extLst>
                <a:ext uri="{FF2B5EF4-FFF2-40B4-BE49-F238E27FC236}">
                  <a16:creationId xmlns:a16="http://schemas.microsoft.com/office/drawing/2014/main" id="{0CBB2AC0-1C7B-2E36-E679-B4C744452B73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lnTo>
                    <a:pt x="812800" y="406400"/>
                  </a:lnTo>
                  <a:lnTo>
                    <a:pt x="406400" y="812800"/>
                  </a:lnTo>
                  <a:lnTo>
                    <a:pt x="0" y="4064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AEEA00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US" sz="1200"/>
            </a:p>
          </p:txBody>
        </p:sp>
        <p:sp>
          <p:nvSpPr>
            <p:cNvPr id="22" name="TextBox 22">
              <a:extLst>
                <a:ext uri="{FF2B5EF4-FFF2-40B4-BE49-F238E27FC236}">
                  <a16:creationId xmlns:a16="http://schemas.microsoft.com/office/drawing/2014/main" id="{7F67C028-4C72-236B-0CB9-47B75C481009}"/>
                </a:ext>
              </a:extLst>
            </p:cNvPr>
            <p:cNvSpPr txBox="1"/>
            <p:nvPr/>
          </p:nvSpPr>
          <p:spPr>
            <a:xfrm>
              <a:off x="139700" y="101600"/>
              <a:ext cx="533400" cy="571500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algn="ctr">
                <a:lnSpc>
                  <a:spcPts val="1614"/>
                </a:lnSpc>
              </a:pPr>
              <a:endParaRPr sz="1200"/>
            </a:p>
          </p:txBody>
        </p:sp>
      </p:grpSp>
      <p:sp>
        <p:nvSpPr>
          <p:cNvPr id="23" name="TextBox 23">
            <a:extLst>
              <a:ext uri="{FF2B5EF4-FFF2-40B4-BE49-F238E27FC236}">
                <a16:creationId xmlns:a16="http://schemas.microsoft.com/office/drawing/2014/main" id="{6F434B0E-88E5-A973-8329-372C37E9F1A6}"/>
              </a:ext>
            </a:extLst>
          </p:cNvPr>
          <p:cNvSpPr txBox="1"/>
          <p:nvPr/>
        </p:nvSpPr>
        <p:spPr>
          <a:xfrm>
            <a:off x="3712135" y="211347"/>
            <a:ext cx="5501215" cy="52367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606"/>
              </a:lnSpc>
              <a:spcBef>
                <a:spcPct val="0"/>
              </a:spcBef>
            </a:pPr>
            <a:r>
              <a:rPr lang="en-US" altLang="zh-CN" sz="2400" b="1" dirty="0">
                <a:solidFill>
                  <a:srgbClr val="095D40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Customer Project Reference Book</a:t>
            </a:r>
          </a:p>
        </p:txBody>
      </p:sp>
      <p:grpSp>
        <p:nvGrpSpPr>
          <p:cNvPr id="27" name="Group 27">
            <a:extLst>
              <a:ext uri="{FF2B5EF4-FFF2-40B4-BE49-F238E27FC236}">
                <a16:creationId xmlns:a16="http://schemas.microsoft.com/office/drawing/2014/main" id="{AEDCFED8-01A8-9706-1761-EFD57C96E452}"/>
              </a:ext>
            </a:extLst>
          </p:cNvPr>
          <p:cNvGrpSpPr/>
          <p:nvPr/>
        </p:nvGrpSpPr>
        <p:grpSpPr>
          <a:xfrm>
            <a:off x="9748057" y="-2624169"/>
            <a:ext cx="4382579" cy="4382579"/>
            <a:chOff x="0" y="0"/>
            <a:chExt cx="812800" cy="812800"/>
          </a:xfrm>
        </p:grpSpPr>
        <p:sp>
          <p:nvSpPr>
            <p:cNvPr id="28" name="Freeform 28">
              <a:extLst>
                <a:ext uri="{FF2B5EF4-FFF2-40B4-BE49-F238E27FC236}">
                  <a16:creationId xmlns:a16="http://schemas.microsoft.com/office/drawing/2014/main" id="{3350819F-A9DD-406D-0964-F7C8ED949746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lnTo>
                    <a:pt x="812800" y="406400"/>
                  </a:lnTo>
                  <a:lnTo>
                    <a:pt x="406400" y="812800"/>
                  </a:lnTo>
                  <a:lnTo>
                    <a:pt x="0" y="4064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AEEA00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US" sz="1200"/>
            </a:p>
          </p:txBody>
        </p:sp>
        <p:sp>
          <p:nvSpPr>
            <p:cNvPr id="29" name="TextBox 29">
              <a:extLst>
                <a:ext uri="{FF2B5EF4-FFF2-40B4-BE49-F238E27FC236}">
                  <a16:creationId xmlns:a16="http://schemas.microsoft.com/office/drawing/2014/main" id="{069EAB87-2203-2B4A-6274-C002C75FBE24}"/>
                </a:ext>
              </a:extLst>
            </p:cNvPr>
            <p:cNvSpPr txBox="1"/>
            <p:nvPr/>
          </p:nvSpPr>
          <p:spPr>
            <a:xfrm>
              <a:off x="139700" y="101600"/>
              <a:ext cx="533400" cy="571500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algn="ctr">
                <a:lnSpc>
                  <a:spcPts val="1614"/>
                </a:lnSpc>
              </a:pPr>
              <a:endParaRPr sz="1200"/>
            </a:p>
          </p:txBody>
        </p:sp>
      </p:grpSp>
      <p:grpSp>
        <p:nvGrpSpPr>
          <p:cNvPr id="30" name="Group 30">
            <a:extLst>
              <a:ext uri="{FF2B5EF4-FFF2-40B4-BE49-F238E27FC236}">
                <a16:creationId xmlns:a16="http://schemas.microsoft.com/office/drawing/2014/main" id="{09728F73-8430-0C84-522F-4D89CC0C4B29}"/>
              </a:ext>
            </a:extLst>
          </p:cNvPr>
          <p:cNvGrpSpPr/>
          <p:nvPr/>
        </p:nvGrpSpPr>
        <p:grpSpPr>
          <a:xfrm>
            <a:off x="-586860" y="5768130"/>
            <a:ext cx="4382579" cy="4382579"/>
            <a:chOff x="0" y="0"/>
            <a:chExt cx="812800" cy="812800"/>
          </a:xfrm>
        </p:grpSpPr>
        <p:sp>
          <p:nvSpPr>
            <p:cNvPr id="31" name="Freeform 31">
              <a:extLst>
                <a:ext uri="{FF2B5EF4-FFF2-40B4-BE49-F238E27FC236}">
                  <a16:creationId xmlns:a16="http://schemas.microsoft.com/office/drawing/2014/main" id="{099270DB-806D-2F14-B088-50FAB8F8CD1F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lnTo>
                    <a:pt x="812800" y="406400"/>
                  </a:lnTo>
                  <a:lnTo>
                    <a:pt x="406400" y="812800"/>
                  </a:lnTo>
                  <a:lnTo>
                    <a:pt x="0" y="4064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AEEA00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US" sz="1200"/>
            </a:p>
          </p:txBody>
        </p:sp>
        <p:sp>
          <p:nvSpPr>
            <p:cNvPr id="32" name="TextBox 32">
              <a:extLst>
                <a:ext uri="{FF2B5EF4-FFF2-40B4-BE49-F238E27FC236}">
                  <a16:creationId xmlns:a16="http://schemas.microsoft.com/office/drawing/2014/main" id="{BFD820CC-0C3B-181F-7089-F277632B63A2}"/>
                </a:ext>
              </a:extLst>
            </p:cNvPr>
            <p:cNvSpPr txBox="1"/>
            <p:nvPr/>
          </p:nvSpPr>
          <p:spPr>
            <a:xfrm>
              <a:off x="139700" y="101600"/>
              <a:ext cx="533400" cy="571500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algn="ctr">
                <a:lnSpc>
                  <a:spcPts val="1614"/>
                </a:lnSpc>
              </a:pPr>
              <a:endParaRPr sz="1200"/>
            </a:p>
          </p:txBody>
        </p:sp>
      </p:grpSp>
      <p:grpSp>
        <p:nvGrpSpPr>
          <p:cNvPr id="33" name="Group 33">
            <a:extLst>
              <a:ext uri="{FF2B5EF4-FFF2-40B4-BE49-F238E27FC236}">
                <a16:creationId xmlns:a16="http://schemas.microsoft.com/office/drawing/2014/main" id="{847B7C37-9F99-9430-B401-94F5B794F05A}"/>
              </a:ext>
            </a:extLst>
          </p:cNvPr>
          <p:cNvGrpSpPr/>
          <p:nvPr/>
        </p:nvGrpSpPr>
        <p:grpSpPr>
          <a:xfrm>
            <a:off x="-1604064" y="5563701"/>
            <a:ext cx="4382579" cy="4382579"/>
            <a:chOff x="0" y="0"/>
            <a:chExt cx="812800" cy="812800"/>
          </a:xfrm>
        </p:grpSpPr>
        <p:sp>
          <p:nvSpPr>
            <p:cNvPr id="34" name="Freeform 34">
              <a:extLst>
                <a:ext uri="{FF2B5EF4-FFF2-40B4-BE49-F238E27FC236}">
                  <a16:creationId xmlns:a16="http://schemas.microsoft.com/office/drawing/2014/main" id="{98A200FD-DDB5-588B-7848-0D6EC5E1A711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lnTo>
                    <a:pt x="812800" y="406400"/>
                  </a:lnTo>
                  <a:lnTo>
                    <a:pt x="406400" y="812800"/>
                  </a:lnTo>
                  <a:lnTo>
                    <a:pt x="0" y="406400"/>
                  </a:lnTo>
                  <a:lnTo>
                    <a:pt x="406400" y="0"/>
                  </a:lnTo>
                  <a:close/>
                </a:path>
              </a:pathLst>
            </a:custGeom>
            <a:ln w="381000" cap="sq">
              <a:solidFill>
                <a:srgbClr val="095D40"/>
              </a:solidFill>
              <a:prstDash val="solid"/>
              <a:miter/>
            </a:ln>
          </p:spPr>
          <p:txBody>
            <a:bodyPr/>
            <a:lstStyle/>
            <a:p>
              <a:endParaRPr lang="en-US" sz="1200"/>
            </a:p>
          </p:txBody>
        </p:sp>
        <p:sp>
          <p:nvSpPr>
            <p:cNvPr id="35" name="TextBox 35">
              <a:extLst>
                <a:ext uri="{FF2B5EF4-FFF2-40B4-BE49-F238E27FC236}">
                  <a16:creationId xmlns:a16="http://schemas.microsoft.com/office/drawing/2014/main" id="{5A731DBB-FA05-A28D-9C8D-67772021B772}"/>
                </a:ext>
              </a:extLst>
            </p:cNvPr>
            <p:cNvSpPr txBox="1"/>
            <p:nvPr/>
          </p:nvSpPr>
          <p:spPr>
            <a:xfrm>
              <a:off x="139700" y="101600"/>
              <a:ext cx="533400" cy="571500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algn="ctr">
                <a:lnSpc>
                  <a:spcPts val="1614"/>
                </a:lnSpc>
              </a:pPr>
              <a:endParaRPr sz="1200"/>
            </a:p>
          </p:txBody>
        </p:sp>
      </p:grpSp>
      <p:grpSp>
        <p:nvGrpSpPr>
          <p:cNvPr id="36" name="Group 36">
            <a:extLst>
              <a:ext uri="{FF2B5EF4-FFF2-40B4-BE49-F238E27FC236}">
                <a16:creationId xmlns:a16="http://schemas.microsoft.com/office/drawing/2014/main" id="{109B6811-7682-2CA2-B1EE-C4FE65B3D5E7}"/>
              </a:ext>
            </a:extLst>
          </p:cNvPr>
          <p:cNvGrpSpPr/>
          <p:nvPr/>
        </p:nvGrpSpPr>
        <p:grpSpPr>
          <a:xfrm>
            <a:off x="9748057" y="-2036883"/>
            <a:ext cx="4382579" cy="4382579"/>
            <a:chOff x="0" y="0"/>
            <a:chExt cx="812800" cy="812800"/>
          </a:xfrm>
        </p:grpSpPr>
        <p:sp>
          <p:nvSpPr>
            <p:cNvPr id="37" name="Freeform 37">
              <a:extLst>
                <a:ext uri="{FF2B5EF4-FFF2-40B4-BE49-F238E27FC236}">
                  <a16:creationId xmlns:a16="http://schemas.microsoft.com/office/drawing/2014/main" id="{3D8117F6-9F87-1A4C-80AE-B3F475D68761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lnTo>
                    <a:pt x="812800" y="406400"/>
                  </a:lnTo>
                  <a:lnTo>
                    <a:pt x="406400" y="812800"/>
                  </a:lnTo>
                  <a:lnTo>
                    <a:pt x="0" y="406400"/>
                  </a:lnTo>
                  <a:lnTo>
                    <a:pt x="406400" y="0"/>
                  </a:lnTo>
                  <a:close/>
                </a:path>
              </a:pathLst>
            </a:custGeom>
            <a:ln w="381000" cap="sq">
              <a:solidFill>
                <a:srgbClr val="095D40"/>
              </a:solidFill>
              <a:prstDash val="solid"/>
              <a:miter/>
            </a:ln>
          </p:spPr>
          <p:txBody>
            <a:bodyPr/>
            <a:lstStyle/>
            <a:p>
              <a:endParaRPr lang="en-US" sz="1200"/>
            </a:p>
          </p:txBody>
        </p:sp>
        <p:sp>
          <p:nvSpPr>
            <p:cNvPr id="38" name="TextBox 38">
              <a:extLst>
                <a:ext uri="{FF2B5EF4-FFF2-40B4-BE49-F238E27FC236}">
                  <a16:creationId xmlns:a16="http://schemas.microsoft.com/office/drawing/2014/main" id="{B0F6B3A2-D5CF-BCBB-FEC9-A3066E21941F}"/>
                </a:ext>
              </a:extLst>
            </p:cNvPr>
            <p:cNvSpPr txBox="1"/>
            <p:nvPr/>
          </p:nvSpPr>
          <p:spPr>
            <a:xfrm>
              <a:off x="139700" y="101600"/>
              <a:ext cx="533400" cy="571500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algn="ctr">
                <a:lnSpc>
                  <a:spcPts val="1614"/>
                </a:lnSpc>
              </a:pPr>
              <a:endParaRPr sz="1200"/>
            </a:p>
          </p:txBody>
        </p:sp>
      </p:grpSp>
      <p:pic>
        <p:nvPicPr>
          <p:cNvPr id="7" name="Picture 6">
            <a:extLst>
              <a:ext uri="{FF2B5EF4-FFF2-40B4-BE49-F238E27FC236}">
                <a16:creationId xmlns:a16="http://schemas.microsoft.com/office/drawing/2014/main" id="{76C7B500-24BD-BA1F-65EE-8A56E152F6B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579" y="-64351"/>
            <a:ext cx="2397632" cy="863147"/>
          </a:xfrm>
          <a:prstGeom prst="rect">
            <a:avLst/>
          </a:prstGeom>
        </p:spPr>
      </p:pic>
      <p:pic>
        <p:nvPicPr>
          <p:cNvPr id="3" name="object 6">
            <a:extLst>
              <a:ext uri="{FF2B5EF4-FFF2-40B4-BE49-F238E27FC236}">
                <a16:creationId xmlns:a16="http://schemas.microsoft.com/office/drawing/2014/main" id="{84E2A560-3356-3D7E-BEFD-E7C1AE76FC31}"/>
              </a:ext>
            </a:extLst>
          </p:cNvPr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384518" y="4777921"/>
            <a:ext cx="3394623" cy="2026928"/>
          </a:xfrm>
          <a:prstGeom prst="rect">
            <a:avLst/>
          </a:prstGeom>
        </p:spPr>
      </p:pic>
      <p:pic>
        <p:nvPicPr>
          <p:cNvPr id="4" name="object 7">
            <a:extLst>
              <a:ext uri="{FF2B5EF4-FFF2-40B4-BE49-F238E27FC236}">
                <a16:creationId xmlns:a16="http://schemas.microsoft.com/office/drawing/2014/main" id="{9D22EB6E-0C58-6FFA-C2A2-1D271D2AFD2B}"/>
              </a:ext>
            </a:extLst>
          </p:cNvPr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7384518" y="2182402"/>
            <a:ext cx="1924344" cy="2572264"/>
          </a:xfrm>
          <a:prstGeom prst="rect">
            <a:avLst/>
          </a:prstGeom>
        </p:spPr>
      </p:pic>
      <p:pic>
        <p:nvPicPr>
          <p:cNvPr id="6" name="object 8">
            <a:extLst>
              <a:ext uri="{FF2B5EF4-FFF2-40B4-BE49-F238E27FC236}">
                <a16:creationId xmlns:a16="http://schemas.microsoft.com/office/drawing/2014/main" id="{89918F11-8D10-0162-97FC-87672F1DD2A2}"/>
              </a:ext>
            </a:extLst>
          </p:cNvPr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9483617" y="2385160"/>
            <a:ext cx="1514889" cy="2282464"/>
          </a:xfrm>
          <a:prstGeom prst="rect">
            <a:avLst/>
          </a:prstGeom>
        </p:spPr>
      </p:pic>
      <p:sp>
        <p:nvSpPr>
          <p:cNvPr id="8" name="object 4">
            <a:extLst>
              <a:ext uri="{FF2B5EF4-FFF2-40B4-BE49-F238E27FC236}">
                <a16:creationId xmlns:a16="http://schemas.microsoft.com/office/drawing/2014/main" id="{716BD052-2B25-BD22-75D2-58B5D50ADC15}"/>
              </a:ext>
            </a:extLst>
          </p:cNvPr>
          <p:cNvSpPr txBox="1"/>
          <p:nvPr/>
        </p:nvSpPr>
        <p:spPr>
          <a:xfrm>
            <a:off x="6798349" y="1473176"/>
            <a:ext cx="4382580" cy="5206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03860" indent="-391160">
              <a:lnSpc>
                <a:spcPct val="100000"/>
              </a:lnSpc>
              <a:spcBef>
                <a:spcPts val="100"/>
              </a:spcBef>
              <a:buFont typeface="Wingdings"/>
              <a:buChar char=""/>
              <a:tabLst>
                <a:tab pos="403860" algn="l"/>
              </a:tabLst>
            </a:pPr>
            <a:r>
              <a:rPr sz="1100" dirty="0">
                <a:latin typeface="Calibri"/>
                <a:cs typeface="Calibri"/>
              </a:rPr>
              <a:t>Location:</a:t>
            </a:r>
            <a:r>
              <a:rPr sz="1100" spc="-5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La</a:t>
            </a:r>
            <a:r>
              <a:rPr sz="1100" spc="-6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Puente,</a:t>
            </a:r>
            <a:r>
              <a:rPr sz="1100" spc="-60" dirty="0">
                <a:latin typeface="Calibri"/>
                <a:cs typeface="Calibri"/>
              </a:rPr>
              <a:t> </a:t>
            </a:r>
            <a:r>
              <a:rPr sz="1100" spc="-25" dirty="0">
                <a:latin typeface="Calibri"/>
                <a:cs typeface="Calibri"/>
              </a:rPr>
              <a:t>CA</a:t>
            </a:r>
            <a:endParaRPr sz="1100" dirty="0">
              <a:latin typeface="Calibri"/>
              <a:cs typeface="Calibri"/>
            </a:endParaRPr>
          </a:p>
          <a:p>
            <a:pPr marL="403860" indent="-391160">
              <a:lnSpc>
                <a:spcPct val="100000"/>
              </a:lnSpc>
              <a:buFont typeface="Wingdings"/>
              <a:buChar char=""/>
              <a:tabLst>
                <a:tab pos="403860" algn="l"/>
              </a:tabLst>
            </a:pPr>
            <a:r>
              <a:rPr sz="1100" dirty="0">
                <a:latin typeface="Calibri"/>
                <a:cs typeface="Calibri"/>
              </a:rPr>
              <a:t>Delivered</a:t>
            </a:r>
            <a:r>
              <a:rPr sz="1100" spc="-50" dirty="0">
                <a:latin typeface="Calibri"/>
                <a:cs typeface="Calibri"/>
              </a:rPr>
              <a:t> </a:t>
            </a:r>
            <a:r>
              <a:rPr sz="1100" spc="-10" dirty="0">
                <a:latin typeface="Calibri"/>
                <a:cs typeface="Calibri"/>
              </a:rPr>
              <a:t>Equipment:</a:t>
            </a:r>
            <a:r>
              <a:rPr sz="1100" spc="-6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Battery</a:t>
            </a:r>
            <a:r>
              <a:rPr sz="1100" spc="-7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Cell</a:t>
            </a:r>
            <a:r>
              <a:rPr sz="1100" spc="-4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Cycler</a:t>
            </a:r>
            <a:r>
              <a:rPr sz="1100" spc="-55" dirty="0">
                <a:latin typeface="Calibri"/>
                <a:cs typeface="Calibri"/>
              </a:rPr>
              <a:t> </a:t>
            </a:r>
            <a:r>
              <a:rPr sz="1100" spc="-10" dirty="0">
                <a:latin typeface="Calibri"/>
                <a:cs typeface="Calibri"/>
              </a:rPr>
              <a:t>5V300A8CH</a:t>
            </a:r>
            <a:endParaRPr sz="1100" dirty="0">
              <a:latin typeface="Calibri"/>
              <a:cs typeface="Calibri"/>
            </a:endParaRPr>
          </a:p>
          <a:p>
            <a:pPr marL="403860" indent="-391160">
              <a:lnSpc>
                <a:spcPct val="100000"/>
              </a:lnSpc>
              <a:buFont typeface="Wingdings"/>
              <a:buChar char=""/>
              <a:tabLst>
                <a:tab pos="403860" algn="l"/>
              </a:tabLst>
            </a:pPr>
            <a:r>
              <a:rPr sz="1100" dirty="0">
                <a:latin typeface="Calibri"/>
                <a:cs typeface="Calibri"/>
              </a:rPr>
              <a:t>Completed</a:t>
            </a:r>
            <a:r>
              <a:rPr sz="1100" spc="-4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Services:</a:t>
            </a:r>
            <a:r>
              <a:rPr sz="1100" spc="-5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Commissioning,</a:t>
            </a:r>
            <a:r>
              <a:rPr sz="1100" spc="-70" dirty="0">
                <a:latin typeface="Calibri"/>
                <a:cs typeface="Calibri"/>
              </a:rPr>
              <a:t> </a:t>
            </a:r>
            <a:r>
              <a:rPr sz="1100" spc="-20" dirty="0">
                <a:latin typeface="Calibri"/>
                <a:cs typeface="Calibri"/>
              </a:rPr>
              <a:t>Training</a:t>
            </a:r>
            <a:r>
              <a:rPr sz="1100" spc="-5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and</a:t>
            </a:r>
            <a:r>
              <a:rPr sz="1100" spc="-5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Application</a:t>
            </a:r>
            <a:r>
              <a:rPr sz="1100" spc="-55" dirty="0">
                <a:latin typeface="Calibri"/>
                <a:cs typeface="Calibri"/>
              </a:rPr>
              <a:t> </a:t>
            </a:r>
            <a:r>
              <a:rPr sz="1100" spc="-10" dirty="0">
                <a:latin typeface="Calibri"/>
                <a:cs typeface="Calibri"/>
              </a:rPr>
              <a:t>Support</a:t>
            </a:r>
            <a:endParaRPr sz="1100" dirty="0">
              <a:latin typeface="Calibri"/>
              <a:cs typeface="Calibri"/>
            </a:endParaRPr>
          </a:p>
        </p:txBody>
      </p:sp>
      <p:pic>
        <p:nvPicPr>
          <p:cNvPr id="9" name="object 2">
            <a:extLst>
              <a:ext uri="{FF2B5EF4-FFF2-40B4-BE49-F238E27FC236}">
                <a16:creationId xmlns:a16="http://schemas.microsoft.com/office/drawing/2014/main" id="{3ABCE90C-EA9E-B482-F499-D80B80BD8FDF}"/>
              </a:ext>
            </a:extLst>
          </p:cNvPr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872461" y="2521769"/>
            <a:ext cx="2533395" cy="1686686"/>
          </a:xfrm>
          <a:prstGeom prst="rect">
            <a:avLst/>
          </a:prstGeom>
        </p:spPr>
      </p:pic>
      <p:pic>
        <p:nvPicPr>
          <p:cNvPr id="10" name="object 3">
            <a:extLst>
              <a:ext uri="{FF2B5EF4-FFF2-40B4-BE49-F238E27FC236}">
                <a16:creationId xmlns:a16="http://schemas.microsoft.com/office/drawing/2014/main" id="{B63E3D59-F90D-DC61-F806-88C181017D39}"/>
              </a:ext>
            </a:extLst>
          </p:cNvPr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3495141" y="2437766"/>
            <a:ext cx="2533395" cy="1802723"/>
          </a:xfrm>
          <a:prstGeom prst="rect">
            <a:avLst/>
          </a:prstGeom>
        </p:spPr>
      </p:pic>
      <p:pic>
        <p:nvPicPr>
          <p:cNvPr id="12" name="object 5">
            <a:extLst>
              <a:ext uri="{FF2B5EF4-FFF2-40B4-BE49-F238E27FC236}">
                <a16:creationId xmlns:a16="http://schemas.microsoft.com/office/drawing/2014/main" id="{E929D94C-DE2A-0A1F-26BA-A830C97EEA22}"/>
              </a:ext>
            </a:extLst>
          </p:cNvPr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3470091" y="4321846"/>
            <a:ext cx="2600859" cy="1880717"/>
          </a:xfrm>
          <a:prstGeom prst="rect">
            <a:avLst/>
          </a:prstGeom>
        </p:spPr>
      </p:pic>
      <p:sp>
        <p:nvSpPr>
          <p:cNvPr id="13" name="object 7">
            <a:extLst>
              <a:ext uri="{FF2B5EF4-FFF2-40B4-BE49-F238E27FC236}">
                <a16:creationId xmlns:a16="http://schemas.microsoft.com/office/drawing/2014/main" id="{8A1835F9-5DED-B6EF-F86C-F9E35CC35173}"/>
              </a:ext>
            </a:extLst>
          </p:cNvPr>
          <p:cNvSpPr txBox="1"/>
          <p:nvPr/>
        </p:nvSpPr>
        <p:spPr>
          <a:xfrm>
            <a:off x="1011071" y="1425732"/>
            <a:ext cx="5249052" cy="68993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03860" indent="-391160">
              <a:lnSpc>
                <a:spcPct val="100000"/>
              </a:lnSpc>
              <a:spcBef>
                <a:spcPts val="100"/>
              </a:spcBef>
              <a:buFont typeface="Wingdings"/>
              <a:buChar char=""/>
              <a:tabLst>
                <a:tab pos="403860" algn="l"/>
              </a:tabLst>
            </a:pPr>
            <a:r>
              <a:rPr sz="1100" dirty="0">
                <a:latin typeface="Calibri"/>
                <a:cs typeface="Calibri"/>
              </a:rPr>
              <a:t>Location:</a:t>
            </a:r>
            <a:r>
              <a:rPr sz="1100" spc="-30" dirty="0">
                <a:latin typeface="Calibri"/>
                <a:cs typeface="Calibri"/>
              </a:rPr>
              <a:t> </a:t>
            </a:r>
            <a:r>
              <a:rPr sz="1100" spc="-20" dirty="0">
                <a:latin typeface="Calibri"/>
                <a:cs typeface="Calibri"/>
              </a:rPr>
              <a:t>Tuscaloosa,</a:t>
            </a:r>
            <a:r>
              <a:rPr sz="1100" spc="-50" dirty="0">
                <a:latin typeface="Calibri"/>
                <a:cs typeface="Calibri"/>
              </a:rPr>
              <a:t> </a:t>
            </a:r>
            <a:r>
              <a:rPr sz="1100" spc="-25" dirty="0">
                <a:latin typeface="Calibri"/>
                <a:cs typeface="Calibri"/>
              </a:rPr>
              <a:t>AL</a:t>
            </a:r>
            <a:endParaRPr sz="1100" dirty="0">
              <a:latin typeface="Calibri"/>
              <a:cs typeface="Calibri"/>
            </a:endParaRPr>
          </a:p>
          <a:p>
            <a:pPr marL="403860" indent="-391160">
              <a:lnSpc>
                <a:spcPct val="100000"/>
              </a:lnSpc>
              <a:buFont typeface="Wingdings"/>
              <a:buChar char=""/>
              <a:tabLst>
                <a:tab pos="403860" algn="l"/>
              </a:tabLst>
            </a:pPr>
            <a:r>
              <a:rPr sz="1100" dirty="0">
                <a:latin typeface="Calibri"/>
                <a:cs typeface="Calibri"/>
              </a:rPr>
              <a:t>Delivered</a:t>
            </a:r>
            <a:r>
              <a:rPr sz="1100" spc="-40" dirty="0">
                <a:latin typeface="Calibri"/>
                <a:cs typeface="Calibri"/>
              </a:rPr>
              <a:t> </a:t>
            </a:r>
            <a:r>
              <a:rPr sz="1100" spc="-10" dirty="0">
                <a:latin typeface="Calibri"/>
                <a:cs typeface="Calibri"/>
              </a:rPr>
              <a:t>Equipment:</a:t>
            </a:r>
            <a:r>
              <a:rPr sz="1100" spc="-40" dirty="0">
                <a:latin typeface="Calibri"/>
                <a:cs typeface="Calibri"/>
              </a:rPr>
              <a:t> </a:t>
            </a:r>
            <a:r>
              <a:rPr sz="1100" spc="-10" dirty="0">
                <a:latin typeface="Calibri"/>
                <a:cs typeface="Calibri"/>
              </a:rPr>
              <a:t>Automated</a:t>
            </a:r>
            <a:r>
              <a:rPr sz="1100" spc="-50" dirty="0">
                <a:latin typeface="Calibri"/>
                <a:cs typeface="Calibri"/>
              </a:rPr>
              <a:t> </a:t>
            </a:r>
            <a:r>
              <a:rPr sz="1100" spc="-10" dirty="0">
                <a:latin typeface="Calibri"/>
                <a:cs typeface="Calibri"/>
              </a:rPr>
              <a:t>Battery</a:t>
            </a:r>
            <a:r>
              <a:rPr sz="1100" spc="-6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Module</a:t>
            </a:r>
            <a:r>
              <a:rPr sz="1100" spc="-4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Repair</a:t>
            </a:r>
            <a:r>
              <a:rPr sz="1100" spc="-40" dirty="0">
                <a:latin typeface="Calibri"/>
                <a:cs typeface="Calibri"/>
              </a:rPr>
              <a:t> </a:t>
            </a:r>
            <a:r>
              <a:rPr sz="1100" spc="-10" dirty="0">
                <a:latin typeface="Calibri"/>
                <a:cs typeface="Calibri"/>
              </a:rPr>
              <a:t>Workbench</a:t>
            </a:r>
            <a:endParaRPr sz="1100" dirty="0">
              <a:latin typeface="Calibri"/>
              <a:cs typeface="Calibri"/>
            </a:endParaRPr>
          </a:p>
          <a:p>
            <a:pPr marL="403860" indent="-391160">
              <a:lnSpc>
                <a:spcPct val="100000"/>
              </a:lnSpc>
              <a:buFont typeface="Wingdings"/>
              <a:buChar char=""/>
              <a:tabLst>
                <a:tab pos="403860" algn="l"/>
              </a:tabLst>
            </a:pPr>
            <a:r>
              <a:rPr sz="1100" dirty="0">
                <a:latin typeface="Calibri"/>
                <a:cs typeface="Calibri"/>
              </a:rPr>
              <a:t>Completed</a:t>
            </a:r>
            <a:r>
              <a:rPr sz="1100" spc="-95" dirty="0">
                <a:latin typeface="Calibri"/>
                <a:cs typeface="Calibri"/>
              </a:rPr>
              <a:t> </a:t>
            </a:r>
            <a:r>
              <a:rPr sz="1100" spc="-10" dirty="0">
                <a:latin typeface="Calibri"/>
                <a:cs typeface="Calibri"/>
              </a:rPr>
              <a:t>Services:</a:t>
            </a:r>
            <a:endParaRPr sz="1100" dirty="0">
              <a:latin typeface="Calibri"/>
              <a:cs typeface="Calibri"/>
            </a:endParaRPr>
          </a:p>
          <a:p>
            <a:pPr marL="431800">
              <a:lnSpc>
                <a:spcPct val="100000"/>
              </a:lnSpc>
            </a:pPr>
            <a:r>
              <a:rPr sz="1100" dirty="0">
                <a:latin typeface="Calibri"/>
                <a:cs typeface="Calibri"/>
              </a:rPr>
              <a:t>Custom</a:t>
            </a:r>
            <a:r>
              <a:rPr sz="1100" spc="-5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Engineering</a:t>
            </a:r>
            <a:r>
              <a:rPr sz="1100" spc="-3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Solution</a:t>
            </a:r>
            <a:r>
              <a:rPr sz="1100" spc="-3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for</a:t>
            </a:r>
            <a:r>
              <a:rPr sz="1100" spc="-45" dirty="0">
                <a:latin typeface="Calibri"/>
                <a:cs typeface="Calibri"/>
              </a:rPr>
              <a:t> </a:t>
            </a:r>
            <a:r>
              <a:rPr sz="1100" spc="-10" dirty="0">
                <a:latin typeface="Calibri"/>
                <a:cs typeface="Calibri"/>
              </a:rPr>
              <a:t>Automated</a:t>
            </a:r>
            <a:r>
              <a:rPr sz="1100" spc="-45" dirty="0">
                <a:latin typeface="Calibri"/>
                <a:cs typeface="Calibri"/>
              </a:rPr>
              <a:t> </a:t>
            </a:r>
            <a:r>
              <a:rPr sz="1100" spc="-10" dirty="0">
                <a:latin typeface="Calibri"/>
                <a:cs typeface="Calibri"/>
              </a:rPr>
              <a:t>Battery</a:t>
            </a:r>
            <a:r>
              <a:rPr sz="1100" spc="-6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Module</a:t>
            </a:r>
            <a:r>
              <a:rPr sz="1100" spc="-3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Balancing</a:t>
            </a:r>
            <a:r>
              <a:rPr sz="1100" spc="-3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&amp;</a:t>
            </a:r>
            <a:r>
              <a:rPr sz="1100" spc="-50" dirty="0">
                <a:latin typeface="Calibri"/>
                <a:cs typeface="Calibri"/>
              </a:rPr>
              <a:t> </a:t>
            </a:r>
            <a:r>
              <a:rPr sz="1100" spc="-10" dirty="0">
                <a:latin typeface="Calibri"/>
                <a:cs typeface="Calibri"/>
              </a:rPr>
              <a:t>Repair</a:t>
            </a:r>
            <a:endParaRPr sz="1100" dirty="0"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4885547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78F2F1-CF9F-3A5F-04A6-21646EA25B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6" name="object 2">
            <a:extLst>
              <a:ext uri="{FF2B5EF4-FFF2-40B4-BE49-F238E27FC236}">
                <a16:creationId xmlns:a16="http://schemas.microsoft.com/office/drawing/2014/main" id="{E27F95F1-8BB5-44B6-F656-CA1B24A1DEC7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881844" y="1935107"/>
            <a:ext cx="2299942" cy="2119797"/>
          </a:xfrm>
          <a:prstGeom prst="rect">
            <a:avLst/>
          </a:prstGeom>
        </p:spPr>
      </p:pic>
      <p:sp>
        <p:nvSpPr>
          <p:cNvPr id="5" name="TextBox 5">
            <a:extLst>
              <a:ext uri="{FF2B5EF4-FFF2-40B4-BE49-F238E27FC236}">
                <a16:creationId xmlns:a16="http://schemas.microsoft.com/office/drawing/2014/main" id="{2AB78B5B-8D5F-7093-6485-928300408FFB}"/>
              </a:ext>
            </a:extLst>
          </p:cNvPr>
          <p:cNvSpPr txBox="1"/>
          <p:nvPr/>
        </p:nvSpPr>
        <p:spPr>
          <a:xfrm>
            <a:off x="350295" y="2642196"/>
            <a:ext cx="3495017" cy="2507654"/>
          </a:xfrm>
          <a:prstGeom prst="rect">
            <a:avLst/>
          </a:prstGeom>
        </p:spPr>
        <p:txBody>
          <a:bodyPr lIns="33867" tIns="33867" rIns="33867" bIns="33867" rtlCol="0" anchor="ctr"/>
          <a:lstStyle/>
          <a:p>
            <a:pPr algn="ctr">
              <a:lnSpc>
                <a:spcPts val="1773"/>
              </a:lnSpc>
            </a:pPr>
            <a:endParaRPr sz="1200"/>
          </a:p>
        </p:txBody>
      </p:sp>
      <p:grpSp>
        <p:nvGrpSpPr>
          <p:cNvPr id="20" name="Group 20">
            <a:extLst>
              <a:ext uri="{FF2B5EF4-FFF2-40B4-BE49-F238E27FC236}">
                <a16:creationId xmlns:a16="http://schemas.microsoft.com/office/drawing/2014/main" id="{8FE3FD1A-AE5A-FEF4-FEF7-293E8EA090D7}"/>
              </a:ext>
            </a:extLst>
          </p:cNvPr>
          <p:cNvGrpSpPr/>
          <p:nvPr/>
        </p:nvGrpSpPr>
        <p:grpSpPr>
          <a:xfrm>
            <a:off x="9646457" y="-2725769"/>
            <a:ext cx="4382579" cy="4382579"/>
            <a:chOff x="0" y="0"/>
            <a:chExt cx="812800" cy="812800"/>
          </a:xfrm>
        </p:grpSpPr>
        <p:sp>
          <p:nvSpPr>
            <p:cNvPr id="21" name="Freeform 21">
              <a:extLst>
                <a:ext uri="{FF2B5EF4-FFF2-40B4-BE49-F238E27FC236}">
                  <a16:creationId xmlns:a16="http://schemas.microsoft.com/office/drawing/2014/main" id="{8E6EEF18-EDA9-56B0-D035-B25DE2851016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lnTo>
                    <a:pt x="812800" y="406400"/>
                  </a:lnTo>
                  <a:lnTo>
                    <a:pt x="406400" y="812800"/>
                  </a:lnTo>
                  <a:lnTo>
                    <a:pt x="0" y="4064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AEEA00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US" sz="1200"/>
            </a:p>
          </p:txBody>
        </p:sp>
        <p:sp>
          <p:nvSpPr>
            <p:cNvPr id="22" name="TextBox 22">
              <a:extLst>
                <a:ext uri="{FF2B5EF4-FFF2-40B4-BE49-F238E27FC236}">
                  <a16:creationId xmlns:a16="http://schemas.microsoft.com/office/drawing/2014/main" id="{1873C16A-5F68-0CB5-3529-7BC6D87BEFAA}"/>
                </a:ext>
              </a:extLst>
            </p:cNvPr>
            <p:cNvSpPr txBox="1"/>
            <p:nvPr/>
          </p:nvSpPr>
          <p:spPr>
            <a:xfrm>
              <a:off x="139700" y="101600"/>
              <a:ext cx="533400" cy="571500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algn="ctr">
                <a:lnSpc>
                  <a:spcPts val="1614"/>
                </a:lnSpc>
              </a:pPr>
              <a:endParaRPr sz="1200"/>
            </a:p>
          </p:txBody>
        </p:sp>
      </p:grpSp>
      <p:sp>
        <p:nvSpPr>
          <p:cNvPr id="23" name="TextBox 23">
            <a:extLst>
              <a:ext uri="{FF2B5EF4-FFF2-40B4-BE49-F238E27FC236}">
                <a16:creationId xmlns:a16="http://schemas.microsoft.com/office/drawing/2014/main" id="{8A3BC742-5F90-3FDB-A425-09DB6FEBE1FF}"/>
              </a:ext>
            </a:extLst>
          </p:cNvPr>
          <p:cNvSpPr txBox="1"/>
          <p:nvPr/>
        </p:nvSpPr>
        <p:spPr>
          <a:xfrm>
            <a:off x="3712135" y="211347"/>
            <a:ext cx="5501215" cy="52367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606"/>
              </a:lnSpc>
              <a:spcBef>
                <a:spcPct val="0"/>
              </a:spcBef>
            </a:pPr>
            <a:r>
              <a:rPr lang="en-US" altLang="zh-CN" sz="2400" b="1" dirty="0">
                <a:solidFill>
                  <a:srgbClr val="095D40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Customer Project Reference Book</a:t>
            </a:r>
          </a:p>
        </p:txBody>
      </p:sp>
      <p:grpSp>
        <p:nvGrpSpPr>
          <p:cNvPr id="27" name="Group 27">
            <a:extLst>
              <a:ext uri="{FF2B5EF4-FFF2-40B4-BE49-F238E27FC236}">
                <a16:creationId xmlns:a16="http://schemas.microsoft.com/office/drawing/2014/main" id="{5C52B277-897F-8019-BF30-9DBEE3D1DBA8}"/>
              </a:ext>
            </a:extLst>
          </p:cNvPr>
          <p:cNvGrpSpPr/>
          <p:nvPr/>
        </p:nvGrpSpPr>
        <p:grpSpPr>
          <a:xfrm>
            <a:off x="9748057" y="-2624169"/>
            <a:ext cx="4382579" cy="4382579"/>
            <a:chOff x="0" y="0"/>
            <a:chExt cx="812800" cy="812800"/>
          </a:xfrm>
        </p:grpSpPr>
        <p:sp>
          <p:nvSpPr>
            <p:cNvPr id="28" name="Freeform 28">
              <a:extLst>
                <a:ext uri="{FF2B5EF4-FFF2-40B4-BE49-F238E27FC236}">
                  <a16:creationId xmlns:a16="http://schemas.microsoft.com/office/drawing/2014/main" id="{704AE3F5-3BF6-3844-AF9E-016E5CC99362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lnTo>
                    <a:pt x="812800" y="406400"/>
                  </a:lnTo>
                  <a:lnTo>
                    <a:pt x="406400" y="812800"/>
                  </a:lnTo>
                  <a:lnTo>
                    <a:pt x="0" y="4064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AEEA00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US" sz="1200"/>
            </a:p>
          </p:txBody>
        </p:sp>
        <p:sp>
          <p:nvSpPr>
            <p:cNvPr id="29" name="TextBox 29">
              <a:extLst>
                <a:ext uri="{FF2B5EF4-FFF2-40B4-BE49-F238E27FC236}">
                  <a16:creationId xmlns:a16="http://schemas.microsoft.com/office/drawing/2014/main" id="{DB78467E-34C6-6A04-76A7-44995ACB2658}"/>
                </a:ext>
              </a:extLst>
            </p:cNvPr>
            <p:cNvSpPr txBox="1"/>
            <p:nvPr/>
          </p:nvSpPr>
          <p:spPr>
            <a:xfrm>
              <a:off x="139700" y="101600"/>
              <a:ext cx="533400" cy="571500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algn="ctr">
                <a:lnSpc>
                  <a:spcPts val="1614"/>
                </a:lnSpc>
              </a:pPr>
              <a:endParaRPr sz="1200"/>
            </a:p>
          </p:txBody>
        </p:sp>
      </p:grpSp>
      <p:grpSp>
        <p:nvGrpSpPr>
          <p:cNvPr id="30" name="Group 30">
            <a:extLst>
              <a:ext uri="{FF2B5EF4-FFF2-40B4-BE49-F238E27FC236}">
                <a16:creationId xmlns:a16="http://schemas.microsoft.com/office/drawing/2014/main" id="{CD7B08BC-9D5B-DCC5-243E-7BB2495499B6}"/>
              </a:ext>
            </a:extLst>
          </p:cNvPr>
          <p:cNvGrpSpPr/>
          <p:nvPr/>
        </p:nvGrpSpPr>
        <p:grpSpPr>
          <a:xfrm>
            <a:off x="-586860" y="5768130"/>
            <a:ext cx="4382579" cy="4382579"/>
            <a:chOff x="0" y="0"/>
            <a:chExt cx="812800" cy="812800"/>
          </a:xfrm>
        </p:grpSpPr>
        <p:sp>
          <p:nvSpPr>
            <p:cNvPr id="31" name="Freeform 31">
              <a:extLst>
                <a:ext uri="{FF2B5EF4-FFF2-40B4-BE49-F238E27FC236}">
                  <a16:creationId xmlns:a16="http://schemas.microsoft.com/office/drawing/2014/main" id="{E0612788-1B4C-9D1C-F260-C9F777338FA4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lnTo>
                    <a:pt x="812800" y="406400"/>
                  </a:lnTo>
                  <a:lnTo>
                    <a:pt x="406400" y="812800"/>
                  </a:lnTo>
                  <a:lnTo>
                    <a:pt x="0" y="4064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AEEA00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US" sz="1200"/>
            </a:p>
          </p:txBody>
        </p:sp>
        <p:sp>
          <p:nvSpPr>
            <p:cNvPr id="32" name="TextBox 32">
              <a:extLst>
                <a:ext uri="{FF2B5EF4-FFF2-40B4-BE49-F238E27FC236}">
                  <a16:creationId xmlns:a16="http://schemas.microsoft.com/office/drawing/2014/main" id="{452B48BF-20AA-9A75-8D59-1627FEA89B4D}"/>
                </a:ext>
              </a:extLst>
            </p:cNvPr>
            <p:cNvSpPr txBox="1"/>
            <p:nvPr/>
          </p:nvSpPr>
          <p:spPr>
            <a:xfrm>
              <a:off x="139700" y="101600"/>
              <a:ext cx="533400" cy="571500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algn="ctr">
                <a:lnSpc>
                  <a:spcPts val="1614"/>
                </a:lnSpc>
              </a:pPr>
              <a:endParaRPr sz="1200"/>
            </a:p>
          </p:txBody>
        </p:sp>
      </p:grpSp>
      <p:grpSp>
        <p:nvGrpSpPr>
          <p:cNvPr id="33" name="Group 33">
            <a:extLst>
              <a:ext uri="{FF2B5EF4-FFF2-40B4-BE49-F238E27FC236}">
                <a16:creationId xmlns:a16="http://schemas.microsoft.com/office/drawing/2014/main" id="{24FBABCC-D776-27E7-AEDC-1176695705A7}"/>
              </a:ext>
            </a:extLst>
          </p:cNvPr>
          <p:cNvGrpSpPr/>
          <p:nvPr/>
        </p:nvGrpSpPr>
        <p:grpSpPr>
          <a:xfrm>
            <a:off x="-1604064" y="5563701"/>
            <a:ext cx="4382579" cy="4382579"/>
            <a:chOff x="0" y="0"/>
            <a:chExt cx="812800" cy="812800"/>
          </a:xfrm>
        </p:grpSpPr>
        <p:sp>
          <p:nvSpPr>
            <p:cNvPr id="34" name="Freeform 34">
              <a:extLst>
                <a:ext uri="{FF2B5EF4-FFF2-40B4-BE49-F238E27FC236}">
                  <a16:creationId xmlns:a16="http://schemas.microsoft.com/office/drawing/2014/main" id="{17833ECF-4D65-D79E-3F84-75D8095C58EF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lnTo>
                    <a:pt x="812800" y="406400"/>
                  </a:lnTo>
                  <a:lnTo>
                    <a:pt x="406400" y="812800"/>
                  </a:lnTo>
                  <a:lnTo>
                    <a:pt x="0" y="406400"/>
                  </a:lnTo>
                  <a:lnTo>
                    <a:pt x="406400" y="0"/>
                  </a:lnTo>
                  <a:close/>
                </a:path>
              </a:pathLst>
            </a:custGeom>
            <a:ln w="381000" cap="sq">
              <a:solidFill>
                <a:srgbClr val="095D40"/>
              </a:solidFill>
              <a:prstDash val="solid"/>
              <a:miter/>
            </a:ln>
          </p:spPr>
          <p:txBody>
            <a:bodyPr/>
            <a:lstStyle/>
            <a:p>
              <a:endParaRPr lang="en-US" sz="1200"/>
            </a:p>
          </p:txBody>
        </p:sp>
        <p:sp>
          <p:nvSpPr>
            <p:cNvPr id="35" name="TextBox 35">
              <a:extLst>
                <a:ext uri="{FF2B5EF4-FFF2-40B4-BE49-F238E27FC236}">
                  <a16:creationId xmlns:a16="http://schemas.microsoft.com/office/drawing/2014/main" id="{28AD56AE-3A8A-0ADB-43D2-5E6668795A1E}"/>
                </a:ext>
              </a:extLst>
            </p:cNvPr>
            <p:cNvSpPr txBox="1"/>
            <p:nvPr/>
          </p:nvSpPr>
          <p:spPr>
            <a:xfrm>
              <a:off x="139700" y="101600"/>
              <a:ext cx="533400" cy="571500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algn="ctr">
                <a:lnSpc>
                  <a:spcPts val="1614"/>
                </a:lnSpc>
              </a:pPr>
              <a:endParaRPr sz="1200"/>
            </a:p>
          </p:txBody>
        </p:sp>
      </p:grpSp>
      <p:grpSp>
        <p:nvGrpSpPr>
          <p:cNvPr id="36" name="Group 36">
            <a:extLst>
              <a:ext uri="{FF2B5EF4-FFF2-40B4-BE49-F238E27FC236}">
                <a16:creationId xmlns:a16="http://schemas.microsoft.com/office/drawing/2014/main" id="{15DE2292-39BE-FB2B-BCED-ACE9D582F527}"/>
              </a:ext>
            </a:extLst>
          </p:cNvPr>
          <p:cNvGrpSpPr/>
          <p:nvPr/>
        </p:nvGrpSpPr>
        <p:grpSpPr>
          <a:xfrm>
            <a:off x="9748057" y="-2036883"/>
            <a:ext cx="4382579" cy="4382579"/>
            <a:chOff x="0" y="0"/>
            <a:chExt cx="812800" cy="812800"/>
          </a:xfrm>
        </p:grpSpPr>
        <p:sp>
          <p:nvSpPr>
            <p:cNvPr id="37" name="Freeform 37">
              <a:extLst>
                <a:ext uri="{FF2B5EF4-FFF2-40B4-BE49-F238E27FC236}">
                  <a16:creationId xmlns:a16="http://schemas.microsoft.com/office/drawing/2014/main" id="{4F6A0E79-E9B4-32B9-ED43-2F23FB476FA1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lnTo>
                    <a:pt x="812800" y="406400"/>
                  </a:lnTo>
                  <a:lnTo>
                    <a:pt x="406400" y="812800"/>
                  </a:lnTo>
                  <a:lnTo>
                    <a:pt x="0" y="406400"/>
                  </a:lnTo>
                  <a:lnTo>
                    <a:pt x="406400" y="0"/>
                  </a:lnTo>
                  <a:close/>
                </a:path>
              </a:pathLst>
            </a:custGeom>
            <a:ln w="381000" cap="sq">
              <a:solidFill>
                <a:srgbClr val="095D40"/>
              </a:solidFill>
              <a:prstDash val="solid"/>
              <a:miter/>
            </a:ln>
          </p:spPr>
          <p:txBody>
            <a:bodyPr/>
            <a:lstStyle/>
            <a:p>
              <a:endParaRPr lang="en-US" sz="1200"/>
            </a:p>
          </p:txBody>
        </p:sp>
        <p:sp>
          <p:nvSpPr>
            <p:cNvPr id="38" name="TextBox 38">
              <a:extLst>
                <a:ext uri="{FF2B5EF4-FFF2-40B4-BE49-F238E27FC236}">
                  <a16:creationId xmlns:a16="http://schemas.microsoft.com/office/drawing/2014/main" id="{F4602E01-A80A-DCE3-3844-7C359A54925C}"/>
                </a:ext>
              </a:extLst>
            </p:cNvPr>
            <p:cNvSpPr txBox="1"/>
            <p:nvPr/>
          </p:nvSpPr>
          <p:spPr>
            <a:xfrm>
              <a:off x="139700" y="101600"/>
              <a:ext cx="533400" cy="571500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algn="ctr">
                <a:lnSpc>
                  <a:spcPts val="1614"/>
                </a:lnSpc>
              </a:pPr>
              <a:endParaRPr sz="1200"/>
            </a:p>
          </p:txBody>
        </p:sp>
      </p:grpSp>
      <p:pic>
        <p:nvPicPr>
          <p:cNvPr id="7" name="Picture 6">
            <a:extLst>
              <a:ext uri="{FF2B5EF4-FFF2-40B4-BE49-F238E27FC236}">
                <a16:creationId xmlns:a16="http://schemas.microsoft.com/office/drawing/2014/main" id="{F5D1C55E-9B68-F023-688C-17A2582C60F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579" y="-64351"/>
            <a:ext cx="2397632" cy="863147"/>
          </a:xfrm>
          <a:prstGeom prst="rect">
            <a:avLst/>
          </a:prstGeom>
        </p:spPr>
      </p:pic>
      <p:pic>
        <p:nvPicPr>
          <p:cNvPr id="57" name="object 3">
            <a:extLst>
              <a:ext uri="{FF2B5EF4-FFF2-40B4-BE49-F238E27FC236}">
                <a16:creationId xmlns:a16="http://schemas.microsoft.com/office/drawing/2014/main" id="{49EEDD1E-975D-17BC-3FED-CCE8ABC84098}"/>
              </a:ext>
            </a:extLst>
          </p:cNvPr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186396" y="1878736"/>
            <a:ext cx="2593848" cy="2188105"/>
          </a:xfrm>
          <a:prstGeom prst="rect">
            <a:avLst/>
          </a:prstGeom>
        </p:spPr>
      </p:pic>
      <p:pic>
        <p:nvPicPr>
          <p:cNvPr id="59" name="object 5">
            <a:extLst>
              <a:ext uri="{FF2B5EF4-FFF2-40B4-BE49-F238E27FC236}">
                <a16:creationId xmlns:a16="http://schemas.microsoft.com/office/drawing/2014/main" id="{2D99EDB1-5028-894D-8208-A5ED8B6FB3EF}"/>
              </a:ext>
            </a:extLst>
          </p:cNvPr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8471812" y="4119274"/>
            <a:ext cx="3270435" cy="2188105"/>
          </a:xfrm>
          <a:prstGeom prst="rect">
            <a:avLst/>
          </a:prstGeom>
        </p:spPr>
      </p:pic>
      <p:pic>
        <p:nvPicPr>
          <p:cNvPr id="60" name="object 6">
            <a:extLst>
              <a:ext uri="{FF2B5EF4-FFF2-40B4-BE49-F238E27FC236}">
                <a16:creationId xmlns:a16="http://schemas.microsoft.com/office/drawing/2014/main" id="{B3BF3F4B-5389-F941-123C-76FDFD4FE58F}"/>
              </a:ext>
            </a:extLst>
          </p:cNvPr>
          <p:cNvPicPr/>
          <p:nvPr/>
        </p:nvPicPr>
        <p:blipFill>
          <a:blip r:embed="rId6" cstate="print"/>
          <a:srcRect b="5939"/>
          <a:stretch>
            <a:fillRect/>
          </a:stretch>
        </p:blipFill>
        <p:spPr>
          <a:xfrm>
            <a:off x="6221666" y="4126256"/>
            <a:ext cx="2174617" cy="2661894"/>
          </a:xfrm>
          <a:prstGeom prst="rect">
            <a:avLst/>
          </a:prstGeom>
        </p:spPr>
      </p:pic>
      <p:sp>
        <p:nvSpPr>
          <p:cNvPr id="61" name="object 8">
            <a:extLst>
              <a:ext uri="{FF2B5EF4-FFF2-40B4-BE49-F238E27FC236}">
                <a16:creationId xmlns:a16="http://schemas.microsoft.com/office/drawing/2014/main" id="{A5E445E5-8E80-39CD-2DD9-204298E6C26B}"/>
              </a:ext>
            </a:extLst>
          </p:cNvPr>
          <p:cNvSpPr txBox="1"/>
          <p:nvPr/>
        </p:nvSpPr>
        <p:spPr>
          <a:xfrm>
            <a:off x="6268395" y="1290188"/>
            <a:ext cx="5054600" cy="5206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03860" indent="-391160">
              <a:lnSpc>
                <a:spcPct val="100000"/>
              </a:lnSpc>
              <a:spcBef>
                <a:spcPts val="100"/>
              </a:spcBef>
              <a:buFont typeface="Wingdings"/>
              <a:buChar char=""/>
              <a:tabLst>
                <a:tab pos="403860" algn="l"/>
              </a:tabLst>
            </a:pPr>
            <a:r>
              <a:rPr sz="1100" dirty="0">
                <a:latin typeface="Calibri"/>
                <a:cs typeface="Calibri"/>
              </a:rPr>
              <a:t>Location:</a:t>
            </a:r>
            <a:r>
              <a:rPr sz="1100" spc="-45" dirty="0">
                <a:latin typeface="Calibri"/>
                <a:cs typeface="Calibri"/>
              </a:rPr>
              <a:t> </a:t>
            </a:r>
            <a:r>
              <a:rPr sz="1100" spc="-10" dirty="0">
                <a:latin typeface="Calibri"/>
                <a:cs typeface="Calibri"/>
              </a:rPr>
              <a:t>Sunnyvale,</a:t>
            </a:r>
            <a:r>
              <a:rPr sz="1100" spc="-65" dirty="0">
                <a:latin typeface="Calibri"/>
                <a:cs typeface="Calibri"/>
              </a:rPr>
              <a:t> </a:t>
            </a:r>
            <a:r>
              <a:rPr sz="1100" spc="-25" dirty="0">
                <a:latin typeface="Calibri"/>
                <a:cs typeface="Calibri"/>
              </a:rPr>
              <a:t>CA</a:t>
            </a:r>
            <a:endParaRPr sz="1100" dirty="0">
              <a:latin typeface="Calibri"/>
              <a:cs typeface="Calibri"/>
            </a:endParaRPr>
          </a:p>
          <a:p>
            <a:pPr marL="403860" indent="-391160">
              <a:lnSpc>
                <a:spcPct val="100000"/>
              </a:lnSpc>
              <a:buFont typeface="Wingdings"/>
              <a:buChar char=""/>
              <a:tabLst>
                <a:tab pos="403860" algn="l"/>
              </a:tabLst>
            </a:pPr>
            <a:r>
              <a:rPr sz="1100" dirty="0">
                <a:latin typeface="Calibri"/>
                <a:cs typeface="Calibri"/>
              </a:rPr>
              <a:t>Delivered</a:t>
            </a:r>
            <a:r>
              <a:rPr sz="1100" spc="-40" dirty="0">
                <a:latin typeface="Calibri"/>
                <a:cs typeface="Calibri"/>
              </a:rPr>
              <a:t> </a:t>
            </a:r>
            <a:r>
              <a:rPr sz="1100" spc="-10" dirty="0">
                <a:latin typeface="Calibri"/>
                <a:cs typeface="Calibri"/>
              </a:rPr>
              <a:t>Equipment:</a:t>
            </a:r>
            <a:r>
              <a:rPr sz="1100" spc="-4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Battery</a:t>
            </a:r>
            <a:r>
              <a:rPr sz="1100" spc="-6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Cell</a:t>
            </a:r>
            <a:r>
              <a:rPr sz="1100" spc="-40" dirty="0">
                <a:latin typeface="Calibri"/>
                <a:cs typeface="Calibri"/>
              </a:rPr>
              <a:t> </a:t>
            </a:r>
            <a:r>
              <a:rPr sz="1100" spc="-10" dirty="0">
                <a:latin typeface="Calibri"/>
                <a:cs typeface="Calibri"/>
              </a:rPr>
              <a:t>Cyclers,</a:t>
            </a:r>
            <a:r>
              <a:rPr sz="1100" spc="-4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Battery</a:t>
            </a:r>
            <a:r>
              <a:rPr sz="1100" spc="-65" dirty="0">
                <a:latin typeface="Calibri"/>
                <a:cs typeface="Calibri"/>
              </a:rPr>
              <a:t> </a:t>
            </a:r>
            <a:r>
              <a:rPr sz="1100" spc="-10" dirty="0">
                <a:latin typeface="Calibri"/>
                <a:cs typeface="Calibri"/>
              </a:rPr>
              <a:t>Module/Pack</a:t>
            </a:r>
            <a:r>
              <a:rPr sz="1100" spc="-40" dirty="0">
                <a:latin typeface="Calibri"/>
                <a:cs typeface="Calibri"/>
              </a:rPr>
              <a:t> </a:t>
            </a:r>
            <a:r>
              <a:rPr sz="1100" spc="-10" dirty="0">
                <a:latin typeface="Calibri"/>
                <a:cs typeface="Calibri"/>
              </a:rPr>
              <a:t>Cyclers</a:t>
            </a:r>
            <a:endParaRPr sz="1100" dirty="0">
              <a:latin typeface="Calibri"/>
              <a:cs typeface="Calibri"/>
            </a:endParaRPr>
          </a:p>
          <a:p>
            <a:pPr marL="403860" indent="-391160">
              <a:lnSpc>
                <a:spcPct val="100000"/>
              </a:lnSpc>
              <a:buFont typeface="Wingdings"/>
              <a:buChar char=""/>
              <a:tabLst>
                <a:tab pos="403860" algn="l"/>
              </a:tabLst>
            </a:pPr>
            <a:r>
              <a:rPr sz="1100" dirty="0">
                <a:latin typeface="Calibri"/>
                <a:cs typeface="Calibri"/>
              </a:rPr>
              <a:t>Completed</a:t>
            </a:r>
            <a:r>
              <a:rPr sz="1100" spc="-4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Services:</a:t>
            </a:r>
            <a:r>
              <a:rPr sz="1100" spc="-5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Commissioning,</a:t>
            </a:r>
            <a:r>
              <a:rPr sz="1100" spc="-70" dirty="0">
                <a:latin typeface="Calibri"/>
                <a:cs typeface="Calibri"/>
              </a:rPr>
              <a:t> </a:t>
            </a:r>
            <a:r>
              <a:rPr sz="1100" spc="-20" dirty="0">
                <a:latin typeface="Calibri"/>
                <a:cs typeface="Calibri"/>
              </a:rPr>
              <a:t>Training</a:t>
            </a:r>
            <a:r>
              <a:rPr sz="1100" spc="-5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and</a:t>
            </a:r>
            <a:r>
              <a:rPr sz="1100" spc="-5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Application</a:t>
            </a:r>
            <a:r>
              <a:rPr sz="1100" spc="-55" dirty="0">
                <a:latin typeface="Calibri"/>
                <a:cs typeface="Calibri"/>
              </a:rPr>
              <a:t> </a:t>
            </a:r>
            <a:r>
              <a:rPr sz="1100" spc="-10" dirty="0">
                <a:latin typeface="Calibri"/>
                <a:cs typeface="Calibri"/>
              </a:rPr>
              <a:t>Support</a:t>
            </a:r>
            <a:endParaRPr sz="1100" dirty="0">
              <a:latin typeface="Calibri"/>
              <a:cs typeface="Calibri"/>
            </a:endParaRPr>
          </a:p>
        </p:txBody>
      </p:sp>
      <p:pic>
        <p:nvPicPr>
          <p:cNvPr id="62" name="object 2">
            <a:extLst>
              <a:ext uri="{FF2B5EF4-FFF2-40B4-BE49-F238E27FC236}">
                <a16:creationId xmlns:a16="http://schemas.microsoft.com/office/drawing/2014/main" id="{C9CEEFA4-84C8-2BD1-CAE5-E74A3A6E07D1}"/>
              </a:ext>
            </a:extLst>
          </p:cNvPr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949354" y="2139536"/>
            <a:ext cx="3922271" cy="3423160"/>
          </a:xfrm>
          <a:prstGeom prst="rect">
            <a:avLst/>
          </a:prstGeom>
        </p:spPr>
      </p:pic>
      <p:sp>
        <p:nvSpPr>
          <p:cNvPr id="63" name="object 4">
            <a:extLst>
              <a:ext uri="{FF2B5EF4-FFF2-40B4-BE49-F238E27FC236}">
                <a16:creationId xmlns:a16="http://schemas.microsoft.com/office/drawing/2014/main" id="{2F3C0B09-B1BF-77B3-30FA-DD1FF51957F4}"/>
              </a:ext>
            </a:extLst>
          </p:cNvPr>
          <p:cNvSpPr txBox="1"/>
          <p:nvPr/>
        </p:nvSpPr>
        <p:spPr>
          <a:xfrm>
            <a:off x="843315" y="1290187"/>
            <a:ext cx="4786923" cy="5206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03860" indent="-391160">
              <a:lnSpc>
                <a:spcPct val="100000"/>
              </a:lnSpc>
              <a:spcBef>
                <a:spcPts val="100"/>
              </a:spcBef>
              <a:buFont typeface="Wingdings"/>
              <a:buChar char=""/>
              <a:tabLst>
                <a:tab pos="403860" algn="l"/>
              </a:tabLst>
            </a:pPr>
            <a:r>
              <a:rPr sz="1100" dirty="0">
                <a:latin typeface="Calibri"/>
                <a:cs typeface="Calibri"/>
              </a:rPr>
              <a:t>Location:</a:t>
            </a:r>
            <a:r>
              <a:rPr sz="1100" spc="-7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Grand</a:t>
            </a:r>
            <a:r>
              <a:rPr sz="1100" spc="-8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Prairie,</a:t>
            </a:r>
            <a:r>
              <a:rPr sz="1100" spc="-65" dirty="0">
                <a:latin typeface="Calibri"/>
                <a:cs typeface="Calibri"/>
              </a:rPr>
              <a:t> </a:t>
            </a:r>
            <a:r>
              <a:rPr sz="1100" spc="-25" dirty="0">
                <a:latin typeface="Calibri"/>
                <a:cs typeface="Calibri"/>
              </a:rPr>
              <a:t>TX</a:t>
            </a:r>
            <a:endParaRPr sz="1100" dirty="0">
              <a:latin typeface="Calibri"/>
              <a:cs typeface="Calibri"/>
            </a:endParaRPr>
          </a:p>
          <a:p>
            <a:pPr marL="403860" indent="-391160">
              <a:lnSpc>
                <a:spcPct val="100000"/>
              </a:lnSpc>
              <a:buFont typeface="Wingdings"/>
              <a:buChar char=""/>
              <a:tabLst>
                <a:tab pos="403860" algn="l"/>
              </a:tabLst>
            </a:pPr>
            <a:r>
              <a:rPr sz="1100" dirty="0">
                <a:latin typeface="Calibri"/>
                <a:cs typeface="Calibri"/>
              </a:rPr>
              <a:t>Delivered</a:t>
            </a:r>
            <a:r>
              <a:rPr sz="1100" spc="-50" dirty="0">
                <a:latin typeface="Calibri"/>
                <a:cs typeface="Calibri"/>
              </a:rPr>
              <a:t> </a:t>
            </a:r>
            <a:r>
              <a:rPr sz="1100" spc="-10" dirty="0">
                <a:latin typeface="Calibri"/>
                <a:cs typeface="Calibri"/>
              </a:rPr>
              <a:t>Equipment:</a:t>
            </a:r>
            <a:r>
              <a:rPr sz="1100" spc="-6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Battery</a:t>
            </a:r>
            <a:r>
              <a:rPr sz="1100" spc="-7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Cell</a:t>
            </a:r>
            <a:r>
              <a:rPr sz="1100" spc="-4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Cycler</a:t>
            </a:r>
            <a:r>
              <a:rPr sz="1100" spc="-55" dirty="0">
                <a:latin typeface="Calibri"/>
                <a:cs typeface="Calibri"/>
              </a:rPr>
              <a:t> </a:t>
            </a:r>
            <a:r>
              <a:rPr sz="1100" spc="-10" dirty="0">
                <a:latin typeface="Calibri"/>
                <a:cs typeface="Calibri"/>
              </a:rPr>
              <a:t>5V300A16CH</a:t>
            </a:r>
            <a:endParaRPr sz="1100" dirty="0">
              <a:latin typeface="Calibri"/>
              <a:cs typeface="Calibri"/>
            </a:endParaRPr>
          </a:p>
          <a:p>
            <a:pPr marL="403860" indent="-391160">
              <a:lnSpc>
                <a:spcPct val="100000"/>
              </a:lnSpc>
              <a:buFont typeface="Wingdings"/>
              <a:buChar char=""/>
              <a:tabLst>
                <a:tab pos="403860" algn="l"/>
              </a:tabLst>
            </a:pPr>
            <a:r>
              <a:rPr sz="1100" dirty="0">
                <a:latin typeface="Calibri"/>
                <a:cs typeface="Calibri"/>
              </a:rPr>
              <a:t>Completed</a:t>
            </a:r>
            <a:r>
              <a:rPr sz="1100" spc="-4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Services:</a:t>
            </a:r>
            <a:r>
              <a:rPr sz="1100" spc="-5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Commissioning,</a:t>
            </a:r>
            <a:r>
              <a:rPr sz="1100" spc="-70" dirty="0">
                <a:latin typeface="Calibri"/>
                <a:cs typeface="Calibri"/>
              </a:rPr>
              <a:t> </a:t>
            </a:r>
            <a:r>
              <a:rPr sz="1100" spc="-20" dirty="0">
                <a:latin typeface="Calibri"/>
                <a:cs typeface="Calibri"/>
              </a:rPr>
              <a:t>Training</a:t>
            </a:r>
            <a:r>
              <a:rPr sz="1100" spc="-5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and</a:t>
            </a:r>
            <a:r>
              <a:rPr sz="1100" spc="-5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Application</a:t>
            </a:r>
            <a:r>
              <a:rPr sz="1100" spc="-55" dirty="0">
                <a:latin typeface="Calibri"/>
                <a:cs typeface="Calibri"/>
              </a:rPr>
              <a:t> </a:t>
            </a:r>
            <a:r>
              <a:rPr sz="1100" spc="-10" dirty="0">
                <a:latin typeface="Calibri"/>
                <a:cs typeface="Calibri"/>
              </a:rPr>
              <a:t>Support</a:t>
            </a:r>
            <a:endParaRPr sz="1100" dirty="0"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69691712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33F953-36C2-9E3F-233E-84F9B95CB0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object 8">
            <a:extLst>
              <a:ext uri="{FF2B5EF4-FFF2-40B4-BE49-F238E27FC236}">
                <a16:creationId xmlns:a16="http://schemas.microsoft.com/office/drawing/2014/main" id="{B63055D7-3E4D-845B-4321-BE1CC0F1BAE2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82710" y="4803004"/>
            <a:ext cx="2822354" cy="1725823"/>
          </a:xfrm>
          <a:prstGeom prst="rect">
            <a:avLst/>
          </a:prstGeom>
        </p:spPr>
      </p:pic>
      <p:pic>
        <p:nvPicPr>
          <p:cNvPr id="4" name="object 3">
            <a:extLst>
              <a:ext uri="{FF2B5EF4-FFF2-40B4-BE49-F238E27FC236}">
                <a16:creationId xmlns:a16="http://schemas.microsoft.com/office/drawing/2014/main" id="{A7F38457-03C5-B443-10C2-31ACD08D5DB8}"/>
              </a:ext>
            </a:extLst>
          </p:cNvPr>
          <p:cNvPicPr/>
          <p:nvPr/>
        </p:nvPicPr>
        <p:blipFill>
          <a:blip r:embed="rId3" cstate="print"/>
          <a:srcRect t="5074" r="10149"/>
          <a:stretch>
            <a:fillRect/>
          </a:stretch>
        </p:blipFill>
        <p:spPr>
          <a:xfrm>
            <a:off x="9102100" y="2103032"/>
            <a:ext cx="2442732" cy="1878738"/>
          </a:xfrm>
          <a:prstGeom prst="rect">
            <a:avLst/>
          </a:prstGeom>
        </p:spPr>
      </p:pic>
      <p:sp>
        <p:nvSpPr>
          <p:cNvPr id="5" name="TextBox 5">
            <a:extLst>
              <a:ext uri="{FF2B5EF4-FFF2-40B4-BE49-F238E27FC236}">
                <a16:creationId xmlns:a16="http://schemas.microsoft.com/office/drawing/2014/main" id="{81077699-BDF4-A683-3A46-2A3E53134A2B}"/>
              </a:ext>
            </a:extLst>
          </p:cNvPr>
          <p:cNvSpPr txBox="1"/>
          <p:nvPr/>
        </p:nvSpPr>
        <p:spPr>
          <a:xfrm>
            <a:off x="350295" y="2642196"/>
            <a:ext cx="3495017" cy="2507654"/>
          </a:xfrm>
          <a:prstGeom prst="rect">
            <a:avLst/>
          </a:prstGeom>
        </p:spPr>
        <p:txBody>
          <a:bodyPr lIns="33867" tIns="33867" rIns="33867" bIns="33867" rtlCol="0" anchor="ctr"/>
          <a:lstStyle/>
          <a:p>
            <a:pPr algn="ctr">
              <a:lnSpc>
                <a:spcPts val="1773"/>
              </a:lnSpc>
            </a:pPr>
            <a:endParaRPr sz="1200"/>
          </a:p>
        </p:txBody>
      </p:sp>
      <p:grpSp>
        <p:nvGrpSpPr>
          <p:cNvPr id="20" name="Group 20">
            <a:extLst>
              <a:ext uri="{FF2B5EF4-FFF2-40B4-BE49-F238E27FC236}">
                <a16:creationId xmlns:a16="http://schemas.microsoft.com/office/drawing/2014/main" id="{D8442442-42A6-EA72-952A-D8CC557FE91C}"/>
              </a:ext>
            </a:extLst>
          </p:cNvPr>
          <p:cNvGrpSpPr/>
          <p:nvPr/>
        </p:nvGrpSpPr>
        <p:grpSpPr>
          <a:xfrm>
            <a:off x="9646457" y="-2725769"/>
            <a:ext cx="4382579" cy="4382579"/>
            <a:chOff x="0" y="0"/>
            <a:chExt cx="812800" cy="812800"/>
          </a:xfrm>
        </p:grpSpPr>
        <p:sp>
          <p:nvSpPr>
            <p:cNvPr id="21" name="Freeform 21">
              <a:extLst>
                <a:ext uri="{FF2B5EF4-FFF2-40B4-BE49-F238E27FC236}">
                  <a16:creationId xmlns:a16="http://schemas.microsoft.com/office/drawing/2014/main" id="{35DBCDB6-B2AC-1D41-C645-42F82FD3E0FF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lnTo>
                    <a:pt x="812800" y="406400"/>
                  </a:lnTo>
                  <a:lnTo>
                    <a:pt x="406400" y="812800"/>
                  </a:lnTo>
                  <a:lnTo>
                    <a:pt x="0" y="4064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AEEA00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US" sz="1200"/>
            </a:p>
          </p:txBody>
        </p:sp>
        <p:sp>
          <p:nvSpPr>
            <p:cNvPr id="22" name="TextBox 22">
              <a:extLst>
                <a:ext uri="{FF2B5EF4-FFF2-40B4-BE49-F238E27FC236}">
                  <a16:creationId xmlns:a16="http://schemas.microsoft.com/office/drawing/2014/main" id="{B2532DCC-1A65-1917-B73F-70C9C266C259}"/>
                </a:ext>
              </a:extLst>
            </p:cNvPr>
            <p:cNvSpPr txBox="1"/>
            <p:nvPr/>
          </p:nvSpPr>
          <p:spPr>
            <a:xfrm>
              <a:off x="139700" y="101600"/>
              <a:ext cx="533400" cy="571500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algn="ctr">
                <a:lnSpc>
                  <a:spcPts val="1614"/>
                </a:lnSpc>
              </a:pPr>
              <a:endParaRPr sz="1200"/>
            </a:p>
          </p:txBody>
        </p:sp>
      </p:grpSp>
      <p:sp>
        <p:nvSpPr>
          <p:cNvPr id="23" name="TextBox 23">
            <a:extLst>
              <a:ext uri="{FF2B5EF4-FFF2-40B4-BE49-F238E27FC236}">
                <a16:creationId xmlns:a16="http://schemas.microsoft.com/office/drawing/2014/main" id="{D7B564DD-80CE-F962-04DA-5C9ED6F214C6}"/>
              </a:ext>
            </a:extLst>
          </p:cNvPr>
          <p:cNvSpPr txBox="1"/>
          <p:nvPr/>
        </p:nvSpPr>
        <p:spPr>
          <a:xfrm>
            <a:off x="3712135" y="211347"/>
            <a:ext cx="5501215" cy="52367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606"/>
              </a:lnSpc>
              <a:spcBef>
                <a:spcPct val="0"/>
              </a:spcBef>
            </a:pPr>
            <a:r>
              <a:rPr lang="en-US" altLang="zh-CN" sz="2400" b="1" dirty="0">
                <a:solidFill>
                  <a:srgbClr val="095D40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Customer Project Reference Book</a:t>
            </a:r>
          </a:p>
        </p:txBody>
      </p:sp>
      <p:grpSp>
        <p:nvGrpSpPr>
          <p:cNvPr id="27" name="Group 27">
            <a:extLst>
              <a:ext uri="{FF2B5EF4-FFF2-40B4-BE49-F238E27FC236}">
                <a16:creationId xmlns:a16="http://schemas.microsoft.com/office/drawing/2014/main" id="{8D55275C-3ECA-3D18-A396-1A2CDDA9AD60}"/>
              </a:ext>
            </a:extLst>
          </p:cNvPr>
          <p:cNvGrpSpPr/>
          <p:nvPr/>
        </p:nvGrpSpPr>
        <p:grpSpPr>
          <a:xfrm>
            <a:off x="9748057" y="-2624169"/>
            <a:ext cx="4382579" cy="4382579"/>
            <a:chOff x="0" y="0"/>
            <a:chExt cx="812800" cy="812800"/>
          </a:xfrm>
        </p:grpSpPr>
        <p:sp>
          <p:nvSpPr>
            <p:cNvPr id="28" name="Freeform 28">
              <a:extLst>
                <a:ext uri="{FF2B5EF4-FFF2-40B4-BE49-F238E27FC236}">
                  <a16:creationId xmlns:a16="http://schemas.microsoft.com/office/drawing/2014/main" id="{EDB3CE3D-3739-9745-EFC7-160DD8DF4E31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lnTo>
                    <a:pt x="812800" y="406400"/>
                  </a:lnTo>
                  <a:lnTo>
                    <a:pt x="406400" y="812800"/>
                  </a:lnTo>
                  <a:lnTo>
                    <a:pt x="0" y="4064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AEEA00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US" sz="1200"/>
            </a:p>
          </p:txBody>
        </p:sp>
        <p:sp>
          <p:nvSpPr>
            <p:cNvPr id="29" name="TextBox 29">
              <a:extLst>
                <a:ext uri="{FF2B5EF4-FFF2-40B4-BE49-F238E27FC236}">
                  <a16:creationId xmlns:a16="http://schemas.microsoft.com/office/drawing/2014/main" id="{C9ED75B5-0C72-255E-9F43-9DEB4419C7A9}"/>
                </a:ext>
              </a:extLst>
            </p:cNvPr>
            <p:cNvSpPr txBox="1"/>
            <p:nvPr/>
          </p:nvSpPr>
          <p:spPr>
            <a:xfrm>
              <a:off x="139700" y="101600"/>
              <a:ext cx="533400" cy="571500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algn="ctr">
                <a:lnSpc>
                  <a:spcPts val="1614"/>
                </a:lnSpc>
              </a:pPr>
              <a:endParaRPr sz="1200"/>
            </a:p>
          </p:txBody>
        </p:sp>
      </p:grpSp>
      <p:grpSp>
        <p:nvGrpSpPr>
          <p:cNvPr id="30" name="Group 30">
            <a:extLst>
              <a:ext uri="{FF2B5EF4-FFF2-40B4-BE49-F238E27FC236}">
                <a16:creationId xmlns:a16="http://schemas.microsoft.com/office/drawing/2014/main" id="{BA684B47-76F6-12BE-6DA6-37A0161E2E9E}"/>
              </a:ext>
            </a:extLst>
          </p:cNvPr>
          <p:cNvGrpSpPr/>
          <p:nvPr/>
        </p:nvGrpSpPr>
        <p:grpSpPr>
          <a:xfrm>
            <a:off x="-586860" y="5768130"/>
            <a:ext cx="4382579" cy="4382579"/>
            <a:chOff x="0" y="0"/>
            <a:chExt cx="812800" cy="812800"/>
          </a:xfrm>
        </p:grpSpPr>
        <p:sp>
          <p:nvSpPr>
            <p:cNvPr id="31" name="Freeform 31">
              <a:extLst>
                <a:ext uri="{FF2B5EF4-FFF2-40B4-BE49-F238E27FC236}">
                  <a16:creationId xmlns:a16="http://schemas.microsoft.com/office/drawing/2014/main" id="{FEA7C48E-19CD-131D-0073-0209B5940E3D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lnTo>
                    <a:pt x="812800" y="406400"/>
                  </a:lnTo>
                  <a:lnTo>
                    <a:pt x="406400" y="812800"/>
                  </a:lnTo>
                  <a:lnTo>
                    <a:pt x="0" y="4064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AEEA00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US" sz="1200"/>
            </a:p>
          </p:txBody>
        </p:sp>
        <p:sp>
          <p:nvSpPr>
            <p:cNvPr id="32" name="TextBox 32">
              <a:extLst>
                <a:ext uri="{FF2B5EF4-FFF2-40B4-BE49-F238E27FC236}">
                  <a16:creationId xmlns:a16="http://schemas.microsoft.com/office/drawing/2014/main" id="{3F85466B-889C-6203-EBCD-0514AD8AECBA}"/>
                </a:ext>
              </a:extLst>
            </p:cNvPr>
            <p:cNvSpPr txBox="1"/>
            <p:nvPr/>
          </p:nvSpPr>
          <p:spPr>
            <a:xfrm>
              <a:off x="139700" y="101600"/>
              <a:ext cx="533400" cy="571500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algn="ctr">
                <a:lnSpc>
                  <a:spcPts val="1614"/>
                </a:lnSpc>
              </a:pPr>
              <a:endParaRPr sz="1200"/>
            </a:p>
          </p:txBody>
        </p:sp>
      </p:grpSp>
      <p:grpSp>
        <p:nvGrpSpPr>
          <p:cNvPr id="33" name="Group 33">
            <a:extLst>
              <a:ext uri="{FF2B5EF4-FFF2-40B4-BE49-F238E27FC236}">
                <a16:creationId xmlns:a16="http://schemas.microsoft.com/office/drawing/2014/main" id="{A57C58DF-EE3C-9384-857A-95C717CF05A0}"/>
              </a:ext>
            </a:extLst>
          </p:cNvPr>
          <p:cNvGrpSpPr/>
          <p:nvPr/>
        </p:nvGrpSpPr>
        <p:grpSpPr>
          <a:xfrm>
            <a:off x="-1604064" y="5563701"/>
            <a:ext cx="4382579" cy="4382579"/>
            <a:chOff x="0" y="0"/>
            <a:chExt cx="812800" cy="812800"/>
          </a:xfrm>
        </p:grpSpPr>
        <p:sp>
          <p:nvSpPr>
            <p:cNvPr id="34" name="Freeform 34">
              <a:extLst>
                <a:ext uri="{FF2B5EF4-FFF2-40B4-BE49-F238E27FC236}">
                  <a16:creationId xmlns:a16="http://schemas.microsoft.com/office/drawing/2014/main" id="{32BF89FB-91F8-21C5-C6DB-CCA787A33619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lnTo>
                    <a:pt x="812800" y="406400"/>
                  </a:lnTo>
                  <a:lnTo>
                    <a:pt x="406400" y="812800"/>
                  </a:lnTo>
                  <a:lnTo>
                    <a:pt x="0" y="406400"/>
                  </a:lnTo>
                  <a:lnTo>
                    <a:pt x="406400" y="0"/>
                  </a:lnTo>
                  <a:close/>
                </a:path>
              </a:pathLst>
            </a:custGeom>
            <a:ln w="381000" cap="sq">
              <a:solidFill>
                <a:srgbClr val="095D40"/>
              </a:solidFill>
              <a:prstDash val="solid"/>
              <a:miter/>
            </a:ln>
          </p:spPr>
          <p:txBody>
            <a:bodyPr/>
            <a:lstStyle/>
            <a:p>
              <a:endParaRPr lang="en-US" sz="1200"/>
            </a:p>
          </p:txBody>
        </p:sp>
        <p:sp>
          <p:nvSpPr>
            <p:cNvPr id="35" name="TextBox 35">
              <a:extLst>
                <a:ext uri="{FF2B5EF4-FFF2-40B4-BE49-F238E27FC236}">
                  <a16:creationId xmlns:a16="http://schemas.microsoft.com/office/drawing/2014/main" id="{1D634490-7529-B585-5737-A0160D8304ED}"/>
                </a:ext>
              </a:extLst>
            </p:cNvPr>
            <p:cNvSpPr txBox="1"/>
            <p:nvPr/>
          </p:nvSpPr>
          <p:spPr>
            <a:xfrm>
              <a:off x="139700" y="101600"/>
              <a:ext cx="533400" cy="571500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algn="ctr">
                <a:lnSpc>
                  <a:spcPts val="1614"/>
                </a:lnSpc>
              </a:pPr>
              <a:endParaRPr sz="1200"/>
            </a:p>
          </p:txBody>
        </p:sp>
      </p:grpSp>
      <p:grpSp>
        <p:nvGrpSpPr>
          <p:cNvPr id="36" name="Group 36">
            <a:extLst>
              <a:ext uri="{FF2B5EF4-FFF2-40B4-BE49-F238E27FC236}">
                <a16:creationId xmlns:a16="http://schemas.microsoft.com/office/drawing/2014/main" id="{A4B98884-0B99-64F3-A630-23ED60B3FCC2}"/>
              </a:ext>
            </a:extLst>
          </p:cNvPr>
          <p:cNvGrpSpPr/>
          <p:nvPr/>
        </p:nvGrpSpPr>
        <p:grpSpPr>
          <a:xfrm>
            <a:off x="9748057" y="-2036883"/>
            <a:ext cx="4382579" cy="4382579"/>
            <a:chOff x="0" y="0"/>
            <a:chExt cx="812800" cy="812800"/>
          </a:xfrm>
        </p:grpSpPr>
        <p:sp>
          <p:nvSpPr>
            <p:cNvPr id="37" name="Freeform 37">
              <a:extLst>
                <a:ext uri="{FF2B5EF4-FFF2-40B4-BE49-F238E27FC236}">
                  <a16:creationId xmlns:a16="http://schemas.microsoft.com/office/drawing/2014/main" id="{1FA5F4A2-F6A1-5F69-91C4-52BF1EAB4E48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lnTo>
                    <a:pt x="812800" y="406400"/>
                  </a:lnTo>
                  <a:lnTo>
                    <a:pt x="406400" y="812800"/>
                  </a:lnTo>
                  <a:lnTo>
                    <a:pt x="0" y="406400"/>
                  </a:lnTo>
                  <a:lnTo>
                    <a:pt x="406400" y="0"/>
                  </a:lnTo>
                  <a:close/>
                </a:path>
              </a:pathLst>
            </a:custGeom>
            <a:ln w="381000" cap="sq">
              <a:solidFill>
                <a:srgbClr val="095D40"/>
              </a:solidFill>
              <a:prstDash val="solid"/>
              <a:miter/>
            </a:ln>
          </p:spPr>
          <p:txBody>
            <a:bodyPr/>
            <a:lstStyle/>
            <a:p>
              <a:endParaRPr lang="en-US" sz="1200"/>
            </a:p>
          </p:txBody>
        </p:sp>
        <p:sp>
          <p:nvSpPr>
            <p:cNvPr id="38" name="TextBox 38">
              <a:extLst>
                <a:ext uri="{FF2B5EF4-FFF2-40B4-BE49-F238E27FC236}">
                  <a16:creationId xmlns:a16="http://schemas.microsoft.com/office/drawing/2014/main" id="{D7ED95BD-08E3-6178-564A-E71681EC76B3}"/>
                </a:ext>
              </a:extLst>
            </p:cNvPr>
            <p:cNvSpPr txBox="1"/>
            <p:nvPr/>
          </p:nvSpPr>
          <p:spPr>
            <a:xfrm>
              <a:off x="139700" y="101600"/>
              <a:ext cx="533400" cy="571500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algn="ctr">
                <a:lnSpc>
                  <a:spcPts val="1614"/>
                </a:lnSpc>
              </a:pPr>
              <a:endParaRPr sz="1200"/>
            </a:p>
          </p:txBody>
        </p:sp>
      </p:grpSp>
      <p:pic>
        <p:nvPicPr>
          <p:cNvPr id="7" name="Picture 6">
            <a:extLst>
              <a:ext uri="{FF2B5EF4-FFF2-40B4-BE49-F238E27FC236}">
                <a16:creationId xmlns:a16="http://schemas.microsoft.com/office/drawing/2014/main" id="{8BE003BA-2EF0-B241-0664-C7E7FD404F3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579" y="-64351"/>
            <a:ext cx="2397632" cy="863147"/>
          </a:xfrm>
          <a:prstGeom prst="rect">
            <a:avLst/>
          </a:prstGeom>
        </p:spPr>
      </p:pic>
      <p:pic>
        <p:nvPicPr>
          <p:cNvPr id="3" name="object 2">
            <a:extLst>
              <a:ext uri="{FF2B5EF4-FFF2-40B4-BE49-F238E27FC236}">
                <a16:creationId xmlns:a16="http://schemas.microsoft.com/office/drawing/2014/main" id="{0225A684-6A67-B148-C7A4-ACBEC87EA653}"/>
              </a:ext>
            </a:extLst>
          </p:cNvPr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6337739" y="4080502"/>
            <a:ext cx="5243100" cy="2652327"/>
          </a:xfrm>
          <a:prstGeom prst="rect">
            <a:avLst/>
          </a:prstGeom>
        </p:spPr>
      </p:pic>
      <p:pic>
        <p:nvPicPr>
          <p:cNvPr id="6" name="object 4">
            <a:extLst>
              <a:ext uri="{FF2B5EF4-FFF2-40B4-BE49-F238E27FC236}">
                <a16:creationId xmlns:a16="http://schemas.microsoft.com/office/drawing/2014/main" id="{EE59CFF8-F6F4-BFFE-1B92-3C788D066501}"/>
              </a:ext>
            </a:extLst>
          </p:cNvPr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6361010" y="2135120"/>
            <a:ext cx="2598279" cy="1846650"/>
          </a:xfrm>
          <a:prstGeom prst="rect">
            <a:avLst/>
          </a:prstGeom>
        </p:spPr>
      </p:pic>
      <p:sp>
        <p:nvSpPr>
          <p:cNvPr id="8" name="object 6">
            <a:extLst>
              <a:ext uri="{FF2B5EF4-FFF2-40B4-BE49-F238E27FC236}">
                <a16:creationId xmlns:a16="http://schemas.microsoft.com/office/drawing/2014/main" id="{EC1DA066-ADF3-AD81-CCF7-BD6898BE656C}"/>
              </a:ext>
            </a:extLst>
          </p:cNvPr>
          <p:cNvSpPr txBox="1"/>
          <p:nvPr/>
        </p:nvSpPr>
        <p:spPr>
          <a:xfrm>
            <a:off x="6891192" y="900614"/>
            <a:ext cx="5612130" cy="1180451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98145" indent="-385445">
              <a:lnSpc>
                <a:spcPts val="1939"/>
              </a:lnSpc>
              <a:spcBef>
                <a:spcPts val="105"/>
              </a:spcBef>
              <a:buFont typeface="Wingdings"/>
              <a:buChar char=""/>
              <a:tabLst>
                <a:tab pos="398145" algn="l"/>
              </a:tabLst>
            </a:pPr>
            <a:r>
              <a:rPr sz="1100" dirty="0">
                <a:latin typeface="Calibri"/>
                <a:cs typeface="Calibri"/>
              </a:rPr>
              <a:t>Location:</a:t>
            </a:r>
            <a:r>
              <a:rPr sz="1100" spc="-65" dirty="0">
                <a:latin typeface="Calibri"/>
                <a:cs typeface="Calibri"/>
              </a:rPr>
              <a:t> </a:t>
            </a:r>
            <a:r>
              <a:rPr sz="1100" spc="-10" dirty="0">
                <a:latin typeface="Calibri"/>
                <a:cs typeface="Calibri"/>
              </a:rPr>
              <a:t>Tuscaloosa,</a:t>
            </a:r>
            <a:r>
              <a:rPr sz="1100" spc="-85" dirty="0">
                <a:latin typeface="Calibri"/>
                <a:cs typeface="Calibri"/>
              </a:rPr>
              <a:t> </a:t>
            </a:r>
            <a:r>
              <a:rPr sz="1100" spc="-25" dirty="0">
                <a:latin typeface="Calibri"/>
                <a:cs typeface="Calibri"/>
              </a:rPr>
              <a:t>AL</a:t>
            </a:r>
            <a:endParaRPr sz="1100" dirty="0">
              <a:latin typeface="Calibri"/>
              <a:cs typeface="Calibri"/>
            </a:endParaRPr>
          </a:p>
          <a:p>
            <a:pPr marL="398145" indent="-385445">
              <a:lnSpc>
                <a:spcPts val="1835"/>
              </a:lnSpc>
              <a:buFont typeface="Wingdings"/>
              <a:buChar char=""/>
              <a:tabLst>
                <a:tab pos="398145" algn="l"/>
              </a:tabLst>
            </a:pPr>
            <a:r>
              <a:rPr sz="1100" dirty="0">
                <a:latin typeface="Calibri"/>
                <a:cs typeface="Calibri"/>
              </a:rPr>
              <a:t>Delivered</a:t>
            </a:r>
            <a:r>
              <a:rPr sz="1100" spc="-55" dirty="0">
                <a:latin typeface="Calibri"/>
                <a:cs typeface="Calibri"/>
              </a:rPr>
              <a:t> </a:t>
            </a:r>
            <a:r>
              <a:rPr sz="1100" spc="-10" dirty="0">
                <a:latin typeface="Calibri"/>
                <a:cs typeface="Calibri"/>
              </a:rPr>
              <a:t>Equipment:</a:t>
            </a:r>
            <a:endParaRPr sz="1100" dirty="0">
              <a:latin typeface="Calibri"/>
              <a:cs typeface="Calibri"/>
            </a:endParaRPr>
          </a:p>
          <a:p>
            <a:pPr marL="405765">
              <a:lnSpc>
                <a:spcPts val="1839"/>
              </a:lnSpc>
            </a:pPr>
            <a:r>
              <a:rPr sz="1100" dirty="0">
                <a:latin typeface="Calibri"/>
                <a:cs typeface="Calibri"/>
              </a:rPr>
              <a:t>Battery</a:t>
            </a:r>
            <a:r>
              <a:rPr sz="1100" spc="-40" dirty="0">
                <a:latin typeface="Calibri"/>
                <a:cs typeface="Calibri"/>
              </a:rPr>
              <a:t> </a:t>
            </a:r>
            <a:r>
              <a:rPr sz="1100" spc="-10" dirty="0">
                <a:latin typeface="Calibri"/>
                <a:cs typeface="Calibri"/>
              </a:rPr>
              <a:t>Module/Pack</a:t>
            </a:r>
            <a:r>
              <a:rPr sz="1100" spc="-60" dirty="0">
                <a:latin typeface="Calibri"/>
                <a:cs typeface="Calibri"/>
              </a:rPr>
              <a:t> </a:t>
            </a:r>
            <a:r>
              <a:rPr sz="1100" spc="-20" dirty="0">
                <a:latin typeface="Calibri"/>
                <a:cs typeface="Calibri"/>
              </a:rPr>
              <a:t>Cycler,</a:t>
            </a:r>
            <a:r>
              <a:rPr sz="1100" spc="-25" dirty="0">
                <a:latin typeface="Calibri"/>
                <a:cs typeface="Calibri"/>
              </a:rPr>
              <a:t> Walk-</a:t>
            </a:r>
            <a:r>
              <a:rPr sz="1100" dirty="0">
                <a:latin typeface="Calibri"/>
                <a:cs typeface="Calibri"/>
              </a:rPr>
              <a:t>In</a:t>
            </a:r>
            <a:r>
              <a:rPr sz="1100" spc="-4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Battery</a:t>
            </a:r>
            <a:r>
              <a:rPr sz="1100" spc="-25" dirty="0">
                <a:latin typeface="Calibri"/>
                <a:cs typeface="Calibri"/>
              </a:rPr>
              <a:t> </a:t>
            </a:r>
            <a:r>
              <a:rPr sz="1100" spc="-45" dirty="0">
                <a:latin typeface="Calibri"/>
                <a:cs typeface="Calibri"/>
              </a:rPr>
              <a:t>Test</a:t>
            </a:r>
            <a:r>
              <a:rPr sz="1100" spc="-30" dirty="0">
                <a:latin typeface="Calibri"/>
                <a:cs typeface="Calibri"/>
              </a:rPr>
              <a:t> </a:t>
            </a:r>
            <a:r>
              <a:rPr sz="1100" spc="-10" dirty="0">
                <a:latin typeface="Calibri"/>
                <a:cs typeface="Calibri"/>
              </a:rPr>
              <a:t>Chamber</a:t>
            </a:r>
            <a:endParaRPr sz="1100" dirty="0">
              <a:latin typeface="Calibri"/>
              <a:cs typeface="Calibri"/>
            </a:endParaRPr>
          </a:p>
          <a:p>
            <a:pPr marL="398145" indent="-385445">
              <a:lnSpc>
                <a:spcPts val="1839"/>
              </a:lnSpc>
              <a:buFont typeface="Wingdings"/>
              <a:buChar char=""/>
              <a:tabLst>
                <a:tab pos="398145" algn="l"/>
              </a:tabLst>
            </a:pPr>
            <a:r>
              <a:rPr sz="1100" spc="-10" dirty="0">
                <a:latin typeface="Calibri"/>
                <a:cs typeface="Calibri"/>
              </a:rPr>
              <a:t>Completed Services:</a:t>
            </a:r>
            <a:endParaRPr sz="1100" dirty="0">
              <a:latin typeface="Calibri"/>
              <a:cs typeface="Calibri"/>
            </a:endParaRPr>
          </a:p>
          <a:p>
            <a:pPr marL="405765">
              <a:lnSpc>
                <a:spcPts val="1835"/>
              </a:lnSpc>
            </a:pPr>
            <a:r>
              <a:rPr sz="1100" dirty="0">
                <a:latin typeface="Calibri"/>
                <a:cs typeface="Calibri"/>
              </a:rPr>
              <a:t>Engineering</a:t>
            </a:r>
            <a:r>
              <a:rPr sz="1100" spc="-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design,</a:t>
            </a:r>
            <a:r>
              <a:rPr sz="1100" spc="-35" dirty="0">
                <a:latin typeface="Calibri"/>
                <a:cs typeface="Calibri"/>
              </a:rPr>
              <a:t> </a:t>
            </a:r>
            <a:r>
              <a:rPr sz="1100" spc="-10" dirty="0">
                <a:latin typeface="Calibri"/>
                <a:cs typeface="Calibri"/>
              </a:rPr>
              <a:t>commissioning</a:t>
            </a:r>
            <a:r>
              <a:rPr sz="1100" spc="-3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and</a:t>
            </a:r>
            <a:r>
              <a:rPr sz="1100" spc="-15" dirty="0">
                <a:latin typeface="Calibri"/>
                <a:cs typeface="Calibri"/>
              </a:rPr>
              <a:t> </a:t>
            </a:r>
            <a:r>
              <a:rPr sz="1100" spc="-10" dirty="0">
                <a:latin typeface="Calibri"/>
                <a:cs typeface="Calibri"/>
              </a:rPr>
              <a:t>application</a:t>
            </a:r>
            <a:r>
              <a:rPr sz="1100" spc="-40" dirty="0">
                <a:latin typeface="Calibri"/>
                <a:cs typeface="Calibri"/>
              </a:rPr>
              <a:t> </a:t>
            </a:r>
            <a:r>
              <a:rPr sz="1100" spc="-10" dirty="0">
                <a:latin typeface="Calibri"/>
                <a:cs typeface="Calibri"/>
              </a:rPr>
              <a:t>support</a:t>
            </a:r>
            <a:endParaRPr sz="1100" dirty="0">
              <a:latin typeface="Calibri"/>
              <a:cs typeface="Calibri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27729113-F421-6EBC-26EB-403780579A81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t="22049"/>
          <a:stretch>
            <a:fillRect/>
          </a:stretch>
        </p:blipFill>
        <p:spPr>
          <a:xfrm>
            <a:off x="1165338" y="2321661"/>
            <a:ext cx="4210259" cy="2379128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6FFE01ED-1A64-270E-33CD-340B61406A6E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 t="3704" r="6650" b="8644"/>
          <a:stretch>
            <a:fillRect/>
          </a:stretch>
        </p:blipFill>
        <p:spPr>
          <a:xfrm>
            <a:off x="3997624" y="4803003"/>
            <a:ext cx="1377973" cy="1725824"/>
          </a:xfrm>
          <a:prstGeom prst="rect">
            <a:avLst/>
          </a:prstGeom>
        </p:spPr>
      </p:pic>
      <p:sp>
        <p:nvSpPr>
          <p:cNvPr id="12" name="object 3">
            <a:extLst>
              <a:ext uri="{FF2B5EF4-FFF2-40B4-BE49-F238E27FC236}">
                <a16:creationId xmlns:a16="http://schemas.microsoft.com/office/drawing/2014/main" id="{FB260E87-80AE-43ED-13A1-39CD7AFC4FF9}"/>
              </a:ext>
            </a:extLst>
          </p:cNvPr>
          <p:cNvSpPr txBox="1"/>
          <p:nvPr/>
        </p:nvSpPr>
        <p:spPr>
          <a:xfrm>
            <a:off x="1364491" y="863114"/>
            <a:ext cx="4011106" cy="1394228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98145" indent="-385445">
              <a:lnSpc>
                <a:spcPts val="1939"/>
              </a:lnSpc>
              <a:spcBef>
                <a:spcPts val="105"/>
              </a:spcBef>
              <a:buFont typeface="Wingdings"/>
              <a:buChar char=""/>
              <a:tabLst>
                <a:tab pos="398145" algn="l"/>
              </a:tabLst>
            </a:pPr>
            <a:r>
              <a:rPr sz="1100" dirty="0">
                <a:latin typeface="Calibri"/>
                <a:cs typeface="Calibri"/>
              </a:rPr>
              <a:t>Location:</a:t>
            </a:r>
            <a:r>
              <a:rPr sz="1100" spc="-45" dirty="0">
                <a:latin typeface="Calibri"/>
                <a:cs typeface="Calibri"/>
              </a:rPr>
              <a:t> </a:t>
            </a:r>
            <a:r>
              <a:rPr sz="1100" spc="-10" dirty="0">
                <a:latin typeface="Calibri"/>
                <a:cs typeface="Calibri"/>
              </a:rPr>
              <a:t>Reno,</a:t>
            </a:r>
            <a:r>
              <a:rPr sz="1100" spc="-65" dirty="0">
                <a:latin typeface="Calibri"/>
                <a:cs typeface="Calibri"/>
              </a:rPr>
              <a:t> </a:t>
            </a:r>
            <a:r>
              <a:rPr sz="1100" spc="-25" dirty="0">
                <a:latin typeface="Calibri"/>
                <a:cs typeface="Calibri"/>
              </a:rPr>
              <a:t>NV</a:t>
            </a:r>
            <a:endParaRPr sz="1100" dirty="0">
              <a:latin typeface="Calibri"/>
              <a:cs typeface="Calibri"/>
            </a:endParaRPr>
          </a:p>
          <a:p>
            <a:pPr marL="398145" marR="1616710" indent="-386080">
              <a:lnSpc>
                <a:spcPts val="1839"/>
              </a:lnSpc>
              <a:spcBef>
                <a:spcPts val="125"/>
              </a:spcBef>
              <a:buFont typeface="Wingdings"/>
              <a:buChar char=""/>
              <a:tabLst>
                <a:tab pos="405765" algn="l"/>
              </a:tabLst>
            </a:pPr>
            <a:r>
              <a:rPr sz="1100" dirty="0">
                <a:latin typeface="Calibri"/>
                <a:cs typeface="Calibri"/>
              </a:rPr>
              <a:t>Delivered</a:t>
            </a:r>
            <a:r>
              <a:rPr sz="1100" spc="-55" dirty="0">
                <a:latin typeface="Calibri"/>
                <a:cs typeface="Calibri"/>
              </a:rPr>
              <a:t> </a:t>
            </a:r>
            <a:r>
              <a:rPr sz="1100" spc="-10" dirty="0">
                <a:latin typeface="Calibri"/>
                <a:cs typeface="Calibri"/>
              </a:rPr>
              <a:t>Equipment: 	</a:t>
            </a:r>
            <a:r>
              <a:rPr sz="1100" dirty="0">
                <a:latin typeface="Calibri"/>
                <a:cs typeface="Calibri"/>
              </a:rPr>
              <a:t>QA</a:t>
            </a:r>
            <a:r>
              <a:rPr sz="1100" spc="-1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Lab</a:t>
            </a:r>
            <a:r>
              <a:rPr sz="1100" spc="-30" dirty="0">
                <a:latin typeface="Calibri"/>
                <a:cs typeface="Calibri"/>
              </a:rPr>
              <a:t> </a:t>
            </a:r>
            <a:r>
              <a:rPr sz="1100" spc="-10" dirty="0">
                <a:latin typeface="Calibri"/>
                <a:cs typeface="Calibri"/>
              </a:rPr>
              <a:t>Equipment; 	</a:t>
            </a:r>
            <a:r>
              <a:rPr sz="1100" dirty="0">
                <a:latin typeface="Calibri"/>
                <a:cs typeface="Calibri"/>
              </a:rPr>
              <a:t>IQC</a:t>
            </a:r>
            <a:r>
              <a:rPr sz="1100" spc="-5" dirty="0">
                <a:latin typeface="Calibri"/>
                <a:cs typeface="Calibri"/>
              </a:rPr>
              <a:t> </a:t>
            </a:r>
            <a:r>
              <a:rPr sz="1100" spc="-10" dirty="0">
                <a:latin typeface="Calibri"/>
                <a:cs typeface="Calibri"/>
              </a:rPr>
              <a:t>Equipment</a:t>
            </a:r>
            <a:endParaRPr sz="1100" dirty="0">
              <a:latin typeface="Calibri"/>
              <a:cs typeface="Calibri"/>
            </a:endParaRPr>
          </a:p>
          <a:p>
            <a:pPr marL="405765">
              <a:lnSpc>
                <a:spcPts val="1700"/>
              </a:lnSpc>
            </a:pPr>
            <a:r>
              <a:rPr sz="1100" dirty="0">
                <a:latin typeface="Calibri"/>
                <a:cs typeface="Calibri"/>
              </a:rPr>
              <a:t>Battery</a:t>
            </a:r>
            <a:r>
              <a:rPr sz="1100" spc="-60" dirty="0">
                <a:latin typeface="Calibri"/>
                <a:cs typeface="Calibri"/>
              </a:rPr>
              <a:t> </a:t>
            </a:r>
            <a:r>
              <a:rPr sz="1100" spc="-25" dirty="0">
                <a:latin typeface="Calibri"/>
                <a:cs typeface="Calibri"/>
              </a:rPr>
              <a:t>Testing</a:t>
            </a:r>
            <a:r>
              <a:rPr sz="1100" spc="-6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Accessories</a:t>
            </a:r>
            <a:r>
              <a:rPr sz="1100" spc="-7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and</a:t>
            </a:r>
            <a:r>
              <a:rPr sz="1100" spc="-60" dirty="0">
                <a:latin typeface="Calibri"/>
                <a:cs typeface="Calibri"/>
              </a:rPr>
              <a:t> </a:t>
            </a:r>
            <a:r>
              <a:rPr sz="1100" spc="-10" dirty="0">
                <a:latin typeface="Calibri"/>
                <a:cs typeface="Calibri"/>
              </a:rPr>
              <a:t>Parts;</a:t>
            </a:r>
            <a:endParaRPr sz="1100" dirty="0">
              <a:latin typeface="Calibri"/>
              <a:cs typeface="Calibri"/>
            </a:endParaRPr>
          </a:p>
          <a:p>
            <a:pPr marL="298450" indent="-285750">
              <a:lnSpc>
                <a:spcPts val="1835"/>
              </a:lnSpc>
              <a:buFont typeface="Wingdings"/>
              <a:buChar char=""/>
              <a:tabLst>
                <a:tab pos="298450" algn="l"/>
              </a:tabLst>
            </a:pPr>
            <a:r>
              <a:rPr sz="1100" spc="-10" dirty="0">
                <a:latin typeface="Calibri"/>
                <a:cs typeface="Calibri"/>
              </a:rPr>
              <a:t>Completed Services:</a:t>
            </a:r>
            <a:endParaRPr sz="1100" dirty="0">
              <a:latin typeface="Calibri"/>
              <a:cs typeface="Calibri"/>
            </a:endParaRPr>
          </a:p>
          <a:p>
            <a:pPr marL="405765">
              <a:lnSpc>
                <a:spcPts val="1835"/>
              </a:lnSpc>
            </a:pPr>
            <a:r>
              <a:rPr sz="1100" dirty="0">
                <a:latin typeface="Calibri"/>
                <a:cs typeface="Calibri"/>
              </a:rPr>
              <a:t>Commissioning</a:t>
            </a:r>
            <a:r>
              <a:rPr sz="1100" spc="-2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and</a:t>
            </a:r>
            <a:r>
              <a:rPr sz="1100" spc="-15" dirty="0">
                <a:latin typeface="Calibri"/>
                <a:cs typeface="Calibri"/>
              </a:rPr>
              <a:t> </a:t>
            </a:r>
            <a:r>
              <a:rPr sz="1100" spc="-10" dirty="0">
                <a:latin typeface="Calibri"/>
                <a:cs typeface="Calibri"/>
              </a:rPr>
              <a:t>Application</a:t>
            </a:r>
            <a:r>
              <a:rPr sz="1100" spc="-55" dirty="0">
                <a:latin typeface="Calibri"/>
                <a:cs typeface="Calibri"/>
              </a:rPr>
              <a:t> </a:t>
            </a:r>
            <a:r>
              <a:rPr sz="1100" spc="-10" dirty="0">
                <a:latin typeface="Calibri"/>
                <a:cs typeface="Calibri"/>
              </a:rPr>
              <a:t>Support</a:t>
            </a:r>
            <a:endParaRPr sz="1100" dirty="0"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88570936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>
            <a:grpSpLocks noGrp="1" noUngrp="1" noRot="1" noMove="1" noResize="1"/>
          </p:cNvGrpSpPr>
          <p:nvPr/>
        </p:nvGrpSpPr>
        <p:grpSpPr>
          <a:xfrm>
            <a:off x="-37734" y="2426124"/>
            <a:ext cx="12267467" cy="3484737"/>
            <a:chOff x="0" y="0"/>
            <a:chExt cx="4846407" cy="1376686"/>
          </a:xfrm>
        </p:grpSpPr>
        <p:sp>
          <p:nvSpPr>
            <p:cNvPr id="3" name="Freeform 3"/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0" y="0"/>
              <a:ext cx="4846407" cy="1376686"/>
            </a:xfrm>
            <a:custGeom>
              <a:avLst/>
              <a:gdLst/>
              <a:ahLst/>
              <a:cxnLst/>
              <a:rect l="l" t="t" r="r" b="b"/>
              <a:pathLst>
                <a:path w="4846407" h="1376686">
                  <a:moveTo>
                    <a:pt x="0" y="0"/>
                  </a:moveTo>
                  <a:lnTo>
                    <a:pt x="4846407" y="0"/>
                  </a:lnTo>
                  <a:lnTo>
                    <a:pt x="4846407" y="1376686"/>
                  </a:lnTo>
                  <a:lnTo>
                    <a:pt x="0" y="1376686"/>
                  </a:lnTo>
                  <a:close/>
                </a:path>
              </a:pathLst>
            </a:custGeom>
            <a:solidFill>
              <a:srgbClr val="095D40"/>
            </a:solidFill>
          </p:spPr>
          <p:txBody>
            <a:bodyPr/>
            <a:lstStyle/>
            <a:p>
              <a:endParaRPr lang="en-US" sz="1200"/>
            </a:p>
          </p:txBody>
        </p:sp>
        <p:sp>
          <p:nvSpPr>
            <p:cNvPr id="4" name="TextBox 4"/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0" y="-38100"/>
              <a:ext cx="4846407" cy="1414786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algn="ctr">
                <a:lnSpc>
                  <a:spcPts val="1773"/>
                </a:lnSpc>
              </a:pPr>
              <a:endParaRPr sz="1200"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3261858" y="855559"/>
            <a:ext cx="3880621" cy="50180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4454"/>
              </a:lnSpc>
            </a:pPr>
            <a:r>
              <a:rPr sz="3181" b="1">
                <a:solidFill>
                  <a:srgbClr val="095D40"/>
                </a:solidFill>
                <a:latin typeface="Montaser Arabic Bold"/>
              </a:rPr>
              <a:t>EnerTest Solutions</a:t>
            </a:r>
            <a:endParaRPr lang="zh-CN" altLang="en-US" sz="3181" b="1" dirty="0">
              <a:solidFill>
                <a:srgbClr val="095D40"/>
              </a:solidFill>
              <a:latin typeface="Montaser Arabic Bold"/>
              <a:ea typeface="Montaser Arabic Bold"/>
              <a:cs typeface="Montaser Arabic Bold"/>
              <a:sym typeface="Montaser Arabic Bold"/>
            </a:endParaRPr>
          </a:p>
        </p:txBody>
      </p:sp>
      <p:sp>
        <p:nvSpPr>
          <p:cNvPr id="6" name="TextBox 6"/>
          <p:cNvSpPr txBox="1"/>
          <p:nvPr/>
        </p:nvSpPr>
        <p:spPr>
          <a:xfrm>
            <a:off x="3261860" y="1286069"/>
            <a:ext cx="6842260" cy="89357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8006"/>
              </a:lnSpc>
            </a:pPr>
            <a:r>
              <a:rPr sz="3531" b="1">
                <a:solidFill>
                  <a:srgbClr val="095D40"/>
                </a:solidFill>
                <a:latin typeface="Montaser Arabic Bold"/>
              </a:rPr>
              <a:t>Project Delivery Process</a:t>
            </a:r>
            <a:endParaRPr lang="en-US" sz="5719" b="1" dirty="0">
              <a:solidFill>
                <a:srgbClr val="095D40"/>
              </a:solidFill>
              <a:latin typeface="Montaser Arabic Bold"/>
              <a:ea typeface="Montaser Arabic Bold"/>
              <a:cs typeface="Montaser Arabic Bold"/>
              <a:sym typeface="Montaser Arabic Bold"/>
            </a:endParaRPr>
          </a:p>
        </p:txBody>
      </p:sp>
      <p:sp>
        <p:nvSpPr>
          <p:cNvPr id="7" name="TextBox 7"/>
          <p:cNvSpPr txBox="1"/>
          <p:nvPr/>
        </p:nvSpPr>
        <p:spPr>
          <a:xfrm>
            <a:off x="2917472" y="3362826"/>
            <a:ext cx="1693035" cy="39389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614"/>
              </a:lnSpc>
            </a:pPr>
            <a:r>
              <a:rPr sz="1100" dirty="0">
                <a:solidFill>
                  <a:srgbClr val="FFFFFF"/>
                </a:solidFill>
                <a:latin typeface="Montserrat"/>
              </a:rPr>
              <a:t>Requirements &amp;</a:t>
            </a:r>
            <a:endParaRPr lang="zh-CN" altLang="en-US" sz="1100" dirty="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algn="ctr">
              <a:lnSpc>
                <a:spcPts val="1614"/>
              </a:lnSpc>
            </a:pPr>
            <a:r>
              <a:rPr sz="1100" dirty="0">
                <a:solidFill>
                  <a:srgbClr val="FFFFFF"/>
                </a:solidFill>
                <a:latin typeface="Montserrat"/>
              </a:rPr>
              <a:t>RFQ Alignment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3055781" y="2454395"/>
            <a:ext cx="1364387" cy="81875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6852"/>
              </a:lnSpc>
              <a:spcBef>
                <a:spcPct val="0"/>
              </a:spcBef>
            </a:pPr>
            <a:r>
              <a:rPr lang="en-US" sz="4894" b="1" dirty="0">
                <a:solidFill>
                  <a:srgbClr val="F4F4F4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01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5191123" y="3397024"/>
            <a:ext cx="1653586" cy="39389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614"/>
              </a:lnSpc>
            </a:pPr>
            <a:r>
              <a:rPr sz="1100" dirty="0">
                <a:solidFill>
                  <a:srgbClr val="FFFFFF"/>
                </a:solidFill>
                <a:latin typeface="Montserrat"/>
              </a:rPr>
              <a:t>Technical Review &amp;</a:t>
            </a:r>
            <a:endParaRPr lang="en-US" sz="1100" dirty="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algn="ctr">
              <a:lnSpc>
                <a:spcPts val="1614"/>
              </a:lnSpc>
            </a:pPr>
            <a:r>
              <a:rPr sz="1100" dirty="0">
                <a:solidFill>
                  <a:srgbClr val="FFFFFF"/>
                </a:solidFill>
                <a:latin typeface="Montserrat"/>
              </a:rPr>
              <a:t>System Design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5273941" y="2433803"/>
            <a:ext cx="1542432" cy="8187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852"/>
              </a:lnSpc>
              <a:spcBef>
                <a:spcPct val="0"/>
              </a:spcBef>
            </a:pPr>
            <a:r>
              <a:rPr lang="en-US" sz="4894" b="1" dirty="0">
                <a:solidFill>
                  <a:srgbClr val="F4F4F4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02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7485141" y="3396272"/>
            <a:ext cx="1538602" cy="3744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14"/>
              </a:lnSpc>
            </a:pPr>
            <a:r>
              <a:rPr sz="1100" dirty="0">
                <a:solidFill>
                  <a:srgbClr val="FFFFFF"/>
                </a:solidFill>
                <a:latin typeface="Montserrat"/>
              </a:rPr>
              <a:t>Proposal /</a:t>
            </a:r>
          </a:p>
          <a:p>
            <a:pPr algn="ctr"/>
            <a:r>
              <a:rPr sz="1100" dirty="0">
                <a:solidFill>
                  <a:srgbClr val="FFFFFF"/>
                </a:solidFill>
                <a:latin typeface="Montserrat"/>
              </a:rPr>
              <a:t>Contract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7445072" y="2483260"/>
            <a:ext cx="1542432" cy="8187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852"/>
              </a:lnSpc>
              <a:spcBef>
                <a:spcPct val="0"/>
              </a:spcBef>
            </a:pPr>
            <a:r>
              <a:rPr lang="en-US" sz="4894" b="1" dirty="0">
                <a:solidFill>
                  <a:srgbClr val="F4F4F4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03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9664175" y="3362826"/>
            <a:ext cx="1702551" cy="39389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614"/>
              </a:lnSpc>
            </a:pPr>
            <a:r>
              <a:rPr sz="1100" dirty="0">
                <a:solidFill>
                  <a:srgbClr val="FFFFFF"/>
                </a:solidFill>
                <a:latin typeface="Montserrat"/>
              </a:rPr>
              <a:t>System Integration &amp;</a:t>
            </a:r>
            <a:endParaRPr lang="en-US" sz="1100" dirty="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algn="ctr">
              <a:lnSpc>
                <a:spcPts val="1614"/>
              </a:lnSpc>
            </a:pPr>
            <a:r>
              <a:rPr sz="1100" dirty="0">
                <a:solidFill>
                  <a:srgbClr val="FFFFFF"/>
                </a:solidFill>
                <a:latin typeface="Montserrat"/>
              </a:rPr>
              <a:t>FAT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9696262" y="2429727"/>
            <a:ext cx="1542432" cy="8187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852"/>
              </a:lnSpc>
              <a:spcBef>
                <a:spcPct val="0"/>
              </a:spcBef>
            </a:pPr>
            <a:r>
              <a:rPr lang="en-US" sz="4894" b="1" dirty="0">
                <a:solidFill>
                  <a:srgbClr val="F4F4F4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04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9024890" y="5213262"/>
            <a:ext cx="1775190" cy="39389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614"/>
              </a:lnSpc>
            </a:pPr>
            <a:r>
              <a:rPr sz="1100" dirty="0">
                <a:solidFill>
                  <a:srgbClr val="FFFFFF"/>
                </a:solidFill>
                <a:latin typeface="Montserrat"/>
              </a:rPr>
              <a:t>Installation,</a:t>
            </a:r>
            <a:endParaRPr lang="en-US" sz="1100" dirty="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algn="ctr">
              <a:lnSpc>
                <a:spcPts val="1614"/>
              </a:lnSpc>
            </a:pPr>
            <a:r>
              <a:rPr sz="1100" dirty="0">
                <a:solidFill>
                  <a:srgbClr val="FFFFFF"/>
                </a:solidFill>
                <a:latin typeface="Montserrat"/>
              </a:rPr>
              <a:t>Commissioning &amp; SAT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9093647" y="4219918"/>
            <a:ext cx="1542432" cy="8187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852"/>
              </a:lnSpc>
              <a:spcBef>
                <a:spcPct val="0"/>
              </a:spcBef>
            </a:pPr>
            <a:r>
              <a:rPr lang="en-US" sz="4894" b="1" dirty="0">
                <a:solidFill>
                  <a:srgbClr val="F4F4F4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05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6699016" y="5213262"/>
            <a:ext cx="1538602" cy="3938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14"/>
              </a:lnSpc>
            </a:pPr>
            <a:r>
              <a:rPr sz="1100" dirty="0">
                <a:solidFill>
                  <a:srgbClr val="FFFFFF"/>
                </a:solidFill>
                <a:latin typeface="Montserrat"/>
              </a:rPr>
              <a:t>Training &amp;</a:t>
            </a:r>
            <a:endParaRPr lang="en-US" sz="1100" dirty="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algn="ctr">
              <a:lnSpc>
                <a:spcPts val="1614"/>
              </a:lnSpc>
            </a:pPr>
            <a:r>
              <a:rPr sz="1100" dirty="0">
                <a:solidFill>
                  <a:srgbClr val="FFFFFF"/>
                </a:solidFill>
                <a:latin typeface="Montserrat"/>
              </a:rPr>
              <a:t>System Handover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6733751" y="4296793"/>
            <a:ext cx="1542432" cy="8187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852"/>
              </a:lnSpc>
              <a:spcBef>
                <a:spcPct val="0"/>
              </a:spcBef>
            </a:pPr>
            <a:r>
              <a:rPr lang="en-US" sz="4894" b="1" dirty="0">
                <a:solidFill>
                  <a:srgbClr val="F4F4F4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06</a:t>
            </a:r>
          </a:p>
        </p:txBody>
      </p:sp>
      <p:grpSp>
        <p:nvGrpSpPr>
          <p:cNvPr id="27" name="Group 26">
            <a:extLst>
              <a:ext uri="{FF2B5EF4-FFF2-40B4-BE49-F238E27FC236}">
                <a16:creationId xmlns:a16="http://schemas.microsoft.com/office/drawing/2014/main" id="{0BAC0DE7-27D9-3501-B604-76C70AC75AD0}"/>
              </a:ext>
            </a:extLst>
          </p:cNvPr>
          <p:cNvGrpSpPr/>
          <p:nvPr/>
        </p:nvGrpSpPr>
        <p:grpSpPr>
          <a:xfrm>
            <a:off x="4105553" y="4321931"/>
            <a:ext cx="1856786" cy="1288235"/>
            <a:chOff x="3921928" y="4191204"/>
            <a:chExt cx="1856786" cy="1288235"/>
          </a:xfrm>
        </p:grpSpPr>
        <p:sp>
          <p:nvSpPr>
            <p:cNvPr id="19" name="TextBox 19"/>
            <p:cNvSpPr txBox="1"/>
            <p:nvPr/>
          </p:nvSpPr>
          <p:spPr>
            <a:xfrm>
              <a:off x="3921928" y="5085549"/>
              <a:ext cx="1856786" cy="393890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ctr">
                <a:lnSpc>
                  <a:spcPts val="1614"/>
                </a:lnSpc>
              </a:pPr>
              <a:r>
                <a:rPr sz="1100" dirty="0">
                  <a:solidFill>
                    <a:srgbClr val="FFFFFF"/>
                  </a:solidFill>
                  <a:latin typeface="Montserrat"/>
                </a:rPr>
                <a:t>Technical Support &amp;</a:t>
              </a:r>
              <a:endParaRPr lang="en-US" sz="1100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  <a:p>
              <a:pPr algn="ctr">
                <a:lnSpc>
                  <a:spcPts val="1614"/>
                </a:lnSpc>
              </a:pPr>
              <a:r>
                <a:rPr sz="1100" dirty="0">
                  <a:solidFill>
                    <a:srgbClr val="FFFFFF"/>
                  </a:solidFill>
                  <a:latin typeface="Montserrat"/>
                </a:rPr>
                <a:t>Long-Term Service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4236282" y="4191204"/>
              <a:ext cx="1542432" cy="81875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6852"/>
                </a:lnSpc>
                <a:spcBef>
                  <a:spcPct val="0"/>
                </a:spcBef>
              </a:pPr>
              <a:r>
                <a:rPr lang="en-US" sz="4894" b="1" dirty="0">
                  <a:solidFill>
                    <a:srgbClr val="F4F4F4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07</a:t>
              </a:r>
            </a:p>
          </p:txBody>
        </p:sp>
      </p:grpSp>
      <p:sp>
        <p:nvSpPr>
          <p:cNvPr id="21" name="Arrow: Right 20">
            <a:extLst>
              <a:ext uri="{FF2B5EF4-FFF2-40B4-BE49-F238E27FC236}">
                <a16:creationId xmlns:a16="http://schemas.microsoft.com/office/drawing/2014/main" id="{BD5E9673-DE98-C26A-C58E-F9DC685D9A6D}"/>
              </a:ext>
            </a:extLst>
          </p:cNvPr>
          <p:cNvSpPr/>
          <p:nvPr/>
        </p:nvSpPr>
        <p:spPr>
          <a:xfrm>
            <a:off x="4716972" y="2799519"/>
            <a:ext cx="397431" cy="186231"/>
          </a:xfrm>
          <a:prstGeom prst="rightArrow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Arrow: Right 21">
            <a:extLst>
              <a:ext uri="{FF2B5EF4-FFF2-40B4-BE49-F238E27FC236}">
                <a16:creationId xmlns:a16="http://schemas.microsoft.com/office/drawing/2014/main" id="{F749AF86-8481-EF08-D044-43FE7B199CA1}"/>
              </a:ext>
            </a:extLst>
          </p:cNvPr>
          <p:cNvSpPr/>
          <p:nvPr/>
        </p:nvSpPr>
        <p:spPr>
          <a:xfrm>
            <a:off x="6989628" y="2799519"/>
            <a:ext cx="397431" cy="186231"/>
          </a:xfrm>
          <a:prstGeom prst="rightArrow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Arrow: Right 23">
            <a:extLst>
              <a:ext uri="{FF2B5EF4-FFF2-40B4-BE49-F238E27FC236}">
                <a16:creationId xmlns:a16="http://schemas.microsoft.com/office/drawing/2014/main" id="{D28D85B7-186B-2127-4939-AC9E2E2ED9A0}"/>
              </a:ext>
            </a:extLst>
          </p:cNvPr>
          <p:cNvSpPr/>
          <p:nvPr/>
        </p:nvSpPr>
        <p:spPr>
          <a:xfrm>
            <a:off x="9143167" y="2798297"/>
            <a:ext cx="397431" cy="186231"/>
          </a:xfrm>
          <a:prstGeom prst="rightArrow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Arrow: U-Turn 24">
            <a:extLst>
              <a:ext uri="{FF2B5EF4-FFF2-40B4-BE49-F238E27FC236}">
                <a16:creationId xmlns:a16="http://schemas.microsoft.com/office/drawing/2014/main" id="{D7B7F051-7D25-E15D-5E26-BD1A73EAAD8D}"/>
              </a:ext>
            </a:extLst>
          </p:cNvPr>
          <p:cNvSpPr/>
          <p:nvPr/>
        </p:nvSpPr>
        <p:spPr>
          <a:xfrm rot="5400000">
            <a:off x="10544656" y="3359638"/>
            <a:ext cx="2048025" cy="925346"/>
          </a:xfrm>
          <a:prstGeom prst="uturnArrow">
            <a:avLst>
              <a:gd name="adj1" fmla="val 11709"/>
              <a:gd name="adj2" fmla="val 23902"/>
              <a:gd name="adj3" fmla="val 25549"/>
              <a:gd name="adj4" fmla="val 43750"/>
              <a:gd name="adj5" fmla="val 100000"/>
            </a:avLst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54A08B2D-DDB2-8CCB-1C91-B24B0E11BF1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7467" t="523" r="20010"/>
          <a:stretch>
            <a:fillRect/>
          </a:stretch>
        </p:blipFill>
        <p:spPr>
          <a:xfrm>
            <a:off x="-1157076" y="0"/>
            <a:ext cx="3752821" cy="6866123"/>
          </a:xfrm>
          <a:prstGeom prst="rect">
            <a:avLst/>
          </a:prstGeom>
        </p:spPr>
      </p:pic>
      <p:sp>
        <p:nvSpPr>
          <p:cNvPr id="33" name="Arrow: Right 32">
            <a:extLst>
              <a:ext uri="{FF2B5EF4-FFF2-40B4-BE49-F238E27FC236}">
                <a16:creationId xmlns:a16="http://schemas.microsoft.com/office/drawing/2014/main" id="{E6128A48-4D16-782D-EFB9-702560EEA1E7}"/>
              </a:ext>
            </a:extLst>
          </p:cNvPr>
          <p:cNvSpPr/>
          <p:nvPr/>
        </p:nvSpPr>
        <p:spPr>
          <a:xfrm rot="10800000">
            <a:off x="8415010" y="4597485"/>
            <a:ext cx="397431" cy="186231"/>
          </a:xfrm>
          <a:prstGeom prst="rightArrow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Arrow: Right 33">
            <a:extLst>
              <a:ext uri="{FF2B5EF4-FFF2-40B4-BE49-F238E27FC236}">
                <a16:creationId xmlns:a16="http://schemas.microsoft.com/office/drawing/2014/main" id="{1C80A571-094D-B1F5-F252-8EEEAB780268}"/>
              </a:ext>
            </a:extLst>
          </p:cNvPr>
          <p:cNvSpPr/>
          <p:nvPr/>
        </p:nvSpPr>
        <p:spPr>
          <a:xfrm rot="10800000">
            <a:off x="6065119" y="4652379"/>
            <a:ext cx="397431" cy="186231"/>
          </a:xfrm>
          <a:prstGeom prst="rightArrow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3"/>
          <p:cNvSpPr txBox="1"/>
          <p:nvPr/>
        </p:nvSpPr>
        <p:spPr>
          <a:xfrm>
            <a:off x="619677" y="117149"/>
            <a:ext cx="5735120" cy="5482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4606"/>
              </a:lnSpc>
            </a:pPr>
            <a:r>
              <a:rPr sz="3124" b="1" dirty="0">
                <a:solidFill>
                  <a:srgbClr val="095D40"/>
                </a:solidFill>
                <a:latin typeface="Montaser Arabic Bold"/>
              </a:rPr>
              <a:t>Custome</a:t>
            </a:r>
            <a:r>
              <a:rPr lang="en-US" sz="3124" b="1" dirty="0">
                <a:solidFill>
                  <a:srgbClr val="095D40"/>
                </a:solidFill>
                <a:latin typeface="Montaser Arabic Bold"/>
              </a:rPr>
              <a:t>rs</a:t>
            </a:r>
            <a:endParaRPr lang="en-US" sz="3289" b="1" dirty="0">
              <a:solidFill>
                <a:srgbClr val="095D40"/>
              </a:solidFill>
              <a:latin typeface="Montaser Arabic Bold"/>
              <a:ea typeface="Montaser Arabic Bold"/>
              <a:cs typeface="Montaser Arabic Bold"/>
              <a:sym typeface="Montaser Arabic Bold"/>
            </a:endParaRPr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AD461CFE-EA8F-DE47-9DBD-340EFAA71844}"/>
              </a:ext>
            </a:extLst>
          </p:cNvPr>
          <p:cNvGrpSpPr/>
          <p:nvPr/>
        </p:nvGrpSpPr>
        <p:grpSpPr>
          <a:xfrm>
            <a:off x="6192926" y="-1134264"/>
            <a:ext cx="1548434" cy="8715156"/>
            <a:chOff x="7247026" y="-1167430"/>
            <a:chExt cx="1548434" cy="8715156"/>
          </a:xfrm>
        </p:grpSpPr>
        <p:grpSp>
          <p:nvGrpSpPr>
            <p:cNvPr id="10" name="Group 10"/>
            <p:cNvGrpSpPr/>
            <p:nvPr/>
          </p:nvGrpSpPr>
          <p:grpSpPr>
            <a:xfrm rot="-4571454">
              <a:off x="4917041" y="4688993"/>
              <a:ext cx="5392563" cy="324903"/>
              <a:chOff x="0" y="0"/>
              <a:chExt cx="14285852" cy="860725"/>
            </a:xfrm>
          </p:grpSpPr>
          <p:sp>
            <p:nvSpPr>
              <p:cNvPr id="11" name="Freeform 11"/>
              <p:cNvSpPr/>
              <p:nvPr/>
            </p:nvSpPr>
            <p:spPr>
              <a:xfrm>
                <a:off x="0" y="0"/>
                <a:ext cx="14285852" cy="860725"/>
              </a:xfrm>
              <a:custGeom>
                <a:avLst/>
                <a:gdLst/>
                <a:ahLst/>
                <a:cxnLst/>
                <a:rect l="l" t="t" r="r" b="b"/>
                <a:pathLst>
                  <a:path w="14285852" h="860725">
                    <a:moveTo>
                      <a:pt x="203200" y="0"/>
                    </a:moveTo>
                    <a:lnTo>
                      <a:pt x="14285852" y="0"/>
                    </a:lnTo>
                    <a:lnTo>
                      <a:pt x="14082652" y="860725"/>
                    </a:lnTo>
                    <a:lnTo>
                      <a:pt x="0" y="860725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095D40"/>
              </a:solidFill>
            </p:spPr>
            <p:txBody>
              <a:bodyPr/>
              <a:lstStyle/>
              <a:p>
                <a:endParaRPr lang="en-US" sz="1200"/>
              </a:p>
            </p:txBody>
          </p:sp>
          <p:sp>
            <p:nvSpPr>
              <p:cNvPr id="12" name="TextBox 12"/>
              <p:cNvSpPr txBox="1"/>
              <p:nvPr/>
            </p:nvSpPr>
            <p:spPr>
              <a:xfrm>
                <a:off x="101600" y="-38100"/>
                <a:ext cx="14082652" cy="898825"/>
              </a:xfrm>
              <a:prstGeom prst="rect">
                <a:avLst/>
              </a:prstGeom>
            </p:spPr>
            <p:txBody>
              <a:bodyPr lIns="33867" tIns="33867" rIns="33867" bIns="33867" rtlCol="0" anchor="ctr"/>
              <a:lstStyle/>
              <a:p>
                <a:pPr algn="ctr">
                  <a:lnSpc>
                    <a:spcPts val="1614"/>
                  </a:lnSpc>
                </a:pPr>
                <a:endParaRPr sz="1200"/>
              </a:p>
            </p:txBody>
          </p:sp>
        </p:grpSp>
        <p:grpSp>
          <p:nvGrpSpPr>
            <p:cNvPr id="14" name="Group 14"/>
            <p:cNvGrpSpPr/>
            <p:nvPr/>
          </p:nvGrpSpPr>
          <p:grpSpPr>
            <a:xfrm rot="-4607105">
              <a:off x="7239150" y="188525"/>
              <a:ext cx="2912265" cy="200355"/>
              <a:chOff x="0" y="0"/>
              <a:chExt cx="12511083" cy="860725"/>
            </a:xfrm>
          </p:grpSpPr>
          <p:sp>
            <p:nvSpPr>
              <p:cNvPr id="15" name="Freeform 15"/>
              <p:cNvSpPr/>
              <p:nvPr/>
            </p:nvSpPr>
            <p:spPr>
              <a:xfrm>
                <a:off x="0" y="0"/>
                <a:ext cx="12511083" cy="860725"/>
              </a:xfrm>
              <a:custGeom>
                <a:avLst/>
                <a:gdLst/>
                <a:ahLst/>
                <a:cxnLst/>
                <a:rect l="l" t="t" r="r" b="b"/>
                <a:pathLst>
                  <a:path w="12511083" h="860725">
                    <a:moveTo>
                      <a:pt x="203200" y="0"/>
                    </a:moveTo>
                    <a:lnTo>
                      <a:pt x="12511083" y="0"/>
                    </a:lnTo>
                    <a:lnTo>
                      <a:pt x="12307883" y="860725"/>
                    </a:lnTo>
                    <a:lnTo>
                      <a:pt x="0" y="860725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AEEA00"/>
              </a:solidFill>
            </p:spPr>
            <p:txBody>
              <a:bodyPr/>
              <a:lstStyle/>
              <a:p>
                <a:endParaRPr lang="en-US" sz="1200"/>
              </a:p>
            </p:txBody>
          </p:sp>
          <p:sp>
            <p:nvSpPr>
              <p:cNvPr id="16" name="TextBox 16"/>
              <p:cNvSpPr txBox="1"/>
              <p:nvPr/>
            </p:nvSpPr>
            <p:spPr>
              <a:xfrm>
                <a:off x="101600" y="-38100"/>
                <a:ext cx="12307883" cy="898825"/>
              </a:xfrm>
              <a:prstGeom prst="rect">
                <a:avLst/>
              </a:prstGeom>
            </p:spPr>
            <p:txBody>
              <a:bodyPr lIns="33867" tIns="33867" rIns="33867" bIns="33867" rtlCol="0" anchor="ctr"/>
              <a:lstStyle/>
              <a:p>
                <a:pPr algn="ctr">
                  <a:lnSpc>
                    <a:spcPts val="1614"/>
                  </a:lnSpc>
                </a:pPr>
                <a:endParaRPr sz="1200"/>
              </a:p>
            </p:txBody>
          </p:sp>
        </p:grpSp>
        <p:sp>
          <p:nvSpPr>
            <p:cNvPr id="17" name="AutoShape 17"/>
            <p:cNvSpPr/>
            <p:nvPr/>
          </p:nvSpPr>
          <p:spPr>
            <a:xfrm flipV="1">
              <a:off x="7247026" y="2435440"/>
              <a:ext cx="1220248" cy="4895717"/>
            </a:xfrm>
            <a:prstGeom prst="line">
              <a:avLst/>
            </a:prstGeom>
            <a:ln w="85725" cap="flat">
              <a:solidFill>
                <a:srgbClr val="F4F4F4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en-US" sz="1200"/>
            </a:p>
          </p:txBody>
        </p:sp>
      </p:grpSp>
      <p:grpSp>
        <p:nvGrpSpPr>
          <p:cNvPr id="28" name="Group 27">
            <a:extLst>
              <a:ext uri="{FF2B5EF4-FFF2-40B4-BE49-F238E27FC236}">
                <a16:creationId xmlns:a16="http://schemas.microsoft.com/office/drawing/2014/main" id="{F7F9B3BA-FBEB-02A9-3607-61B074D47E88}"/>
              </a:ext>
            </a:extLst>
          </p:cNvPr>
          <p:cNvGrpSpPr/>
          <p:nvPr/>
        </p:nvGrpSpPr>
        <p:grpSpPr>
          <a:xfrm>
            <a:off x="-382083" y="798029"/>
            <a:ext cx="6913109" cy="994644"/>
            <a:chOff x="-382083" y="798029"/>
            <a:chExt cx="6913109" cy="994644"/>
          </a:xfrm>
        </p:grpSpPr>
        <p:grpSp>
          <p:nvGrpSpPr>
            <p:cNvPr id="4" name="Group 4"/>
            <p:cNvGrpSpPr/>
            <p:nvPr/>
          </p:nvGrpSpPr>
          <p:grpSpPr>
            <a:xfrm>
              <a:off x="-280483" y="850793"/>
              <a:ext cx="3430479" cy="625331"/>
              <a:chOff x="0" y="0"/>
              <a:chExt cx="2621802" cy="477920"/>
            </a:xfrm>
          </p:grpSpPr>
          <p:sp>
            <p:nvSpPr>
              <p:cNvPr id="5" name="Freeform 5"/>
              <p:cNvSpPr/>
              <p:nvPr/>
            </p:nvSpPr>
            <p:spPr>
              <a:xfrm>
                <a:off x="0" y="0"/>
                <a:ext cx="2621802" cy="477920"/>
              </a:xfrm>
              <a:custGeom>
                <a:avLst/>
                <a:gdLst/>
                <a:ahLst/>
                <a:cxnLst/>
                <a:rect l="l" t="t" r="r" b="b"/>
                <a:pathLst>
                  <a:path w="2621802" h="477920">
                    <a:moveTo>
                      <a:pt x="2418602" y="0"/>
                    </a:moveTo>
                    <a:lnTo>
                      <a:pt x="0" y="0"/>
                    </a:lnTo>
                    <a:lnTo>
                      <a:pt x="0" y="477920"/>
                    </a:lnTo>
                    <a:lnTo>
                      <a:pt x="2418602" y="477920"/>
                    </a:lnTo>
                    <a:lnTo>
                      <a:pt x="2621802" y="238960"/>
                    </a:lnTo>
                    <a:lnTo>
                      <a:pt x="2418602" y="0"/>
                    </a:lnTo>
                    <a:close/>
                  </a:path>
                </a:pathLst>
              </a:custGeom>
              <a:solidFill>
                <a:srgbClr val="AEEA00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 sz="1200"/>
              </a:p>
            </p:txBody>
          </p:sp>
          <p:sp>
            <p:nvSpPr>
              <p:cNvPr id="6" name="TextBox 6"/>
              <p:cNvSpPr txBox="1"/>
              <p:nvPr/>
            </p:nvSpPr>
            <p:spPr>
              <a:xfrm>
                <a:off x="0" y="-9525"/>
                <a:ext cx="2507502" cy="487445"/>
              </a:xfrm>
              <a:prstGeom prst="rect">
                <a:avLst/>
              </a:prstGeom>
            </p:spPr>
            <p:txBody>
              <a:bodyPr lIns="0" tIns="0" rIns="0" bIns="0" rtlCol="0" anchor="ctr"/>
              <a:lstStyle/>
              <a:p>
                <a:pPr algn="ctr">
                  <a:lnSpc>
                    <a:spcPts val="1613"/>
                  </a:lnSpc>
                  <a:spcBef>
                    <a:spcPct val="0"/>
                  </a:spcBef>
                </a:pPr>
                <a:endParaRPr sz="1200"/>
              </a:p>
            </p:txBody>
          </p:sp>
        </p:grpSp>
        <p:grpSp>
          <p:nvGrpSpPr>
            <p:cNvPr id="7" name="Group 7"/>
            <p:cNvGrpSpPr/>
            <p:nvPr/>
          </p:nvGrpSpPr>
          <p:grpSpPr>
            <a:xfrm>
              <a:off x="-382083" y="798029"/>
              <a:ext cx="3430479" cy="625331"/>
              <a:chOff x="0" y="0"/>
              <a:chExt cx="2621802" cy="477920"/>
            </a:xfrm>
          </p:grpSpPr>
          <p:sp>
            <p:nvSpPr>
              <p:cNvPr id="8" name="Freeform 8"/>
              <p:cNvSpPr/>
              <p:nvPr/>
            </p:nvSpPr>
            <p:spPr>
              <a:xfrm>
                <a:off x="0" y="0"/>
                <a:ext cx="2621802" cy="477920"/>
              </a:xfrm>
              <a:custGeom>
                <a:avLst/>
                <a:gdLst/>
                <a:ahLst/>
                <a:cxnLst/>
                <a:rect l="l" t="t" r="r" b="b"/>
                <a:pathLst>
                  <a:path w="2621802" h="477920">
                    <a:moveTo>
                      <a:pt x="2418602" y="0"/>
                    </a:moveTo>
                    <a:lnTo>
                      <a:pt x="0" y="0"/>
                    </a:lnTo>
                    <a:lnTo>
                      <a:pt x="0" y="477920"/>
                    </a:lnTo>
                    <a:lnTo>
                      <a:pt x="2418602" y="477920"/>
                    </a:lnTo>
                    <a:lnTo>
                      <a:pt x="2621802" y="238960"/>
                    </a:lnTo>
                    <a:lnTo>
                      <a:pt x="2418602" y="0"/>
                    </a:lnTo>
                    <a:close/>
                  </a:path>
                </a:pathLst>
              </a:custGeom>
              <a:solidFill>
                <a:srgbClr val="095D40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 sz="1200"/>
              </a:p>
            </p:txBody>
          </p:sp>
          <p:sp>
            <p:nvSpPr>
              <p:cNvPr id="9" name="TextBox 9"/>
              <p:cNvSpPr txBox="1"/>
              <p:nvPr/>
            </p:nvSpPr>
            <p:spPr>
              <a:xfrm>
                <a:off x="0" y="-9525"/>
                <a:ext cx="2507502" cy="487445"/>
              </a:xfrm>
              <a:prstGeom prst="rect">
                <a:avLst/>
              </a:prstGeom>
            </p:spPr>
            <p:txBody>
              <a:bodyPr lIns="0" tIns="0" rIns="0" bIns="0" rtlCol="0" anchor="ctr"/>
              <a:lstStyle/>
              <a:p>
                <a:pPr algn="ctr">
                  <a:lnSpc>
                    <a:spcPts val="1613"/>
                  </a:lnSpc>
                  <a:spcBef>
                    <a:spcPct val="0"/>
                  </a:spcBef>
                </a:pPr>
                <a:endParaRPr sz="1200"/>
              </a:p>
            </p:txBody>
          </p:sp>
        </p:grpSp>
        <p:sp>
          <p:nvSpPr>
            <p:cNvPr id="18" name="TextBox 18"/>
            <p:cNvSpPr txBox="1"/>
            <p:nvPr/>
          </p:nvSpPr>
          <p:spPr>
            <a:xfrm>
              <a:off x="79397" y="910822"/>
              <a:ext cx="2998874" cy="551882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>
                <a:lnSpc>
                  <a:spcPts val="2323"/>
                </a:lnSpc>
              </a:pPr>
              <a:r>
                <a:rPr sz="1200" b="1" dirty="0">
                  <a:solidFill>
                    <a:srgbClr val="F4F4F4"/>
                  </a:solidFill>
                  <a:latin typeface="Montserrat Bold"/>
                </a:rPr>
                <a:t>OEMs &amp; Vehicle Manufacturers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966179" y="1550491"/>
              <a:ext cx="5564847" cy="24218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ts val="2095"/>
                </a:lnSpc>
                <a:spcBef>
                  <a:spcPct val="0"/>
                </a:spcBef>
              </a:pPr>
              <a:r>
                <a:rPr lang="en-US" sz="1269" spc="3" dirty="0">
                  <a:solidFill>
                    <a:srgbClr val="3B3A3A"/>
                  </a:solidFill>
                  <a:latin typeface="Montserrat"/>
                  <a:ea typeface="Montserrat"/>
                  <a:cs typeface="Montserrat"/>
                  <a:sym typeface="Montserrat"/>
                </a:rPr>
                <a:t>Ford | Tesla | Mercedes-Benz</a:t>
              </a:r>
            </a:p>
          </p:txBody>
        </p:sp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B49EB375-221A-CFC9-694B-9FC0E316FFAF}"/>
              </a:ext>
            </a:extLst>
          </p:cNvPr>
          <p:cNvGrpSpPr/>
          <p:nvPr/>
        </p:nvGrpSpPr>
        <p:grpSpPr>
          <a:xfrm>
            <a:off x="-326879" y="2036357"/>
            <a:ext cx="6913109" cy="994644"/>
            <a:chOff x="-382083" y="798029"/>
            <a:chExt cx="6913109" cy="994644"/>
          </a:xfrm>
        </p:grpSpPr>
        <p:grpSp>
          <p:nvGrpSpPr>
            <p:cNvPr id="30" name="Group 4">
              <a:extLst>
                <a:ext uri="{FF2B5EF4-FFF2-40B4-BE49-F238E27FC236}">
                  <a16:creationId xmlns:a16="http://schemas.microsoft.com/office/drawing/2014/main" id="{42D374BB-6192-65AC-A8AE-37C936EF25C2}"/>
                </a:ext>
              </a:extLst>
            </p:cNvPr>
            <p:cNvGrpSpPr/>
            <p:nvPr/>
          </p:nvGrpSpPr>
          <p:grpSpPr>
            <a:xfrm>
              <a:off x="-280483" y="850793"/>
              <a:ext cx="3430479" cy="625331"/>
              <a:chOff x="0" y="0"/>
              <a:chExt cx="2621802" cy="477920"/>
            </a:xfrm>
          </p:grpSpPr>
          <p:sp>
            <p:nvSpPr>
              <p:cNvPr id="36" name="Freeform 5">
                <a:extLst>
                  <a:ext uri="{FF2B5EF4-FFF2-40B4-BE49-F238E27FC236}">
                    <a16:creationId xmlns:a16="http://schemas.microsoft.com/office/drawing/2014/main" id="{C39A2390-38CB-996F-6B44-14E95F8B48B7}"/>
                  </a:ext>
                </a:extLst>
              </p:cNvPr>
              <p:cNvSpPr/>
              <p:nvPr/>
            </p:nvSpPr>
            <p:spPr>
              <a:xfrm>
                <a:off x="0" y="0"/>
                <a:ext cx="2621802" cy="477920"/>
              </a:xfrm>
              <a:custGeom>
                <a:avLst/>
                <a:gdLst/>
                <a:ahLst/>
                <a:cxnLst/>
                <a:rect l="l" t="t" r="r" b="b"/>
                <a:pathLst>
                  <a:path w="2621802" h="477920">
                    <a:moveTo>
                      <a:pt x="2418602" y="0"/>
                    </a:moveTo>
                    <a:lnTo>
                      <a:pt x="0" y="0"/>
                    </a:lnTo>
                    <a:lnTo>
                      <a:pt x="0" y="477920"/>
                    </a:lnTo>
                    <a:lnTo>
                      <a:pt x="2418602" y="477920"/>
                    </a:lnTo>
                    <a:lnTo>
                      <a:pt x="2621802" y="238960"/>
                    </a:lnTo>
                    <a:lnTo>
                      <a:pt x="2418602" y="0"/>
                    </a:lnTo>
                    <a:close/>
                  </a:path>
                </a:pathLst>
              </a:custGeom>
              <a:solidFill>
                <a:srgbClr val="AEEA00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 sz="1200"/>
              </a:p>
            </p:txBody>
          </p:sp>
          <p:sp>
            <p:nvSpPr>
              <p:cNvPr id="37" name="TextBox 6">
                <a:extLst>
                  <a:ext uri="{FF2B5EF4-FFF2-40B4-BE49-F238E27FC236}">
                    <a16:creationId xmlns:a16="http://schemas.microsoft.com/office/drawing/2014/main" id="{34E56FA7-14D3-6838-367E-80FFF9E7E737}"/>
                  </a:ext>
                </a:extLst>
              </p:cNvPr>
              <p:cNvSpPr txBox="1"/>
              <p:nvPr/>
            </p:nvSpPr>
            <p:spPr>
              <a:xfrm>
                <a:off x="0" y="-9525"/>
                <a:ext cx="2507502" cy="487445"/>
              </a:xfrm>
              <a:prstGeom prst="rect">
                <a:avLst/>
              </a:prstGeom>
            </p:spPr>
            <p:txBody>
              <a:bodyPr lIns="0" tIns="0" rIns="0" bIns="0" rtlCol="0" anchor="ctr"/>
              <a:lstStyle/>
              <a:p>
                <a:pPr algn="ctr">
                  <a:lnSpc>
                    <a:spcPts val="1613"/>
                  </a:lnSpc>
                  <a:spcBef>
                    <a:spcPct val="0"/>
                  </a:spcBef>
                </a:pPr>
                <a:endParaRPr sz="1200"/>
              </a:p>
            </p:txBody>
          </p:sp>
        </p:grpSp>
        <p:grpSp>
          <p:nvGrpSpPr>
            <p:cNvPr id="31" name="Group 7">
              <a:extLst>
                <a:ext uri="{FF2B5EF4-FFF2-40B4-BE49-F238E27FC236}">
                  <a16:creationId xmlns:a16="http://schemas.microsoft.com/office/drawing/2014/main" id="{8F57341F-D32C-B1E2-7CC1-902497D57CE6}"/>
                </a:ext>
              </a:extLst>
            </p:cNvPr>
            <p:cNvGrpSpPr/>
            <p:nvPr/>
          </p:nvGrpSpPr>
          <p:grpSpPr>
            <a:xfrm>
              <a:off x="-382083" y="798029"/>
              <a:ext cx="3430479" cy="625331"/>
              <a:chOff x="0" y="0"/>
              <a:chExt cx="2621802" cy="477920"/>
            </a:xfrm>
          </p:grpSpPr>
          <p:sp>
            <p:nvSpPr>
              <p:cNvPr id="34" name="Freeform 8">
                <a:extLst>
                  <a:ext uri="{FF2B5EF4-FFF2-40B4-BE49-F238E27FC236}">
                    <a16:creationId xmlns:a16="http://schemas.microsoft.com/office/drawing/2014/main" id="{F6ADC5C2-FC5E-1D1F-EF2D-2A42DD25C4B2}"/>
                  </a:ext>
                </a:extLst>
              </p:cNvPr>
              <p:cNvSpPr/>
              <p:nvPr/>
            </p:nvSpPr>
            <p:spPr>
              <a:xfrm>
                <a:off x="0" y="0"/>
                <a:ext cx="2621802" cy="477920"/>
              </a:xfrm>
              <a:custGeom>
                <a:avLst/>
                <a:gdLst/>
                <a:ahLst/>
                <a:cxnLst/>
                <a:rect l="l" t="t" r="r" b="b"/>
                <a:pathLst>
                  <a:path w="2621802" h="477920">
                    <a:moveTo>
                      <a:pt x="2418602" y="0"/>
                    </a:moveTo>
                    <a:lnTo>
                      <a:pt x="0" y="0"/>
                    </a:lnTo>
                    <a:lnTo>
                      <a:pt x="0" y="477920"/>
                    </a:lnTo>
                    <a:lnTo>
                      <a:pt x="2418602" y="477920"/>
                    </a:lnTo>
                    <a:lnTo>
                      <a:pt x="2621802" y="238960"/>
                    </a:lnTo>
                    <a:lnTo>
                      <a:pt x="2418602" y="0"/>
                    </a:lnTo>
                    <a:close/>
                  </a:path>
                </a:pathLst>
              </a:custGeom>
              <a:solidFill>
                <a:srgbClr val="095D40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 sz="1200"/>
              </a:p>
            </p:txBody>
          </p:sp>
          <p:sp>
            <p:nvSpPr>
              <p:cNvPr id="35" name="TextBox 9">
                <a:extLst>
                  <a:ext uri="{FF2B5EF4-FFF2-40B4-BE49-F238E27FC236}">
                    <a16:creationId xmlns:a16="http://schemas.microsoft.com/office/drawing/2014/main" id="{02E3F784-3B71-9B0F-B26D-06FBEA6D5941}"/>
                  </a:ext>
                </a:extLst>
              </p:cNvPr>
              <p:cNvSpPr txBox="1"/>
              <p:nvPr/>
            </p:nvSpPr>
            <p:spPr>
              <a:xfrm>
                <a:off x="0" y="-9525"/>
                <a:ext cx="2507502" cy="487445"/>
              </a:xfrm>
              <a:prstGeom prst="rect">
                <a:avLst/>
              </a:prstGeom>
            </p:spPr>
            <p:txBody>
              <a:bodyPr lIns="0" tIns="0" rIns="0" bIns="0" rtlCol="0" anchor="ctr"/>
              <a:lstStyle/>
              <a:p>
                <a:pPr algn="ctr">
                  <a:lnSpc>
                    <a:spcPts val="1613"/>
                  </a:lnSpc>
                  <a:spcBef>
                    <a:spcPct val="0"/>
                  </a:spcBef>
                </a:pPr>
                <a:endParaRPr sz="1200"/>
              </a:p>
            </p:txBody>
          </p:sp>
        </p:grpSp>
        <p:sp>
          <p:nvSpPr>
            <p:cNvPr id="32" name="TextBox 18">
              <a:extLst>
                <a:ext uri="{FF2B5EF4-FFF2-40B4-BE49-F238E27FC236}">
                  <a16:creationId xmlns:a16="http://schemas.microsoft.com/office/drawing/2014/main" id="{1DF6B630-34B7-679C-8B1A-D6FDC53D09E8}"/>
                </a:ext>
              </a:extLst>
            </p:cNvPr>
            <p:cNvSpPr txBox="1"/>
            <p:nvPr/>
          </p:nvSpPr>
          <p:spPr>
            <a:xfrm>
              <a:off x="124300" y="916405"/>
              <a:ext cx="2998874" cy="551882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>
                <a:lnSpc>
                  <a:spcPts val="2323"/>
                </a:lnSpc>
              </a:pPr>
              <a:r>
                <a:rPr sz="1200" b="1" dirty="0">
                  <a:solidFill>
                    <a:srgbClr val="F4F4F4"/>
                  </a:solidFill>
                  <a:latin typeface="Montserrat Bold"/>
                </a:rPr>
                <a:t>Battery Manufacturers</a:t>
              </a:r>
            </a:p>
          </p:txBody>
        </p:sp>
        <p:sp>
          <p:nvSpPr>
            <p:cNvPr id="33" name="TextBox 19">
              <a:extLst>
                <a:ext uri="{FF2B5EF4-FFF2-40B4-BE49-F238E27FC236}">
                  <a16:creationId xmlns:a16="http://schemas.microsoft.com/office/drawing/2014/main" id="{155DA59E-57DA-D650-B639-946067730864}"/>
                </a:ext>
              </a:extLst>
            </p:cNvPr>
            <p:cNvSpPr txBox="1"/>
            <p:nvPr/>
          </p:nvSpPr>
          <p:spPr>
            <a:xfrm>
              <a:off x="966179" y="1550491"/>
              <a:ext cx="5564847" cy="24218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ts val="2095"/>
                </a:lnSpc>
                <a:spcBef>
                  <a:spcPct val="0"/>
                </a:spcBef>
              </a:pPr>
              <a:r>
                <a:rPr lang="en-US" sz="1269" spc="3" dirty="0">
                  <a:solidFill>
                    <a:srgbClr val="3B3A3A"/>
                  </a:solidFill>
                  <a:latin typeface="Montserrat"/>
                  <a:ea typeface="Montserrat"/>
                  <a:cs typeface="Montserrat"/>
                  <a:sym typeface="Montserrat"/>
                </a:rPr>
                <a:t>CATL | BYD | Farasis</a:t>
              </a:r>
            </a:p>
          </p:txBody>
        </p:sp>
      </p:grpSp>
      <p:grpSp>
        <p:nvGrpSpPr>
          <p:cNvPr id="38" name="Group 37">
            <a:extLst>
              <a:ext uri="{FF2B5EF4-FFF2-40B4-BE49-F238E27FC236}">
                <a16:creationId xmlns:a16="http://schemas.microsoft.com/office/drawing/2014/main" id="{9CC3CFB8-7E49-C8C4-5F77-69170F2C44DC}"/>
              </a:ext>
            </a:extLst>
          </p:cNvPr>
          <p:cNvGrpSpPr/>
          <p:nvPr/>
        </p:nvGrpSpPr>
        <p:grpSpPr>
          <a:xfrm>
            <a:off x="-400910" y="3315445"/>
            <a:ext cx="3532079" cy="994644"/>
            <a:chOff x="-382083" y="798029"/>
            <a:chExt cx="3532079" cy="994644"/>
          </a:xfrm>
        </p:grpSpPr>
        <p:grpSp>
          <p:nvGrpSpPr>
            <p:cNvPr id="39" name="Group 4">
              <a:extLst>
                <a:ext uri="{FF2B5EF4-FFF2-40B4-BE49-F238E27FC236}">
                  <a16:creationId xmlns:a16="http://schemas.microsoft.com/office/drawing/2014/main" id="{35248187-BF24-084A-01AE-744B25A9E6C1}"/>
                </a:ext>
              </a:extLst>
            </p:cNvPr>
            <p:cNvGrpSpPr/>
            <p:nvPr/>
          </p:nvGrpSpPr>
          <p:grpSpPr>
            <a:xfrm>
              <a:off x="-280483" y="850793"/>
              <a:ext cx="3430479" cy="625331"/>
              <a:chOff x="0" y="0"/>
              <a:chExt cx="2621802" cy="477920"/>
            </a:xfrm>
          </p:grpSpPr>
          <p:sp>
            <p:nvSpPr>
              <p:cNvPr id="45" name="Freeform 5">
                <a:extLst>
                  <a:ext uri="{FF2B5EF4-FFF2-40B4-BE49-F238E27FC236}">
                    <a16:creationId xmlns:a16="http://schemas.microsoft.com/office/drawing/2014/main" id="{4BDB1788-02AA-3291-34E2-1D1AA2E95986}"/>
                  </a:ext>
                </a:extLst>
              </p:cNvPr>
              <p:cNvSpPr/>
              <p:nvPr/>
            </p:nvSpPr>
            <p:spPr>
              <a:xfrm>
                <a:off x="0" y="0"/>
                <a:ext cx="2621802" cy="477920"/>
              </a:xfrm>
              <a:custGeom>
                <a:avLst/>
                <a:gdLst/>
                <a:ahLst/>
                <a:cxnLst/>
                <a:rect l="l" t="t" r="r" b="b"/>
                <a:pathLst>
                  <a:path w="2621802" h="477920">
                    <a:moveTo>
                      <a:pt x="2418602" y="0"/>
                    </a:moveTo>
                    <a:lnTo>
                      <a:pt x="0" y="0"/>
                    </a:lnTo>
                    <a:lnTo>
                      <a:pt x="0" y="477920"/>
                    </a:lnTo>
                    <a:lnTo>
                      <a:pt x="2418602" y="477920"/>
                    </a:lnTo>
                    <a:lnTo>
                      <a:pt x="2621802" y="238960"/>
                    </a:lnTo>
                    <a:lnTo>
                      <a:pt x="2418602" y="0"/>
                    </a:lnTo>
                    <a:close/>
                  </a:path>
                </a:pathLst>
              </a:custGeom>
              <a:solidFill>
                <a:srgbClr val="AEEA00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 sz="1200"/>
              </a:p>
            </p:txBody>
          </p:sp>
          <p:sp>
            <p:nvSpPr>
              <p:cNvPr id="46" name="TextBox 6">
                <a:extLst>
                  <a:ext uri="{FF2B5EF4-FFF2-40B4-BE49-F238E27FC236}">
                    <a16:creationId xmlns:a16="http://schemas.microsoft.com/office/drawing/2014/main" id="{B48614DA-3ED0-49D4-1659-00FFD32E6B8A}"/>
                  </a:ext>
                </a:extLst>
              </p:cNvPr>
              <p:cNvSpPr txBox="1"/>
              <p:nvPr/>
            </p:nvSpPr>
            <p:spPr>
              <a:xfrm>
                <a:off x="0" y="-9525"/>
                <a:ext cx="2507502" cy="487445"/>
              </a:xfrm>
              <a:prstGeom prst="rect">
                <a:avLst/>
              </a:prstGeom>
            </p:spPr>
            <p:txBody>
              <a:bodyPr lIns="0" tIns="0" rIns="0" bIns="0" rtlCol="0" anchor="ctr"/>
              <a:lstStyle/>
              <a:p>
                <a:pPr algn="ctr">
                  <a:lnSpc>
                    <a:spcPts val="1613"/>
                  </a:lnSpc>
                  <a:spcBef>
                    <a:spcPct val="0"/>
                  </a:spcBef>
                </a:pPr>
                <a:endParaRPr sz="1200"/>
              </a:p>
            </p:txBody>
          </p:sp>
        </p:grpSp>
        <p:grpSp>
          <p:nvGrpSpPr>
            <p:cNvPr id="40" name="Group 7">
              <a:extLst>
                <a:ext uri="{FF2B5EF4-FFF2-40B4-BE49-F238E27FC236}">
                  <a16:creationId xmlns:a16="http://schemas.microsoft.com/office/drawing/2014/main" id="{11990389-A015-BC6D-E944-383943FABD8E}"/>
                </a:ext>
              </a:extLst>
            </p:cNvPr>
            <p:cNvGrpSpPr/>
            <p:nvPr/>
          </p:nvGrpSpPr>
          <p:grpSpPr>
            <a:xfrm>
              <a:off x="-382083" y="798029"/>
              <a:ext cx="3430479" cy="625331"/>
              <a:chOff x="0" y="0"/>
              <a:chExt cx="2621802" cy="477920"/>
            </a:xfrm>
          </p:grpSpPr>
          <p:sp>
            <p:nvSpPr>
              <p:cNvPr id="43" name="Freeform 8">
                <a:extLst>
                  <a:ext uri="{FF2B5EF4-FFF2-40B4-BE49-F238E27FC236}">
                    <a16:creationId xmlns:a16="http://schemas.microsoft.com/office/drawing/2014/main" id="{0802377D-6EB9-2C16-FBD6-A06EEFFC17BA}"/>
                  </a:ext>
                </a:extLst>
              </p:cNvPr>
              <p:cNvSpPr/>
              <p:nvPr/>
            </p:nvSpPr>
            <p:spPr>
              <a:xfrm>
                <a:off x="0" y="0"/>
                <a:ext cx="2621802" cy="477920"/>
              </a:xfrm>
              <a:custGeom>
                <a:avLst/>
                <a:gdLst/>
                <a:ahLst/>
                <a:cxnLst/>
                <a:rect l="l" t="t" r="r" b="b"/>
                <a:pathLst>
                  <a:path w="2621802" h="477920">
                    <a:moveTo>
                      <a:pt x="2418602" y="0"/>
                    </a:moveTo>
                    <a:lnTo>
                      <a:pt x="0" y="0"/>
                    </a:lnTo>
                    <a:lnTo>
                      <a:pt x="0" y="477920"/>
                    </a:lnTo>
                    <a:lnTo>
                      <a:pt x="2418602" y="477920"/>
                    </a:lnTo>
                    <a:lnTo>
                      <a:pt x="2621802" y="238960"/>
                    </a:lnTo>
                    <a:lnTo>
                      <a:pt x="2418602" y="0"/>
                    </a:lnTo>
                    <a:close/>
                  </a:path>
                </a:pathLst>
              </a:custGeom>
              <a:solidFill>
                <a:srgbClr val="095D40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 sz="1200"/>
              </a:p>
            </p:txBody>
          </p:sp>
          <p:sp>
            <p:nvSpPr>
              <p:cNvPr id="44" name="TextBox 9">
                <a:extLst>
                  <a:ext uri="{FF2B5EF4-FFF2-40B4-BE49-F238E27FC236}">
                    <a16:creationId xmlns:a16="http://schemas.microsoft.com/office/drawing/2014/main" id="{25E0267E-B9F6-E1E3-AE34-0F411E7C42FF}"/>
                  </a:ext>
                </a:extLst>
              </p:cNvPr>
              <p:cNvSpPr txBox="1"/>
              <p:nvPr/>
            </p:nvSpPr>
            <p:spPr>
              <a:xfrm>
                <a:off x="0" y="-9525"/>
                <a:ext cx="2507502" cy="487445"/>
              </a:xfrm>
              <a:prstGeom prst="rect">
                <a:avLst/>
              </a:prstGeom>
            </p:spPr>
            <p:txBody>
              <a:bodyPr lIns="0" tIns="0" rIns="0" bIns="0" rtlCol="0" anchor="ctr"/>
              <a:lstStyle/>
              <a:p>
                <a:pPr algn="ctr">
                  <a:lnSpc>
                    <a:spcPts val="1613"/>
                  </a:lnSpc>
                  <a:spcBef>
                    <a:spcPct val="0"/>
                  </a:spcBef>
                </a:pPr>
                <a:endParaRPr sz="1200"/>
              </a:p>
            </p:txBody>
          </p:sp>
        </p:grpSp>
        <p:sp>
          <p:nvSpPr>
            <p:cNvPr id="41" name="TextBox 18">
              <a:extLst>
                <a:ext uri="{FF2B5EF4-FFF2-40B4-BE49-F238E27FC236}">
                  <a16:creationId xmlns:a16="http://schemas.microsoft.com/office/drawing/2014/main" id="{1C0E2C32-21DE-F1BD-22B2-2D74A65743B7}"/>
                </a:ext>
              </a:extLst>
            </p:cNvPr>
            <p:cNvSpPr txBox="1"/>
            <p:nvPr/>
          </p:nvSpPr>
          <p:spPr>
            <a:xfrm>
              <a:off x="98224" y="931074"/>
              <a:ext cx="2998874" cy="551882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>
                <a:lnSpc>
                  <a:spcPts val="2323"/>
                </a:lnSpc>
              </a:pPr>
              <a:r>
                <a:rPr sz="1200" b="1" dirty="0">
                  <a:solidFill>
                    <a:srgbClr val="F4F4F4"/>
                  </a:solidFill>
                  <a:latin typeface="Montserrat Bold"/>
                </a:rPr>
                <a:t>Testing &amp; Certification Laboratories</a:t>
              </a:r>
            </a:p>
          </p:txBody>
        </p:sp>
        <p:sp>
          <p:nvSpPr>
            <p:cNvPr id="42" name="TextBox 19">
              <a:extLst>
                <a:ext uri="{FF2B5EF4-FFF2-40B4-BE49-F238E27FC236}">
                  <a16:creationId xmlns:a16="http://schemas.microsoft.com/office/drawing/2014/main" id="{3930A8DB-A056-7C7D-E854-781324B2EAA8}"/>
                </a:ext>
              </a:extLst>
            </p:cNvPr>
            <p:cNvSpPr txBox="1"/>
            <p:nvPr/>
          </p:nvSpPr>
          <p:spPr>
            <a:xfrm>
              <a:off x="966180" y="1550491"/>
              <a:ext cx="1337454" cy="242182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>
                <a:lnSpc>
                  <a:spcPts val="2095"/>
                </a:lnSpc>
                <a:spcBef>
                  <a:spcPct val="0"/>
                </a:spcBef>
              </a:pPr>
              <a:r>
                <a:rPr lang="en-US" sz="1269" spc="3" dirty="0">
                  <a:solidFill>
                    <a:srgbClr val="3B3A3A"/>
                  </a:solidFill>
                  <a:latin typeface="Montserrat"/>
                  <a:ea typeface="Montserrat"/>
                  <a:cs typeface="Montserrat"/>
                  <a:sym typeface="Montserrat"/>
                </a:rPr>
                <a:t>Eurofins</a:t>
              </a:r>
            </a:p>
          </p:txBody>
        </p:sp>
      </p:grpSp>
      <p:grpSp>
        <p:nvGrpSpPr>
          <p:cNvPr id="47" name="Group 46">
            <a:extLst>
              <a:ext uri="{FF2B5EF4-FFF2-40B4-BE49-F238E27FC236}">
                <a16:creationId xmlns:a16="http://schemas.microsoft.com/office/drawing/2014/main" id="{044A751A-73BE-9AE7-340C-1EE312685774}"/>
              </a:ext>
            </a:extLst>
          </p:cNvPr>
          <p:cNvGrpSpPr/>
          <p:nvPr/>
        </p:nvGrpSpPr>
        <p:grpSpPr>
          <a:xfrm>
            <a:off x="-352208" y="4649951"/>
            <a:ext cx="6913109" cy="994644"/>
            <a:chOff x="-382083" y="798029"/>
            <a:chExt cx="6913109" cy="994644"/>
          </a:xfrm>
        </p:grpSpPr>
        <p:grpSp>
          <p:nvGrpSpPr>
            <p:cNvPr id="48" name="Group 4">
              <a:extLst>
                <a:ext uri="{FF2B5EF4-FFF2-40B4-BE49-F238E27FC236}">
                  <a16:creationId xmlns:a16="http://schemas.microsoft.com/office/drawing/2014/main" id="{6C7D6D48-1D23-6BDE-8909-D83965B41349}"/>
                </a:ext>
              </a:extLst>
            </p:cNvPr>
            <p:cNvGrpSpPr/>
            <p:nvPr/>
          </p:nvGrpSpPr>
          <p:grpSpPr>
            <a:xfrm>
              <a:off x="-280483" y="850793"/>
              <a:ext cx="3430479" cy="625331"/>
              <a:chOff x="0" y="0"/>
              <a:chExt cx="2621802" cy="477920"/>
            </a:xfrm>
          </p:grpSpPr>
          <p:sp>
            <p:nvSpPr>
              <p:cNvPr id="54" name="Freeform 5">
                <a:extLst>
                  <a:ext uri="{FF2B5EF4-FFF2-40B4-BE49-F238E27FC236}">
                    <a16:creationId xmlns:a16="http://schemas.microsoft.com/office/drawing/2014/main" id="{07E31B40-2FB6-8336-9E5A-6F352A0142B0}"/>
                  </a:ext>
                </a:extLst>
              </p:cNvPr>
              <p:cNvSpPr/>
              <p:nvPr/>
            </p:nvSpPr>
            <p:spPr>
              <a:xfrm>
                <a:off x="0" y="0"/>
                <a:ext cx="2621802" cy="477920"/>
              </a:xfrm>
              <a:custGeom>
                <a:avLst/>
                <a:gdLst/>
                <a:ahLst/>
                <a:cxnLst/>
                <a:rect l="l" t="t" r="r" b="b"/>
                <a:pathLst>
                  <a:path w="2621802" h="477920">
                    <a:moveTo>
                      <a:pt x="2418602" y="0"/>
                    </a:moveTo>
                    <a:lnTo>
                      <a:pt x="0" y="0"/>
                    </a:lnTo>
                    <a:lnTo>
                      <a:pt x="0" y="477920"/>
                    </a:lnTo>
                    <a:lnTo>
                      <a:pt x="2418602" y="477920"/>
                    </a:lnTo>
                    <a:lnTo>
                      <a:pt x="2621802" y="238960"/>
                    </a:lnTo>
                    <a:lnTo>
                      <a:pt x="2418602" y="0"/>
                    </a:lnTo>
                    <a:close/>
                  </a:path>
                </a:pathLst>
              </a:custGeom>
              <a:solidFill>
                <a:srgbClr val="AEEA00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 sz="1200"/>
              </a:p>
            </p:txBody>
          </p:sp>
          <p:sp>
            <p:nvSpPr>
              <p:cNvPr id="55" name="TextBox 6">
                <a:extLst>
                  <a:ext uri="{FF2B5EF4-FFF2-40B4-BE49-F238E27FC236}">
                    <a16:creationId xmlns:a16="http://schemas.microsoft.com/office/drawing/2014/main" id="{AB775D06-E98B-11FB-42B8-A3FCCACB87F4}"/>
                  </a:ext>
                </a:extLst>
              </p:cNvPr>
              <p:cNvSpPr txBox="1"/>
              <p:nvPr/>
            </p:nvSpPr>
            <p:spPr>
              <a:xfrm>
                <a:off x="0" y="-9525"/>
                <a:ext cx="2507502" cy="487445"/>
              </a:xfrm>
              <a:prstGeom prst="rect">
                <a:avLst/>
              </a:prstGeom>
            </p:spPr>
            <p:txBody>
              <a:bodyPr lIns="0" tIns="0" rIns="0" bIns="0" rtlCol="0" anchor="ctr"/>
              <a:lstStyle/>
              <a:p>
                <a:pPr algn="ctr">
                  <a:lnSpc>
                    <a:spcPts val="1613"/>
                  </a:lnSpc>
                  <a:spcBef>
                    <a:spcPct val="0"/>
                  </a:spcBef>
                </a:pPr>
                <a:endParaRPr sz="1200"/>
              </a:p>
            </p:txBody>
          </p:sp>
        </p:grpSp>
        <p:grpSp>
          <p:nvGrpSpPr>
            <p:cNvPr id="49" name="Group 7">
              <a:extLst>
                <a:ext uri="{FF2B5EF4-FFF2-40B4-BE49-F238E27FC236}">
                  <a16:creationId xmlns:a16="http://schemas.microsoft.com/office/drawing/2014/main" id="{7C58627C-3B40-3981-DF5B-3BEDA3D646B5}"/>
                </a:ext>
              </a:extLst>
            </p:cNvPr>
            <p:cNvGrpSpPr/>
            <p:nvPr/>
          </p:nvGrpSpPr>
          <p:grpSpPr>
            <a:xfrm>
              <a:off x="-382083" y="798029"/>
              <a:ext cx="3430479" cy="625331"/>
              <a:chOff x="0" y="0"/>
              <a:chExt cx="2621802" cy="477920"/>
            </a:xfrm>
          </p:grpSpPr>
          <p:sp>
            <p:nvSpPr>
              <p:cNvPr id="52" name="Freeform 8">
                <a:extLst>
                  <a:ext uri="{FF2B5EF4-FFF2-40B4-BE49-F238E27FC236}">
                    <a16:creationId xmlns:a16="http://schemas.microsoft.com/office/drawing/2014/main" id="{53346118-7FF9-9176-8EBE-C6D7C7C79793}"/>
                  </a:ext>
                </a:extLst>
              </p:cNvPr>
              <p:cNvSpPr/>
              <p:nvPr/>
            </p:nvSpPr>
            <p:spPr>
              <a:xfrm>
                <a:off x="0" y="0"/>
                <a:ext cx="2621802" cy="477920"/>
              </a:xfrm>
              <a:custGeom>
                <a:avLst/>
                <a:gdLst/>
                <a:ahLst/>
                <a:cxnLst/>
                <a:rect l="l" t="t" r="r" b="b"/>
                <a:pathLst>
                  <a:path w="2621802" h="477920">
                    <a:moveTo>
                      <a:pt x="2418602" y="0"/>
                    </a:moveTo>
                    <a:lnTo>
                      <a:pt x="0" y="0"/>
                    </a:lnTo>
                    <a:lnTo>
                      <a:pt x="0" y="477920"/>
                    </a:lnTo>
                    <a:lnTo>
                      <a:pt x="2418602" y="477920"/>
                    </a:lnTo>
                    <a:lnTo>
                      <a:pt x="2621802" y="238960"/>
                    </a:lnTo>
                    <a:lnTo>
                      <a:pt x="2418602" y="0"/>
                    </a:lnTo>
                    <a:close/>
                  </a:path>
                </a:pathLst>
              </a:custGeom>
              <a:solidFill>
                <a:srgbClr val="095D40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 sz="1200"/>
              </a:p>
            </p:txBody>
          </p:sp>
          <p:sp>
            <p:nvSpPr>
              <p:cNvPr id="53" name="TextBox 9">
                <a:extLst>
                  <a:ext uri="{FF2B5EF4-FFF2-40B4-BE49-F238E27FC236}">
                    <a16:creationId xmlns:a16="http://schemas.microsoft.com/office/drawing/2014/main" id="{61A06B98-84C5-254D-2D8D-FB4E26B7175C}"/>
                  </a:ext>
                </a:extLst>
              </p:cNvPr>
              <p:cNvSpPr txBox="1"/>
              <p:nvPr/>
            </p:nvSpPr>
            <p:spPr>
              <a:xfrm>
                <a:off x="0" y="-9525"/>
                <a:ext cx="2507502" cy="487445"/>
              </a:xfrm>
              <a:prstGeom prst="rect">
                <a:avLst/>
              </a:prstGeom>
            </p:spPr>
            <p:txBody>
              <a:bodyPr lIns="0" tIns="0" rIns="0" bIns="0" rtlCol="0" anchor="ctr"/>
              <a:lstStyle/>
              <a:p>
                <a:pPr algn="ctr">
                  <a:lnSpc>
                    <a:spcPts val="1613"/>
                  </a:lnSpc>
                  <a:spcBef>
                    <a:spcPct val="0"/>
                  </a:spcBef>
                </a:pPr>
                <a:endParaRPr sz="1200"/>
              </a:p>
            </p:txBody>
          </p:sp>
        </p:grpSp>
        <p:sp>
          <p:nvSpPr>
            <p:cNvPr id="50" name="TextBox 18">
              <a:extLst>
                <a:ext uri="{FF2B5EF4-FFF2-40B4-BE49-F238E27FC236}">
                  <a16:creationId xmlns:a16="http://schemas.microsoft.com/office/drawing/2014/main" id="{08889217-55D9-46A0-1DD7-8B75D124EB5F}"/>
                </a:ext>
              </a:extLst>
            </p:cNvPr>
            <p:cNvSpPr txBox="1"/>
            <p:nvPr/>
          </p:nvSpPr>
          <p:spPr>
            <a:xfrm>
              <a:off x="49522" y="897860"/>
              <a:ext cx="2998874" cy="551882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>
                <a:lnSpc>
                  <a:spcPts val="2323"/>
                </a:lnSpc>
              </a:pPr>
              <a:r>
                <a:rPr sz="1200" b="1" dirty="0">
                  <a:solidFill>
                    <a:srgbClr val="F4F4F4"/>
                  </a:solidFill>
                  <a:latin typeface="Montserrat Bold"/>
                </a:rPr>
                <a:t>Industrial &amp; Energy Companies</a:t>
              </a:r>
            </a:p>
          </p:txBody>
        </p:sp>
        <p:sp>
          <p:nvSpPr>
            <p:cNvPr id="51" name="TextBox 19">
              <a:extLst>
                <a:ext uri="{FF2B5EF4-FFF2-40B4-BE49-F238E27FC236}">
                  <a16:creationId xmlns:a16="http://schemas.microsoft.com/office/drawing/2014/main" id="{6EE643EB-5965-CD82-5F5D-B4275332EAB7}"/>
                </a:ext>
              </a:extLst>
            </p:cNvPr>
            <p:cNvSpPr txBox="1"/>
            <p:nvPr/>
          </p:nvSpPr>
          <p:spPr>
            <a:xfrm>
              <a:off x="966179" y="1550491"/>
              <a:ext cx="5564847" cy="24218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ts val="2095"/>
                </a:lnSpc>
                <a:spcBef>
                  <a:spcPct val="0"/>
                </a:spcBef>
              </a:pPr>
              <a:r>
                <a:rPr lang="en-US" sz="1269" spc="3" dirty="0">
                  <a:solidFill>
                    <a:srgbClr val="3B3A3A"/>
                  </a:solidFill>
                  <a:latin typeface="Montserrat"/>
                  <a:ea typeface="Montserrat"/>
                  <a:cs typeface="Montserrat"/>
                  <a:sym typeface="Montserrat"/>
                </a:rPr>
                <a:t>Briggs &amp; Stratton | Re-Tech</a:t>
              </a:r>
            </a:p>
          </p:txBody>
        </p:sp>
      </p:grpSp>
      <p:grpSp>
        <p:nvGrpSpPr>
          <p:cNvPr id="56" name="Group 55">
            <a:extLst>
              <a:ext uri="{FF2B5EF4-FFF2-40B4-BE49-F238E27FC236}">
                <a16:creationId xmlns:a16="http://schemas.microsoft.com/office/drawing/2014/main" id="{1AA9C13E-C7BC-BC29-5757-29C12A96ACF5}"/>
              </a:ext>
            </a:extLst>
          </p:cNvPr>
          <p:cNvGrpSpPr/>
          <p:nvPr/>
        </p:nvGrpSpPr>
        <p:grpSpPr>
          <a:xfrm>
            <a:off x="-318627" y="5771910"/>
            <a:ext cx="6913109" cy="994644"/>
            <a:chOff x="-382083" y="798029"/>
            <a:chExt cx="6913109" cy="994644"/>
          </a:xfrm>
        </p:grpSpPr>
        <p:grpSp>
          <p:nvGrpSpPr>
            <p:cNvPr id="57" name="Group 4">
              <a:extLst>
                <a:ext uri="{FF2B5EF4-FFF2-40B4-BE49-F238E27FC236}">
                  <a16:creationId xmlns:a16="http://schemas.microsoft.com/office/drawing/2014/main" id="{0255C4DF-DD4B-C777-8F0A-0C87C89239EC}"/>
                </a:ext>
              </a:extLst>
            </p:cNvPr>
            <p:cNvGrpSpPr/>
            <p:nvPr/>
          </p:nvGrpSpPr>
          <p:grpSpPr>
            <a:xfrm>
              <a:off x="-280483" y="850793"/>
              <a:ext cx="3430479" cy="625331"/>
              <a:chOff x="0" y="0"/>
              <a:chExt cx="2621802" cy="477920"/>
            </a:xfrm>
          </p:grpSpPr>
          <p:sp>
            <p:nvSpPr>
              <p:cNvPr id="63" name="Freeform 5">
                <a:extLst>
                  <a:ext uri="{FF2B5EF4-FFF2-40B4-BE49-F238E27FC236}">
                    <a16:creationId xmlns:a16="http://schemas.microsoft.com/office/drawing/2014/main" id="{583FDAB1-53CA-0E2B-849E-B30C143726F3}"/>
                  </a:ext>
                </a:extLst>
              </p:cNvPr>
              <p:cNvSpPr/>
              <p:nvPr/>
            </p:nvSpPr>
            <p:spPr>
              <a:xfrm>
                <a:off x="0" y="0"/>
                <a:ext cx="2621802" cy="477920"/>
              </a:xfrm>
              <a:custGeom>
                <a:avLst/>
                <a:gdLst/>
                <a:ahLst/>
                <a:cxnLst/>
                <a:rect l="l" t="t" r="r" b="b"/>
                <a:pathLst>
                  <a:path w="2621802" h="477920">
                    <a:moveTo>
                      <a:pt x="2418602" y="0"/>
                    </a:moveTo>
                    <a:lnTo>
                      <a:pt x="0" y="0"/>
                    </a:lnTo>
                    <a:lnTo>
                      <a:pt x="0" y="477920"/>
                    </a:lnTo>
                    <a:lnTo>
                      <a:pt x="2418602" y="477920"/>
                    </a:lnTo>
                    <a:lnTo>
                      <a:pt x="2621802" y="238960"/>
                    </a:lnTo>
                    <a:lnTo>
                      <a:pt x="2418602" y="0"/>
                    </a:lnTo>
                    <a:close/>
                  </a:path>
                </a:pathLst>
              </a:custGeom>
              <a:solidFill>
                <a:srgbClr val="AEEA00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 sz="1200"/>
              </a:p>
            </p:txBody>
          </p:sp>
          <p:sp>
            <p:nvSpPr>
              <p:cNvPr id="64" name="TextBox 6">
                <a:extLst>
                  <a:ext uri="{FF2B5EF4-FFF2-40B4-BE49-F238E27FC236}">
                    <a16:creationId xmlns:a16="http://schemas.microsoft.com/office/drawing/2014/main" id="{F47427C1-676F-E20D-2F2E-7861489D7692}"/>
                  </a:ext>
                </a:extLst>
              </p:cNvPr>
              <p:cNvSpPr txBox="1"/>
              <p:nvPr/>
            </p:nvSpPr>
            <p:spPr>
              <a:xfrm>
                <a:off x="0" y="-9525"/>
                <a:ext cx="2507502" cy="487445"/>
              </a:xfrm>
              <a:prstGeom prst="rect">
                <a:avLst/>
              </a:prstGeom>
            </p:spPr>
            <p:txBody>
              <a:bodyPr lIns="0" tIns="0" rIns="0" bIns="0" rtlCol="0" anchor="ctr"/>
              <a:lstStyle/>
              <a:p>
                <a:pPr algn="ctr">
                  <a:lnSpc>
                    <a:spcPts val="1613"/>
                  </a:lnSpc>
                  <a:spcBef>
                    <a:spcPct val="0"/>
                  </a:spcBef>
                </a:pPr>
                <a:endParaRPr sz="1200"/>
              </a:p>
            </p:txBody>
          </p:sp>
        </p:grpSp>
        <p:grpSp>
          <p:nvGrpSpPr>
            <p:cNvPr id="58" name="Group 7">
              <a:extLst>
                <a:ext uri="{FF2B5EF4-FFF2-40B4-BE49-F238E27FC236}">
                  <a16:creationId xmlns:a16="http://schemas.microsoft.com/office/drawing/2014/main" id="{F231AC11-9A3F-597D-572E-0F677DF30A6A}"/>
                </a:ext>
              </a:extLst>
            </p:cNvPr>
            <p:cNvGrpSpPr/>
            <p:nvPr/>
          </p:nvGrpSpPr>
          <p:grpSpPr>
            <a:xfrm>
              <a:off x="-382083" y="798029"/>
              <a:ext cx="3430479" cy="625331"/>
              <a:chOff x="0" y="0"/>
              <a:chExt cx="2621802" cy="477920"/>
            </a:xfrm>
          </p:grpSpPr>
          <p:sp>
            <p:nvSpPr>
              <p:cNvPr id="61" name="Freeform 8">
                <a:extLst>
                  <a:ext uri="{FF2B5EF4-FFF2-40B4-BE49-F238E27FC236}">
                    <a16:creationId xmlns:a16="http://schemas.microsoft.com/office/drawing/2014/main" id="{4EB25FEC-BB09-0F6D-783D-7BAD26A04553}"/>
                  </a:ext>
                </a:extLst>
              </p:cNvPr>
              <p:cNvSpPr/>
              <p:nvPr/>
            </p:nvSpPr>
            <p:spPr>
              <a:xfrm>
                <a:off x="0" y="0"/>
                <a:ext cx="2621802" cy="477920"/>
              </a:xfrm>
              <a:custGeom>
                <a:avLst/>
                <a:gdLst/>
                <a:ahLst/>
                <a:cxnLst/>
                <a:rect l="l" t="t" r="r" b="b"/>
                <a:pathLst>
                  <a:path w="2621802" h="477920">
                    <a:moveTo>
                      <a:pt x="2418602" y="0"/>
                    </a:moveTo>
                    <a:lnTo>
                      <a:pt x="0" y="0"/>
                    </a:lnTo>
                    <a:lnTo>
                      <a:pt x="0" y="477920"/>
                    </a:lnTo>
                    <a:lnTo>
                      <a:pt x="2418602" y="477920"/>
                    </a:lnTo>
                    <a:lnTo>
                      <a:pt x="2621802" y="238960"/>
                    </a:lnTo>
                    <a:lnTo>
                      <a:pt x="2418602" y="0"/>
                    </a:lnTo>
                    <a:close/>
                  </a:path>
                </a:pathLst>
              </a:custGeom>
              <a:solidFill>
                <a:srgbClr val="095D40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 sz="1200"/>
              </a:p>
            </p:txBody>
          </p:sp>
          <p:sp>
            <p:nvSpPr>
              <p:cNvPr id="62" name="TextBox 9">
                <a:extLst>
                  <a:ext uri="{FF2B5EF4-FFF2-40B4-BE49-F238E27FC236}">
                    <a16:creationId xmlns:a16="http://schemas.microsoft.com/office/drawing/2014/main" id="{907D99C6-D38E-8DD3-2545-CE12DD54E0E3}"/>
                  </a:ext>
                </a:extLst>
              </p:cNvPr>
              <p:cNvSpPr txBox="1"/>
              <p:nvPr/>
            </p:nvSpPr>
            <p:spPr>
              <a:xfrm>
                <a:off x="0" y="-9525"/>
                <a:ext cx="2507502" cy="487445"/>
              </a:xfrm>
              <a:prstGeom prst="rect">
                <a:avLst/>
              </a:prstGeom>
            </p:spPr>
            <p:txBody>
              <a:bodyPr lIns="0" tIns="0" rIns="0" bIns="0" rtlCol="0" anchor="ctr"/>
              <a:lstStyle/>
              <a:p>
                <a:pPr algn="ctr">
                  <a:lnSpc>
                    <a:spcPts val="1613"/>
                  </a:lnSpc>
                  <a:spcBef>
                    <a:spcPct val="0"/>
                  </a:spcBef>
                </a:pPr>
                <a:endParaRPr sz="1200"/>
              </a:p>
            </p:txBody>
          </p:sp>
        </p:grpSp>
        <p:sp>
          <p:nvSpPr>
            <p:cNvPr id="59" name="TextBox 18">
              <a:extLst>
                <a:ext uri="{FF2B5EF4-FFF2-40B4-BE49-F238E27FC236}">
                  <a16:creationId xmlns:a16="http://schemas.microsoft.com/office/drawing/2014/main" id="{ADCD2602-CEB7-CC35-DC97-98F4FB7DBE35}"/>
                </a:ext>
              </a:extLst>
            </p:cNvPr>
            <p:cNvSpPr txBox="1"/>
            <p:nvPr/>
          </p:nvSpPr>
          <p:spPr>
            <a:xfrm>
              <a:off x="116048" y="905237"/>
              <a:ext cx="2998874" cy="551882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>
                <a:lnSpc>
                  <a:spcPts val="2323"/>
                </a:lnSpc>
              </a:pPr>
              <a:r>
                <a:rPr sz="1200" b="1" dirty="0">
                  <a:solidFill>
                    <a:srgbClr val="F4F4F4"/>
                  </a:solidFill>
                  <a:latin typeface="Montserrat Bold"/>
                </a:rPr>
                <a:t>Academic Institutions</a:t>
              </a:r>
            </a:p>
          </p:txBody>
        </p:sp>
        <p:sp>
          <p:nvSpPr>
            <p:cNvPr id="60" name="TextBox 19">
              <a:extLst>
                <a:ext uri="{FF2B5EF4-FFF2-40B4-BE49-F238E27FC236}">
                  <a16:creationId xmlns:a16="http://schemas.microsoft.com/office/drawing/2014/main" id="{AD8A3ACB-C7CB-9C15-128C-5B25E6DEF286}"/>
                </a:ext>
              </a:extLst>
            </p:cNvPr>
            <p:cNvSpPr txBox="1"/>
            <p:nvPr/>
          </p:nvSpPr>
          <p:spPr>
            <a:xfrm>
              <a:off x="966179" y="1550491"/>
              <a:ext cx="5564847" cy="24218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ts val="2095"/>
                </a:lnSpc>
                <a:spcBef>
                  <a:spcPct val="0"/>
                </a:spcBef>
              </a:pPr>
              <a:r>
                <a:rPr lang="en-US" sz="1269" spc="3" dirty="0">
                  <a:solidFill>
                    <a:srgbClr val="3B3A3A"/>
                  </a:solidFill>
                  <a:latin typeface="Montserrat"/>
                  <a:ea typeface="Montserrat"/>
                  <a:cs typeface="Montserrat"/>
                  <a:sym typeface="Montserrat"/>
                </a:rPr>
                <a:t>Henry Ford College | Tennessee Tech</a:t>
              </a:r>
            </a:p>
          </p:txBody>
        </p:sp>
      </p:grpSp>
      <p:pic>
        <p:nvPicPr>
          <p:cNvPr id="1028" name="Picture 4" descr="Ford Logo and Car Symbol Meaning">
            <a:extLst>
              <a:ext uri="{FF2B5EF4-FFF2-40B4-BE49-F238E27FC236}">
                <a16:creationId xmlns:a16="http://schemas.microsoft.com/office/drawing/2014/main" id="{4D4B176C-F0C8-CF3E-FB11-3608D1B8B57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28" t="18042" r="3087" b="19385"/>
          <a:stretch>
            <a:fillRect/>
          </a:stretch>
        </p:blipFill>
        <p:spPr bwMode="auto">
          <a:xfrm>
            <a:off x="8034868" y="160867"/>
            <a:ext cx="1579032" cy="5851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>
            <a:extLst>
              <a:ext uri="{FF2B5EF4-FFF2-40B4-BE49-F238E27FC236}">
                <a16:creationId xmlns:a16="http://schemas.microsoft.com/office/drawing/2014/main" id="{58E28C77-57D6-DEEE-81C4-A705E67F649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62068" y="129010"/>
            <a:ext cx="799840" cy="7998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4" name="Picture 10">
            <a:extLst>
              <a:ext uri="{FF2B5EF4-FFF2-40B4-BE49-F238E27FC236}">
                <a16:creationId xmlns:a16="http://schemas.microsoft.com/office/drawing/2014/main" id="{A273CB17-4A05-92B9-C332-F01340FC96A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26694" y="263375"/>
            <a:ext cx="1497041" cy="3801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0" name="Picture 16" descr="battery with a Chinese electric car ...">
            <a:extLst>
              <a:ext uri="{FF2B5EF4-FFF2-40B4-BE49-F238E27FC236}">
                <a16:creationId xmlns:a16="http://schemas.microsoft.com/office/drawing/2014/main" id="{9716B742-A4C2-9C22-D9B1-78BAE93D291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99917" y="1330077"/>
            <a:ext cx="1782235" cy="6533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2" name="Picture 18" descr="Exhibitor Profile | jobmesse ...">
            <a:extLst>
              <a:ext uri="{FF2B5EF4-FFF2-40B4-BE49-F238E27FC236}">
                <a16:creationId xmlns:a16="http://schemas.microsoft.com/office/drawing/2014/main" id="{661731A1-24E4-1B27-EAAF-24596C229F5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61988" y="1347664"/>
            <a:ext cx="1487288" cy="7183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4" name="Picture 20" descr="BYD Logo and symbol, meaning, history, PNG, brand">
            <a:extLst>
              <a:ext uri="{FF2B5EF4-FFF2-40B4-BE49-F238E27FC236}">
                <a16:creationId xmlns:a16="http://schemas.microsoft.com/office/drawing/2014/main" id="{5BC44D2F-728B-152F-14EE-5DE94232D6A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4231" b="32966"/>
          <a:stretch>
            <a:fillRect/>
          </a:stretch>
        </p:blipFill>
        <p:spPr bwMode="auto">
          <a:xfrm>
            <a:off x="7410367" y="2537751"/>
            <a:ext cx="2048933" cy="3780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8" name="Picture 24">
            <a:extLst>
              <a:ext uri="{FF2B5EF4-FFF2-40B4-BE49-F238E27FC236}">
                <a16:creationId xmlns:a16="http://schemas.microsoft.com/office/drawing/2014/main" id="{FFDC9798-0DCD-16ED-A4EA-F13D2E646AB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12867" y="2518095"/>
            <a:ext cx="2310868" cy="4667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4B29CE7E-349A-6951-A889-83186E879C38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313294" y="3429000"/>
            <a:ext cx="2015134" cy="1032299"/>
          </a:xfrm>
          <a:prstGeom prst="rect">
            <a:avLst/>
          </a:prstGeom>
        </p:spPr>
      </p:pic>
      <p:pic>
        <p:nvPicPr>
          <p:cNvPr id="1058" name="Picture 34">
            <a:extLst>
              <a:ext uri="{FF2B5EF4-FFF2-40B4-BE49-F238E27FC236}">
                <a16:creationId xmlns:a16="http://schemas.microsoft.com/office/drawing/2014/main" id="{4817DF4A-9CEF-7F8C-900C-AE6FBC1FA69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11266" y="3516271"/>
            <a:ext cx="2384297" cy="9217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60" name="Picture 36" descr="Henry Ford College | Drupal.org">
            <a:extLst>
              <a:ext uri="{FF2B5EF4-FFF2-40B4-BE49-F238E27FC236}">
                <a16:creationId xmlns:a16="http://schemas.microsoft.com/office/drawing/2014/main" id="{0EA63EA4-F6D1-B11D-AB6B-9561AD407B8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58567" y="4566366"/>
            <a:ext cx="1811090" cy="14757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62" name="Picture 38" descr="Tennessee Technological University - Wikipedia">
            <a:extLst>
              <a:ext uri="{FF2B5EF4-FFF2-40B4-BE49-F238E27FC236}">
                <a16:creationId xmlns:a16="http://schemas.microsoft.com/office/drawing/2014/main" id="{103CCD50-54F1-C324-1A14-6562CADEEFA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13900" y="4574135"/>
            <a:ext cx="1715945" cy="17159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5433608" y="27368"/>
            <a:ext cx="18705270" cy="6064773"/>
            <a:chOff x="0" y="0"/>
            <a:chExt cx="2154348" cy="6985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154348" cy="698500"/>
            </a:xfrm>
            <a:custGeom>
              <a:avLst/>
              <a:gdLst/>
              <a:ahLst/>
              <a:cxnLst/>
              <a:rect l="l" t="t" r="r" b="b"/>
              <a:pathLst>
                <a:path w="2154348" h="698500">
                  <a:moveTo>
                    <a:pt x="2154348" y="349250"/>
                  </a:moveTo>
                  <a:lnTo>
                    <a:pt x="1951148" y="698500"/>
                  </a:lnTo>
                  <a:lnTo>
                    <a:pt x="203200" y="698500"/>
                  </a:lnTo>
                  <a:lnTo>
                    <a:pt x="0" y="349250"/>
                  </a:lnTo>
                  <a:lnTo>
                    <a:pt x="203200" y="0"/>
                  </a:lnTo>
                  <a:lnTo>
                    <a:pt x="1951148" y="0"/>
                  </a:lnTo>
                  <a:lnTo>
                    <a:pt x="2154348" y="349250"/>
                  </a:lnTo>
                  <a:close/>
                </a:path>
              </a:pathLst>
            </a:custGeom>
            <a:solidFill>
              <a:srgbClr val="AEEA00"/>
            </a:solidFill>
          </p:spPr>
          <p:txBody>
            <a:bodyPr/>
            <a:lstStyle/>
            <a:p>
              <a:endParaRPr lang="en-US" sz="1200"/>
            </a:p>
          </p:txBody>
        </p:sp>
      </p:grpSp>
      <p:pic>
        <p:nvPicPr>
          <p:cNvPr id="30" name="Picture 29">
            <a:extLst>
              <a:ext uri="{FF2B5EF4-FFF2-40B4-BE49-F238E27FC236}">
                <a16:creationId xmlns:a16="http://schemas.microsoft.com/office/drawing/2014/main" id="{831408B1-5703-D82B-94C9-A4AE2C3CABE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0401"/>
          <a:stretch>
            <a:fillRect/>
          </a:stretch>
        </p:blipFill>
        <p:spPr>
          <a:xfrm>
            <a:off x="5433608" y="-191023"/>
            <a:ext cx="8652407" cy="5956856"/>
          </a:xfrm>
          <a:prstGeom prst="rect">
            <a:avLst/>
          </a:prstGeom>
        </p:spPr>
      </p:pic>
      <p:grpSp>
        <p:nvGrpSpPr>
          <p:cNvPr id="6" name="Group 6"/>
          <p:cNvGrpSpPr/>
          <p:nvPr/>
        </p:nvGrpSpPr>
        <p:grpSpPr>
          <a:xfrm>
            <a:off x="-1845379" y="-455827"/>
            <a:ext cx="10412501" cy="3293721"/>
            <a:chOff x="0" y="0"/>
            <a:chExt cx="1871574" cy="592023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871574" cy="592023"/>
            </a:xfrm>
            <a:custGeom>
              <a:avLst/>
              <a:gdLst/>
              <a:ahLst/>
              <a:cxnLst/>
              <a:rect l="l" t="t" r="r" b="b"/>
              <a:pathLst>
                <a:path w="1871574" h="592023">
                  <a:moveTo>
                    <a:pt x="1871574" y="296012"/>
                  </a:moveTo>
                  <a:lnTo>
                    <a:pt x="1668374" y="592023"/>
                  </a:lnTo>
                  <a:lnTo>
                    <a:pt x="203200" y="592023"/>
                  </a:lnTo>
                  <a:lnTo>
                    <a:pt x="0" y="296012"/>
                  </a:lnTo>
                  <a:lnTo>
                    <a:pt x="203200" y="0"/>
                  </a:lnTo>
                  <a:lnTo>
                    <a:pt x="1668374" y="0"/>
                  </a:lnTo>
                  <a:lnTo>
                    <a:pt x="1871574" y="296012"/>
                  </a:lnTo>
                  <a:close/>
                </a:path>
              </a:pathLst>
            </a:custGeom>
            <a:solidFill>
              <a:srgbClr val="095D40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US" sz="1200"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685800" y="3237074"/>
            <a:ext cx="3760973" cy="2405858"/>
            <a:chOff x="0" y="0"/>
            <a:chExt cx="1485816" cy="950462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485816" cy="950462"/>
            </a:xfrm>
            <a:custGeom>
              <a:avLst/>
              <a:gdLst/>
              <a:ahLst/>
              <a:cxnLst/>
              <a:rect l="l" t="t" r="r" b="b"/>
              <a:pathLst>
                <a:path w="1485816" h="950462">
                  <a:moveTo>
                    <a:pt x="0" y="0"/>
                  </a:moveTo>
                  <a:lnTo>
                    <a:pt x="1485816" y="0"/>
                  </a:lnTo>
                  <a:lnTo>
                    <a:pt x="1485816" y="950462"/>
                  </a:lnTo>
                  <a:lnTo>
                    <a:pt x="0" y="950462"/>
                  </a:lnTo>
                  <a:close/>
                </a:path>
              </a:pathLst>
            </a:custGeom>
            <a:solidFill>
              <a:srgbClr val="095D40"/>
            </a:solidFill>
          </p:spPr>
          <p:txBody>
            <a:bodyPr/>
            <a:lstStyle/>
            <a:p>
              <a:endParaRPr lang="en-US" sz="1200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-38100"/>
              <a:ext cx="1485816" cy="988562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algn="ctr">
                <a:lnSpc>
                  <a:spcPts val="1614"/>
                </a:lnSpc>
              </a:pPr>
              <a:endParaRPr sz="1200"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685800" y="5700082"/>
            <a:ext cx="3760973" cy="44450"/>
            <a:chOff x="0" y="0"/>
            <a:chExt cx="1485816" cy="1756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1485816" cy="17560"/>
            </a:xfrm>
            <a:custGeom>
              <a:avLst/>
              <a:gdLst/>
              <a:ahLst/>
              <a:cxnLst/>
              <a:rect l="l" t="t" r="r" b="b"/>
              <a:pathLst>
                <a:path w="1485816" h="17560">
                  <a:moveTo>
                    <a:pt x="0" y="0"/>
                  </a:moveTo>
                  <a:lnTo>
                    <a:pt x="1485816" y="0"/>
                  </a:lnTo>
                  <a:lnTo>
                    <a:pt x="1485816" y="17560"/>
                  </a:lnTo>
                  <a:lnTo>
                    <a:pt x="0" y="17560"/>
                  </a:lnTo>
                  <a:close/>
                </a:path>
              </a:pathLst>
            </a:custGeom>
            <a:solidFill>
              <a:srgbClr val="095D40"/>
            </a:solidFill>
          </p:spPr>
          <p:txBody>
            <a:bodyPr/>
            <a:lstStyle/>
            <a:p>
              <a:endParaRPr lang="en-US" sz="1200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0" y="-38100"/>
              <a:ext cx="1485816" cy="55660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algn="ctr">
                <a:lnSpc>
                  <a:spcPts val="1614"/>
                </a:lnSpc>
              </a:pPr>
              <a:endParaRPr sz="1200"/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4627058" y="3237074"/>
            <a:ext cx="3760973" cy="2405858"/>
            <a:chOff x="0" y="0"/>
            <a:chExt cx="1485816" cy="950462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1485816" cy="950462"/>
            </a:xfrm>
            <a:custGeom>
              <a:avLst/>
              <a:gdLst/>
              <a:ahLst/>
              <a:cxnLst/>
              <a:rect l="l" t="t" r="r" b="b"/>
              <a:pathLst>
                <a:path w="1485816" h="950462">
                  <a:moveTo>
                    <a:pt x="0" y="0"/>
                  </a:moveTo>
                  <a:lnTo>
                    <a:pt x="1485816" y="0"/>
                  </a:lnTo>
                  <a:lnTo>
                    <a:pt x="1485816" y="950462"/>
                  </a:lnTo>
                  <a:lnTo>
                    <a:pt x="0" y="950462"/>
                  </a:lnTo>
                  <a:close/>
                </a:path>
              </a:pathLst>
            </a:custGeom>
            <a:solidFill>
              <a:srgbClr val="095D40"/>
            </a:solidFill>
          </p:spPr>
          <p:txBody>
            <a:bodyPr/>
            <a:lstStyle/>
            <a:p>
              <a:endParaRPr lang="en-US" sz="1200"/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0" y="-38100"/>
              <a:ext cx="1485816" cy="988562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algn="ctr">
                <a:lnSpc>
                  <a:spcPts val="1614"/>
                </a:lnSpc>
              </a:pPr>
              <a:endParaRPr sz="1200"/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4627058" y="5700082"/>
            <a:ext cx="3760973" cy="44450"/>
            <a:chOff x="0" y="0"/>
            <a:chExt cx="1485816" cy="17560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1485816" cy="17560"/>
            </a:xfrm>
            <a:custGeom>
              <a:avLst/>
              <a:gdLst/>
              <a:ahLst/>
              <a:cxnLst/>
              <a:rect l="l" t="t" r="r" b="b"/>
              <a:pathLst>
                <a:path w="1485816" h="17560">
                  <a:moveTo>
                    <a:pt x="0" y="0"/>
                  </a:moveTo>
                  <a:lnTo>
                    <a:pt x="1485816" y="0"/>
                  </a:lnTo>
                  <a:lnTo>
                    <a:pt x="1485816" y="17560"/>
                  </a:lnTo>
                  <a:lnTo>
                    <a:pt x="0" y="17560"/>
                  </a:lnTo>
                  <a:close/>
                </a:path>
              </a:pathLst>
            </a:custGeom>
            <a:solidFill>
              <a:srgbClr val="095D40"/>
            </a:solidFill>
          </p:spPr>
          <p:txBody>
            <a:bodyPr/>
            <a:lstStyle/>
            <a:p>
              <a:endParaRPr lang="en-US" sz="1200"/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0" y="-38100"/>
              <a:ext cx="1485816" cy="55660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algn="ctr">
                <a:lnSpc>
                  <a:spcPts val="1614"/>
                </a:lnSpc>
              </a:pPr>
              <a:endParaRPr sz="1200"/>
            </a:p>
          </p:txBody>
        </p:sp>
      </p:grpSp>
      <p:sp>
        <p:nvSpPr>
          <p:cNvPr id="20" name="TextBox 20"/>
          <p:cNvSpPr txBox="1"/>
          <p:nvPr/>
        </p:nvSpPr>
        <p:spPr>
          <a:xfrm>
            <a:off x="641350" y="395493"/>
            <a:ext cx="6869251" cy="7823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6502"/>
              </a:lnSpc>
              <a:spcBef>
                <a:spcPct val="0"/>
              </a:spcBef>
            </a:pPr>
            <a:r>
              <a:rPr lang="en-US" altLang="zh-CN" sz="4644" b="1" dirty="0">
                <a:solidFill>
                  <a:srgbClr val="FFFFFF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Our Positioning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860962" y="3289518"/>
            <a:ext cx="646106" cy="67685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5684"/>
              </a:lnSpc>
            </a:pPr>
            <a:r>
              <a:rPr lang="en-US" sz="4060" b="1" dirty="0">
                <a:solidFill>
                  <a:srgbClr val="F4F4F4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2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863115" y="4382853"/>
            <a:ext cx="3406343" cy="7807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095"/>
              </a:lnSpc>
              <a:spcBef>
                <a:spcPct val="0"/>
              </a:spcBef>
            </a:pPr>
            <a:r>
              <a:rPr lang="en-US" altLang="zh-CN" sz="1269" spc="3" dirty="0">
                <a:solidFill>
                  <a:srgbClr val="F4F4F4"/>
                </a:solidFill>
                <a:latin typeface="Montserrat"/>
                <a:ea typeface="Montserrat"/>
                <a:cs typeface="Montserrat"/>
                <a:sym typeface="Montserrat"/>
              </a:rPr>
              <a:t>We help customers build long-term, sustainable battery testing/ manufacturing capability.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4802218" y="3289518"/>
            <a:ext cx="1262779" cy="6768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5684"/>
              </a:lnSpc>
            </a:pPr>
            <a:r>
              <a:rPr lang="en-US" sz="4060" b="1" dirty="0">
                <a:solidFill>
                  <a:srgbClr val="F4F4F4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3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4804373" y="4382853"/>
            <a:ext cx="3406343" cy="7807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095"/>
              </a:lnSpc>
              <a:spcBef>
                <a:spcPct val="0"/>
              </a:spcBef>
            </a:pPr>
            <a:r>
              <a:rPr lang="en-US" altLang="zh-CN" sz="1269" spc="3" dirty="0">
                <a:solidFill>
                  <a:srgbClr val="F4F4F4"/>
                </a:solidFill>
                <a:latin typeface="Montserrat"/>
                <a:ea typeface="Montserrat"/>
                <a:cs typeface="Montserrat"/>
                <a:sym typeface="Montserrat"/>
              </a:rPr>
              <a:t>We act as an extension of the customer engineering team throughout design, implementation, and optimization.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863116" y="1571035"/>
            <a:ext cx="6063717" cy="6295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557"/>
              </a:lnSpc>
              <a:spcBef>
                <a:spcPct val="0"/>
              </a:spcBef>
            </a:pPr>
            <a:r>
              <a:rPr lang="en-US" altLang="zh-CN" sz="1549" spc="4" dirty="0">
                <a:solidFill>
                  <a:srgbClr val="F4F4F4"/>
                </a:solidFill>
                <a:latin typeface="Montserrat"/>
                <a:ea typeface="Montserrat"/>
                <a:cs typeface="Montserrat"/>
                <a:sym typeface="Montserrat"/>
              </a:rPr>
              <a:t>We are not just an equipment seller. We design and implement turnkey battery testing systems.</a:t>
            </a:r>
          </a:p>
        </p:txBody>
      </p:sp>
      <p:sp>
        <p:nvSpPr>
          <p:cNvPr id="28" name="TextBox 21">
            <a:extLst>
              <a:ext uri="{FF2B5EF4-FFF2-40B4-BE49-F238E27FC236}">
                <a16:creationId xmlns:a16="http://schemas.microsoft.com/office/drawing/2014/main" id="{28D14425-2A1C-4885-C5F2-D421A37FD106}"/>
              </a:ext>
            </a:extLst>
          </p:cNvPr>
          <p:cNvSpPr txBox="1"/>
          <p:nvPr/>
        </p:nvSpPr>
        <p:spPr>
          <a:xfrm>
            <a:off x="367256" y="1480781"/>
            <a:ext cx="646106" cy="67685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5684"/>
              </a:lnSpc>
            </a:pPr>
            <a:r>
              <a:rPr lang="en-US" sz="4060" b="1" dirty="0">
                <a:solidFill>
                  <a:srgbClr val="F4F4F4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2436</TotalTime>
  <Words>994</Words>
  <Application>Microsoft Office PowerPoint</Application>
  <PresentationFormat>Widescreen</PresentationFormat>
  <Paragraphs>170</Paragraphs>
  <Slides>13</Slides>
  <Notes>0</Notes>
  <HiddenSlides>0</HiddenSlides>
  <MMClips>1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22" baseType="lpstr">
      <vt:lpstr>Montaser Arabic</vt:lpstr>
      <vt:lpstr>Montaser Arabic Bold</vt:lpstr>
      <vt:lpstr>Aptos</vt:lpstr>
      <vt:lpstr>Arial</vt:lpstr>
      <vt:lpstr>Calibri</vt:lpstr>
      <vt:lpstr>Montserrat</vt:lpstr>
      <vt:lpstr>Montserrat Bold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Chen Yang</cp:lastModifiedBy>
  <cp:revision>28</cp:revision>
  <dcterms:created xsi:type="dcterms:W3CDTF">2013-01-27T09:14:16Z</dcterms:created>
  <dcterms:modified xsi:type="dcterms:W3CDTF">2026-04-27T18:00:06Z</dcterms:modified>
  <cp:category/>
</cp:coreProperties>
</file>